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457200" y="-457200"/>
            <a:ext cx="10058400" cy="109728"/>
          </a:xfrm>
          <a:prstGeom prst="rect">
            <a:avLst/>
          </a:prstGeom>
          <a:solidFill>
            <a:srgbClr val="6C63FF"/>
          </a:solidFill>
          <a:ln/>
        </p:spPr>
      </p:sp>
      <p:sp>
        <p:nvSpPr>
          <p:cNvPr id="3" name="Shape 1"/>
          <p:cNvSpPr/>
          <p:nvPr/>
        </p:nvSpPr>
        <p:spPr>
          <a:xfrm>
            <a:off x="6858000" y="2926080"/>
            <a:ext cx="3657600" cy="3657600"/>
          </a:xfrm>
          <a:prstGeom prst="ellipse">
            <a:avLst/>
          </a:prstGeom>
          <a:solidFill>
            <a:srgbClr val="6C63FF">
              <a:alpha val="12000"/>
            </a:srgbClr>
          </a:solidFill>
          <a:ln/>
        </p:spPr>
      </p:sp>
      <p:sp>
        <p:nvSpPr>
          <p:cNvPr id="4" name="Shape 2"/>
          <p:cNvSpPr/>
          <p:nvPr/>
        </p:nvSpPr>
        <p:spPr>
          <a:xfrm>
            <a:off x="7498080" y="457200"/>
            <a:ext cx="2286000" cy="2286000"/>
          </a:xfrm>
          <a:prstGeom prst="ellipse">
            <a:avLst/>
          </a:prstGeom>
          <a:solidFill>
            <a:srgbClr val="00D4AA">
              <a:alpha val="10000"/>
            </a:srgbClr>
          </a:solidFill>
          <a:ln/>
        </p:spPr>
      </p:sp>
      <p:sp>
        <p:nvSpPr>
          <p:cNvPr id="5" name="Shape 3"/>
          <p:cNvSpPr/>
          <p:nvPr/>
        </p:nvSpPr>
        <p:spPr>
          <a:xfrm>
            <a:off x="0" y="4937760"/>
            <a:ext cx="9144000" cy="205740"/>
          </a:xfrm>
          <a:prstGeom prst="rect">
            <a:avLst/>
          </a:prstGeom>
          <a:solidFill>
            <a:srgbClr val="6C63FF"/>
          </a:solidFill>
          <a:ln/>
        </p:spPr>
      </p:sp>
      <p:pic>
        <p:nvPicPr>
          <p:cNvPr id="6" name="Image 0" descr="preencoded.png">    </p:cNvPr>
          <p:cNvPicPr>
            <a:picLocks noChangeAspect="1"/>
          </p:cNvPicPr>
          <p:nvPr/>
        </p:nvPicPr>
        <p:blipFill>
          <a:blip r:embed="rId1"/>
          <a:stretch>
            <a:fillRect/>
          </a:stretch>
        </p:blipFill>
        <p:spPr>
          <a:xfrm>
            <a:off x="731520" y="1371600"/>
            <a:ext cx="1097280" cy="1097280"/>
          </a:xfrm>
          <a:prstGeom prst="rect">
            <a:avLst/>
          </a:prstGeom>
        </p:spPr>
      </p:pic>
      <p:sp>
        <p:nvSpPr>
          <p:cNvPr id="7" name="Text 4"/>
          <p:cNvSpPr/>
          <p:nvPr/>
        </p:nvSpPr>
        <p:spPr>
          <a:xfrm>
            <a:off x="2011680" y="1280160"/>
            <a:ext cx="6400800" cy="64008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Python Interview</a:t>
            </a:r>
            <a:endParaRPr lang="en-US" sz="3800" dirty="0"/>
          </a:p>
        </p:txBody>
      </p:sp>
      <p:sp>
        <p:nvSpPr>
          <p:cNvPr id="8" name="Text 5"/>
          <p:cNvSpPr/>
          <p:nvPr/>
        </p:nvSpPr>
        <p:spPr>
          <a:xfrm>
            <a:off x="2011680" y="1828800"/>
            <a:ext cx="6400800" cy="640080"/>
          </a:xfrm>
          <a:prstGeom prst="rect">
            <a:avLst/>
          </a:prstGeom>
          <a:noFill/>
          <a:ln/>
        </p:spPr>
        <p:txBody>
          <a:bodyPr wrap="square" lIns="0" tIns="0" rIns="0" bIns="0" rtlCol="0" anchor="ctr"/>
          <a:lstStyle/>
          <a:p>
            <a:pPr indent="0" marL="0">
              <a:buNone/>
            </a:pPr>
            <a:r>
              <a:rPr lang="en-US" sz="3800" b="1" dirty="0">
                <a:solidFill>
                  <a:srgbClr val="00D4AA"/>
                </a:solidFill>
                <a:latin typeface="Calibri" pitchFamily="34" charset="0"/>
                <a:ea typeface="Calibri" pitchFamily="34" charset="-122"/>
                <a:cs typeface="Calibri" pitchFamily="34" charset="-120"/>
              </a:rPr>
              <a:t>Questions &amp; Answers</a:t>
            </a:r>
            <a:endParaRPr lang="en-US" sz="3800" dirty="0"/>
          </a:p>
        </p:txBody>
      </p:sp>
      <p:sp>
        <p:nvSpPr>
          <p:cNvPr id="9" name="Text 6"/>
          <p:cNvSpPr/>
          <p:nvPr/>
        </p:nvSpPr>
        <p:spPr>
          <a:xfrm>
            <a:off x="2011680" y="2606040"/>
            <a:ext cx="6400800" cy="365760"/>
          </a:xfrm>
          <a:prstGeom prst="rect">
            <a:avLst/>
          </a:prstGeom>
          <a:noFill/>
          <a:ln/>
        </p:spPr>
        <p:txBody>
          <a:bodyPr wrap="square" lIns="0" tIns="0" rIns="0" bIns="0" rtlCol="0" anchor="ctr"/>
          <a:lstStyle/>
          <a:p>
            <a:pPr indent="0" marL="0">
              <a:buNone/>
            </a:pPr>
            <a:r>
              <a:rPr lang="en-US" sz="1500" dirty="0">
                <a:solidFill>
                  <a:srgbClr val="8892B0"/>
                </a:solidFill>
                <a:latin typeface="Calibri" pitchFamily="34" charset="0"/>
                <a:ea typeface="Calibri" pitchFamily="34" charset="-122"/>
                <a:cs typeface="Calibri" pitchFamily="34" charset="-120"/>
              </a:rPr>
              <a:t>Complete Guide with Detailed Explanations &amp; Examples</a:t>
            </a:r>
            <a:endParaRPr lang="en-US" sz="1500" dirty="0"/>
          </a:p>
        </p:txBody>
      </p:sp>
      <p:sp>
        <p:nvSpPr>
          <p:cNvPr id="10" name="Shape 7"/>
          <p:cNvSpPr/>
          <p:nvPr/>
        </p:nvSpPr>
        <p:spPr>
          <a:xfrm>
            <a:off x="2011680" y="3246120"/>
            <a:ext cx="1920240" cy="310896"/>
          </a:xfrm>
          <a:prstGeom prst="rect">
            <a:avLst>
              <a:gd name="adj" fmla="val 17647"/>
            </a:avLst>
          </a:prstGeom>
          <a:solidFill>
            <a:srgbClr val="242B3D"/>
          </a:solidFill>
          <a:ln/>
        </p:spPr>
      </p:sp>
      <p:sp>
        <p:nvSpPr>
          <p:cNvPr id="11" name="Text 8"/>
          <p:cNvSpPr/>
          <p:nvPr/>
        </p:nvSpPr>
        <p:spPr>
          <a:xfrm>
            <a:off x="2011680" y="3246120"/>
            <a:ext cx="1920240" cy="310896"/>
          </a:xfrm>
          <a:prstGeom prst="rect">
            <a:avLst/>
          </a:prstGeom>
          <a:noFill/>
          <a:ln/>
        </p:spPr>
        <p:txBody>
          <a:bodyPr wrap="square" lIns="0" tIns="0" rIns="0" bIns="0" rtlCol="0" anchor="ctr"/>
          <a:lstStyle/>
          <a:p>
            <a:pPr algn="ctr" indent="0" marL="0">
              <a:buNone/>
            </a:pPr>
            <a:r>
              <a:rPr lang="en-US" sz="1000" dirty="0">
                <a:solidFill>
                  <a:srgbClr val="A8B2C8"/>
                </a:solidFill>
                <a:latin typeface="Calibri" pitchFamily="34" charset="0"/>
                <a:ea typeface="Calibri" pitchFamily="34" charset="-122"/>
                <a:cs typeface="Calibri" pitchFamily="34" charset="-120"/>
              </a:rPr>
              <a:t>Basic Python</a:t>
            </a:r>
            <a:endParaRPr lang="en-US" sz="1000" dirty="0"/>
          </a:p>
        </p:txBody>
      </p:sp>
      <p:sp>
        <p:nvSpPr>
          <p:cNvPr id="12" name="Shape 9"/>
          <p:cNvSpPr/>
          <p:nvPr/>
        </p:nvSpPr>
        <p:spPr>
          <a:xfrm>
            <a:off x="4114800" y="3246120"/>
            <a:ext cx="1920240" cy="310896"/>
          </a:xfrm>
          <a:prstGeom prst="rect">
            <a:avLst>
              <a:gd name="adj" fmla="val 17647"/>
            </a:avLst>
          </a:prstGeom>
          <a:solidFill>
            <a:srgbClr val="242B3D"/>
          </a:solidFill>
          <a:ln/>
        </p:spPr>
      </p:sp>
      <p:sp>
        <p:nvSpPr>
          <p:cNvPr id="13" name="Text 10"/>
          <p:cNvSpPr/>
          <p:nvPr/>
        </p:nvSpPr>
        <p:spPr>
          <a:xfrm>
            <a:off x="4114800" y="3246120"/>
            <a:ext cx="1920240" cy="310896"/>
          </a:xfrm>
          <a:prstGeom prst="rect">
            <a:avLst/>
          </a:prstGeom>
          <a:noFill/>
          <a:ln/>
        </p:spPr>
        <p:txBody>
          <a:bodyPr wrap="square" lIns="0" tIns="0" rIns="0" bIns="0" rtlCol="0" anchor="ctr"/>
          <a:lstStyle/>
          <a:p>
            <a:pPr algn="ctr" indent="0" marL="0">
              <a:buNone/>
            </a:pPr>
            <a:r>
              <a:rPr lang="en-US" sz="1000" dirty="0">
                <a:solidFill>
                  <a:srgbClr val="A8B2C8"/>
                </a:solidFill>
                <a:latin typeface="Calibri" pitchFamily="34" charset="0"/>
                <a:ea typeface="Calibri" pitchFamily="34" charset="-122"/>
                <a:cs typeface="Calibri" pitchFamily="34" charset="-120"/>
              </a:rPr>
              <a:t>Data Structures</a:t>
            </a:r>
            <a:endParaRPr lang="en-US" sz="1000" dirty="0"/>
          </a:p>
        </p:txBody>
      </p:sp>
      <p:sp>
        <p:nvSpPr>
          <p:cNvPr id="14" name="Shape 11"/>
          <p:cNvSpPr/>
          <p:nvPr/>
        </p:nvSpPr>
        <p:spPr>
          <a:xfrm>
            <a:off x="6217920" y="3246120"/>
            <a:ext cx="1920240" cy="310896"/>
          </a:xfrm>
          <a:prstGeom prst="rect">
            <a:avLst>
              <a:gd name="adj" fmla="val 17647"/>
            </a:avLst>
          </a:prstGeom>
          <a:solidFill>
            <a:srgbClr val="242B3D"/>
          </a:solidFill>
          <a:ln/>
        </p:spPr>
      </p:sp>
      <p:sp>
        <p:nvSpPr>
          <p:cNvPr id="15" name="Text 12"/>
          <p:cNvSpPr/>
          <p:nvPr/>
        </p:nvSpPr>
        <p:spPr>
          <a:xfrm>
            <a:off x="6217920" y="3246120"/>
            <a:ext cx="1920240" cy="310896"/>
          </a:xfrm>
          <a:prstGeom prst="rect">
            <a:avLst/>
          </a:prstGeom>
          <a:noFill/>
          <a:ln/>
        </p:spPr>
        <p:txBody>
          <a:bodyPr wrap="square" lIns="0" tIns="0" rIns="0" bIns="0" rtlCol="0" anchor="ctr"/>
          <a:lstStyle/>
          <a:p>
            <a:pPr algn="ctr" indent="0" marL="0">
              <a:buNone/>
            </a:pPr>
            <a:r>
              <a:rPr lang="en-US" sz="1000" dirty="0">
                <a:solidFill>
                  <a:srgbClr val="A8B2C8"/>
                </a:solidFill>
                <a:latin typeface="Calibri" pitchFamily="34" charset="0"/>
                <a:ea typeface="Calibri" pitchFamily="34" charset="-122"/>
                <a:cs typeface="Calibri" pitchFamily="34" charset="-120"/>
              </a:rPr>
              <a:t>OOP</a:t>
            </a:r>
            <a:endParaRPr lang="en-US" sz="1000" dirty="0"/>
          </a:p>
        </p:txBody>
      </p:sp>
      <p:sp>
        <p:nvSpPr>
          <p:cNvPr id="16" name="Shape 13"/>
          <p:cNvSpPr/>
          <p:nvPr/>
        </p:nvSpPr>
        <p:spPr>
          <a:xfrm>
            <a:off x="2011680" y="3630168"/>
            <a:ext cx="1920240" cy="310896"/>
          </a:xfrm>
          <a:prstGeom prst="rect">
            <a:avLst>
              <a:gd name="adj" fmla="val 17647"/>
            </a:avLst>
          </a:prstGeom>
          <a:solidFill>
            <a:srgbClr val="242B3D"/>
          </a:solidFill>
          <a:ln/>
        </p:spPr>
      </p:sp>
      <p:sp>
        <p:nvSpPr>
          <p:cNvPr id="17" name="Text 14"/>
          <p:cNvSpPr/>
          <p:nvPr/>
        </p:nvSpPr>
        <p:spPr>
          <a:xfrm>
            <a:off x="2011680" y="3630168"/>
            <a:ext cx="1920240" cy="310896"/>
          </a:xfrm>
          <a:prstGeom prst="rect">
            <a:avLst/>
          </a:prstGeom>
          <a:noFill/>
          <a:ln/>
        </p:spPr>
        <p:txBody>
          <a:bodyPr wrap="square" lIns="0" tIns="0" rIns="0" bIns="0" rtlCol="0" anchor="ctr"/>
          <a:lstStyle/>
          <a:p>
            <a:pPr algn="ctr" indent="0" marL="0">
              <a:buNone/>
            </a:pPr>
            <a:r>
              <a:rPr lang="en-US" sz="1000" dirty="0">
                <a:solidFill>
                  <a:srgbClr val="A8B2C8"/>
                </a:solidFill>
                <a:latin typeface="Calibri" pitchFamily="34" charset="0"/>
                <a:ea typeface="Calibri" pitchFamily="34" charset="-122"/>
                <a:cs typeface="Calibri" pitchFamily="34" charset="-120"/>
              </a:rPr>
              <a:t>Advanced</a:t>
            </a:r>
            <a:endParaRPr lang="en-US" sz="1000" dirty="0"/>
          </a:p>
        </p:txBody>
      </p:sp>
      <p:sp>
        <p:nvSpPr>
          <p:cNvPr id="18" name="Shape 15"/>
          <p:cNvSpPr/>
          <p:nvPr/>
        </p:nvSpPr>
        <p:spPr>
          <a:xfrm>
            <a:off x="4114800" y="3630168"/>
            <a:ext cx="1920240" cy="310896"/>
          </a:xfrm>
          <a:prstGeom prst="rect">
            <a:avLst>
              <a:gd name="adj" fmla="val 17647"/>
            </a:avLst>
          </a:prstGeom>
          <a:solidFill>
            <a:srgbClr val="242B3D"/>
          </a:solidFill>
          <a:ln/>
        </p:spPr>
      </p:sp>
      <p:sp>
        <p:nvSpPr>
          <p:cNvPr id="19" name="Text 16"/>
          <p:cNvSpPr/>
          <p:nvPr/>
        </p:nvSpPr>
        <p:spPr>
          <a:xfrm>
            <a:off x="4114800" y="3630168"/>
            <a:ext cx="1920240" cy="310896"/>
          </a:xfrm>
          <a:prstGeom prst="rect">
            <a:avLst/>
          </a:prstGeom>
          <a:noFill/>
          <a:ln/>
        </p:spPr>
        <p:txBody>
          <a:bodyPr wrap="square" lIns="0" tIns="0" rIns="0" bIns="0" rtlCol="0" anchor="ctr"/>
          <a:lstStyle/>
          <a:p>
            <a:pPr algn="ctr" indent="0" marL="0">
              <a:buNone/>
            </a:pPr>
            <a:r>
              <a:rPr lang="en-US" sz="1000" dirty="0">
                <a:solidFill>
                  <a:srgbClr val="A8B2C8"/>
                </a:solidFill>
                <a:latin typeface="Calibri" pitchFamily="34" charset="0"/>
                <a:ea typeface="Calibri" pitchFamily="34" charset="-122"/>
                <a:cs typeface="Calibri" pitchFamily="34" charset="-120"/>
              </a:rPr>
              <a:t>Pandas</a:t>
            </a:r>
            <a:endParaRPr lang="en-US" sz="1000" dirty="0"/>
          </a:p>
        </p:txBody>
      </p:sp>
      <p:sp>
        <p:nvSpPr>
          <p:cNvPr id="20" name="Shape 17"/>
          <p:cNvSpPr/>
          <p:nvPr/>
        </p:nvSpPr>
        <p:spPr>
          <a:xfrm>
            <a:off x="6217920" y="3630168"/>
            <a:ext cx="1920240" cy="310896"/>
          </a:xfrm>
          <a:prstGeom prst="rect">
            <a:avLst>
              <a:gd name="adj" fmla="val 17647"/>
            </a:avLst>
          </a:prstGeom>
          <a:solidFill>
            <a:srgbClr val="242B3D"/>
          </a:solidFill>
          <a:ln/>
        </p:spPr>
      </p:sp>
      <p:sp>
        <p:nvSpPr>
          <p:cNvPr id="21" name="Text 18"/>
          <p:cNvSpPr/>
          <p:nvPr/>
        </p:nvSpPr>
        <p:spPr>
          <a:xfrm>
            <a:off x="6217920" y="3630168"/>
            <a:ext cx="1920240" cy="310896"/>
          </a:xfrm>
          <a:prstGeom prst="rect">
            <a:avLst/>
          </a:prstGeom>
          <a:noFill/>
          <a:ln/>
        </p:spPr>
        <p:txBody>
          <a:bodyPr wrap="square" lIns="0" tIns="0" rIns="0" bIns="0" rtlCol="0" anchor="ctr"/>
          <a:lstStyle/>
          <a:p>
            <a:pPr algn="ctr" indent="0" marL="0">
              <a:buNone/>
            </a:pPr>
            <a:r>
              <a:rPr lang="en-US" sz="1000" dirty="0">
                <a:solidFill>
                  <a:srgbClr val="A8B2C8"/>
                </a:solidFill>
                <a:latin typeface="Calibri" pitchFamily="34" charset="0"/>
                <a:ea typeface="Calibri" pitchFamily="34" charset="-122"/>
                <a:cs typeface="Calibri" pitchFamily="34" charset="-120"/>
              </a:rPr>
              <a:t>Django &amp; Flask</a:t>
            </a:r>
            <a:endParaRPr lang="en-US" sz="1000" dirty="0"/>
          </a:p>
        </p:txBody>
      </p:sp>
      <p:sp>
        <p:nvSpPr>
          <p:cNvPr id="22" name="Text 19"/>
          <p:cNvSpPr/>
          <p:nvPr/>
        </p:nvSpPr>
        <p:spPr>
          <a:xfrm>
            <a:off x="457200" y="4572000"/>
            <a:ext cx="4572000" cy="274320"/>
          </a:xfrm>
          <a:prstGeom prst="rect">
            <a:avLst/>
          </a:prstGeom>
          <a:noFill/>
          <a:ln/>
        </p:spPr>
        <p:txBody>
          <a:bodyPr wrap="square" lIns="0" tIns="0" rIns="0" bIns="0" rtlCol="0" anchor="ctr"/>
          <a:lstStyle/>
          <a:p>
            <a:pPr indent="0" marL="0">
              <a:buNone/>
            </a:pPr>
            <a:r>
              <a:rPr lang="en-US" sz="1100" dirty="0">
                <a:solidFill>
                  <a:srgbClr val="8892B0"/>
                </a:solidFill>
                <a:latin typeface="Calibri" pitchFamily="34" charset="0"/>
                <a:ea typeface="Calibri" pitchFamily="34" charset="-122"/>
                <a:cs typeface="Calibri" pitchFamily="34" charset="-120"/>
              </a:rPr>
              <a:t>60+ Questions Covered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C63FF"/>
          </a:solidFill>
          <a:ln/>
        </p:spPr>
      </p:sp>
      <p:sp>
        <p:nvSpPr>
          <p:cNvPr id="3" name="Text 1"/>
          <p:cNvSpPr/>
          <p:nvPr/>
        </p:nvSpPr>
        <p:spPr>
          <a:xfrm>
            <a:off x="365760" y="182880"/>
            <a:ext cx="841248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Table of Contents</a:t>
            </a:r>
            <a:endParaRPr lang="en-US" sz="2800" dirty="0"/>
          </a:p>
        </p:txBody>
      </p:sp>
      <p:sp>
        <p:nvSpPr>
          <p:cNvPr id="4" name="Shape 2"/>
          <p:cNvSpPr/>
          <p:nvPr/>
        </p:nvSpPr>
        <p:spPr>
          <a:xfrm>
            <a:off x="365760" y="685800"/>
            <a:ext cx="914400" cy="36576"/>
          </a:xfrm>
          <a:prstGeom prst="rect">
            <a:avLst/>
          </a:prstGeom>
          <a:solidFill>
            <a:srgbClr val="00D4AA"/>
          </a:solidFill>
          <a:ln/>
        </p:spPr>
      </p:sp>
      <p:sp>
        <p:nvSpPr>
          <p:cNvPr id="5" name="Shape 3"/>
          <p:cNvSpPr/>
          <p:nvPr/>
        </p:nvSpPr>
        <p:spPr>
          <a:xfrm>
            <a:off x="320040" y="868680"/>
            <a:ext cx="4251960" cy="704088"/>
          </a:xfrm>
          <a:prstGeom prst="rect">
            <a:avLst>
              <a:gd name="adj" fmla="val 7792"/>
            </a:avLst>
          </a:prstGeom>
          <a:solidFill>
            <a:srgbClr val="242B3D"/>
          </a:solidFill>
          <a:ln/>
        </p:spPr>
      </p:sp>
      <p:sp>
        <p:nvSpPr>
          <p:cNvPr id="6" name="Shape 4"/>
          <p:cNvSpPr/>
          <p:nvPr/>
        </p:nvSpPr>
        <p:spPr>
          <a:xfrm>
            <a:off x="457200" y="996696"/>
            <a:ext cx="457200" cy="457200"/>
          </a:xfrm>
          <a:prstGeom prst="ellipse">
            <a:avLst/>
          </a:prstGeom>
          <a:solidFill>
            <a:srgbClr val="6C63FF"/>
          </a:solidFill>
          <a:ln/>
        </p:spPr>
      </p:sp>
      <p:sp>
        <p:nvSpPr>
          <p:cNvPr id="7" name="Text 5"/>
          <p:cNvSpPr/>
          <p:nvPr/>
        </p:nvSpPr>
        <p:spPr>
          <a:xfrm>
            <a:off x="457200" y="9966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1051560" y="941832"/>
            <a:ext cx="3291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Basic Python</a:t>
            </a:r>
            <a:endParaRPr lang="en-US" sz="1200" dirty="0"/>
          </a:p>
        </p:txBody>
      </p:sp>
      <p:sp>
        <p:nvSpPr>
          <p:cNvPr id="9" name="Text 7"/>
          <p:cNvSpPr/>
          <p:nvPr/>
        </p:nvSpPr>
        <p:spPr>
          <a:xfrm>
            <a:off x="1051560" y="1216152"/>
            <a:ext cx="3291840" cy="274320"/>
          </a:xfrm>
          <a:prstGeom prst="rect">
            <a:avLst/>
          </a:prstGeom>
          <a:noFill/>
          <a:ln/>
        </p:spPr>
        <p:txBody>
          <a:bodyPr wrap="square" lIns="0" tIns="0" rIns="0" bIns="0" rtlCol="0" anchor="ctr"/>
          <a:lstStyle/>
          <a:p>
            <a:pPr indent="0" marL="0">
              <a:buNone/>
            </a:pPr>
            <a:r>
              <a:rPr lang="en-US" sz="950" dirty="0">
                <a:solidFill>
                  <a:srgbClr val="8892B0"/>
                </a:solidFill>
                <a:latin typeface="Calibri" pitchFamily="34" charset="0"/>
                <a:ea typeface="Calibri" pitchFamily="34" charset="-122"/>
                <a:cs typeface="Calibri" pitchFamily="34" charset="-120"/>
              </a:rPr>
              <a:t>Fundamentals &amp; Core Concepts</a:t>
            </a:r>
            <a:endParaRPr lang="en-US" sz="950" dirty="0"/>
          </a:p>
        </p:txBody>
      </p:sp>
      <p:sp>
        <p:nvSpPr>
          <p:cNvPr id="10" name="Shape 8"/>
          <p:cNvSpPr/>
          <p:nvPr/>
        </p:nvSpPr>
        <p:spPr>
          <a:xfrm>
            <a:off x="320040" y="1673352"/>
            <a:ext cx="4251960" cy="704088"/>
          </a:xfrm>
          <a:prstGeom prst="rect">
            <a:avLst>
              <a:gd name="adj" fmla="val 7792"/>
            </a:avLst>
          </a:prstGeom>
          <a:solidFill>
            <a:srgbClr val="242B3D"/>
          </a:solidFill>
          <a:ln/>
        </p:spPr>
      </p:sp>
      <p:sp>
        <p:nvSpPr>
          <p:cNvPr id="11" name="Shape 9"/>
          <p:cNvSpPr/>
          <p:nvPr/>
        </p:nvSpPr>
        <p:spPr>
          <a:xfrm>
            <a:off x="457200" y="1801368"/>
            <a:ext cx="457200" cy="457200"/>
          </a:xfrm>
          <a:prstGeom prst="ellipse">
            <a:avLst/>
          </a:prstGeom>
          <a:solidFill>
            <a:srgbClr val="6C63FF"/>
          </a:solidFill>
          <a:ln/>
        </p:spPr>
      </p:sp>
      <p:sp>
        <p:nvSpPr>
          <p:cNvPr id="12" name="Text 10"/>
          <p:cNvSpPr/>
          <p:nvPr/>
        </p:nvSpPr>
        <p:spPr>
          <a:xfrm>
            <a:off x="457200" y="18013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1051560" y="1746504"/>
            <a:ext cx="3291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Types &amp; Structures</a:t>
            </a:r>
            <a:endParaRPr lang="en-US" sz="1200" dirty="0"/>
          </a:p>
        </p:txBody>
      </p:sp>
      <p:sp>
        <p:nvSpPr>
          <p:cNvPr id="14" name="Text 12"/>
          <p:cNvSpPr/>
          <p:nvPr/>
        </p:nvSpPr>
        <p:spPr>
          <a:xfrm>
            <a:off x="1051560" y="2020824"/>
            <a:ext cx="3291840" cy="274320"/>
          </a:xfrm>
          <a:prstGeom prst="rect">
            <a:avLst/>
          </a:prstGeom>
          <a:noFill/>
          <a:ln/>
        </p:spPr>
        <p:txBody>
          <a:bodyPr wrap="square" lIns="0" tIns="0" rIns="0" bIns="0" rtlCol="0" anchor="ctr"/>
          <a:lstStyle/>
          <a:p>
            <a:pPr indent="0" marL="0">
              <a:buNone/>
            </a:pPr>
            <a:r>
              <a:rPr lang="en-US" sz="950" dirty="0">
                <a:solidFill>
                  <a:srgbClr val="8892B0"/>
                </a:solidFill>
                <a:latin typeface="Calibri" pitchFamily="34" charset="0"/>
                <a:ea typeface="Calibri" pitchFamily="34" charset="-122"/>
                <a:cs typeface="Calibri" pitchFamily="34" charset="-120"/>
              </a:rPr>
              <a:t>Lists, Tuples, Sets, Dicts</a:t>
            </a:r>
            <a:endParaRPr lang="en-US" sz="950" dirty="0"/>
          </a:p>
        </p:txBody>
      </p:sp>
      <p:sp>
        <p:nvSpPr>
          <p:cNvPr id="15" name="Shape 13"/>
          <p:cNvSpPr/>
          <p:nvPr/>
        </p:nvSpPr>
        <p:spPr>
          <a:xfrm>
            <a:off x="320040" y="2478024"/>
            <a:ext cx="4251960" cy="704088"/>
          </a:xfrm>
          <a:prstGeom prst="rect">
            <a:avLst>
              <a:gd name="adj" fmla="val 7792"/>
            </a:avLst>
          </a:prstGeom>
          <a:solidFill>
            <a:srgbClr val="242B3D"/>
          </a:solidFill>
          <a:ln/>
        </p:spPr>
      </p:sp>
      <p:sp>
        <p:nvSpPr>
          <p:cNvPr id="16" name="Shape 14"/>
          <p:cNvSpPr/>
          <p:nvPr/>
        </p:nvSpPr>
        <p:spPr>
          <a:xfrm>
            <a:off x="457200" y="2606040"/>
            <a:ext cx="457200" cy="457200"/>
          </a:xfrm>
          <a:prstGeom prst="ellipse">
            <a:avLst/>
          </a:prstGeom>
          <a:solidFill>
            <a:srgbClr val="6C63FF"/>
          </a:solidFill>
          <a:ln/>
        </p:spPr>
      </p:sp>
      <p:sp>
        <p:nvSpPr>
          <p:cNvPr id="17" name="Text 15"/>
          <p:cNvSpPr/>
          <p:nvPr/>
        </p:nvSpPr>
        <p:spPr>
          <a:xfrm>
            <a:off x="457200" y="2606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8" name="Text 16"/>
          <p:cNvSpPr/>
          <p:nvPr/>
        </p:nvSpPr>
        <p:spPr>
          <a:xfrm>
            <a:off x="1051560" y="2551176"/>
            <a:ext cx="3291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Control Flow &amp; Loops</a:t>
            </a:r>
            <a:endParaRPr lang="en-US" sz="1200" dirty="0"/>
          </a:p>
        </p:txBody>
      </p:sp>
      <p:sp>
        <p:nvSpPr>
          <p:cNvPr id="19" name="Text 17"/>
          <p:cNvSpPr/>
          <p:nvPr/>
        </p:nvSpPr>
        <p:spPr>
          <a:xfrm>
            <a:off x="1051560" y="2825496"/>
            <a:ext cx="3291840" cy="274320"/>
          </a:xfrm>
          <a:prstGeom prst="rect">
            <a:avLst/>
          </a:prstGeom>
          <a:noFill/>
          <a:ln/>
        </p:spPr>
        <p:txBody>
          <a:bodyPr wrap="square" lIns="0" tIns="0" rIns="0" bIns="0" rtlCol="0" anchor="ctr"/>
          <a:lstStyle/>
          <a:p>
            <a:pPr indent="0" marL="0">
              <a:buNone/>
            </a:pPr>
            <a:r>
              <a:rPr lang="en-US" sz="950" dirty="0">
                <a:solidFill>
                  <a:srgbClr val="8892B0"/>
                </a:solidFill>
                <a:latin typeface="Calibri" pitchFamily="34" charset="0"/>
                <a:ea typeface="Calibri" pitchFamily="34" charset="-122"/>
                <a:cs typeface="Calibri" pitchFamily="34" charset="-120"/>
              </a:rPr>
              <a:t>For, While, Break, Continue</a:t>
            </a:r>
            <a:endParaRPr lang="en-US" sz="950" dirty="0"/>
          </a:p>
        </p:txBody>
      </p:sp>
      <p:sp>
        <p:nvSpPr>
          <p:cNvPr id="20" name="Shape 18"/>
          <p:cNvSpPr/>
          <p:nvPr/>
        </p:nvSpPr>
        <p:spPr>
          <a:xfrm>
            <a:off x="320040" y="3282696"/>
            <a:ext cx="4251960" cy="704088"/>
          </a:xfrm>
          <a:prstGeom prst="rect">
            <a:avLst>
              <a:gd name="adj" fmla="val 7792"/>
            </a:avLst>
          </a:prstGeom>
          <a:solidFill>
            <a:srgbClr val="242B3D"/>
          </a:solidFill>
          <a:ln/>
        </p:spPr>
      </p:sp>
      <p:sp>
        <p:nvSpPr>
          <p:cNvPr id="21" name="Shape 19"/>
          <p:cNvSpPr/>
          <p:nvPr/>
        </p:nvSpPr>
        <p:spPr>
          <a:xfrm>
            <a:off x="457200" y="3410712"/>
            <a:ext cx="457200" cy="457200"/>
          </a:xfrm>
          <a:prstGeom prst="ellipse">
            <a:avLst/>
          </a:prstGeom>
          <a:solidFill>
            <a:srgbClr val="6C63FF"/>
          </a:solidFill>
          <a:ln/>
        </p:spPr>
      </p:sp>
      <p:sp>
        <p:nvSpPr>
          <p:cNvPr id="22" name="Text 20"/>
          <p:cNvSpPr/>
          <p:nvPr/>
        </p:nvSpPr>
        <p:spPr>
          <a:xfrm>
            <a:off x="457200" y="34107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3" name="Text 21"/>
          <p:cNvSpPr/>
          <p:nvPr/>
        </p:nvSpPr>
        <p:spPr>
          <a:xfrm>
            <a:off x="1051560" y="3355848"/>
            <a:ext cx="3291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Functions &amp; Functional</a:t>
            </a:r>
            <a:endParaRPr lang="en-US" sz="1200" dirty="0"/>
          </a:p>
        </p:txBody>
      </p:sp>
      <p:sp>
        <p:nvSpPr>
          <p:cNvPr id="24" name="Text 22"/>
          <p:cNvSpPr/>
          <p:nvPr/>
        </p:nvSpPr>
        <p:spPr>
          <a:xfrm>
            <a:off x="1051560" y="3630168"/>
            <a:ext cx="3291840" cy="274320"/>
          </a:xfrm>
          <a:prstGeom prst="rect">
            <a:avLst/>
          </a:prstGeom>
          <a:noFill/>
          <a:ln/>
        </p:spPr>
        <p:txBody>
          <a:bodyPr wrap="square" lIns="0" tIns="0" rIns="0" bIns="0" rtlCol="0" anchor="ctr"/>
          <a:lstStyle/>
          <a:p>
            <a:pPr indent="0" marL="0">
              <a:buNone/>
            </a:pPr>
            <a:r>
              <a:rPr lang="en-US" sz="950" dirty="0">
                <a:solidFill>
                  <a:srgbClr val="8892B0"/>
                </a:solidFill>
                <a:latin typeface="Calibri" pitchFamily="34" charset="0"/>
                <a:ea typeface="Calibri" pitchFamily="34" charset="-122"/>
                <a:cs typeface="Calibri" pitchFamily="34" charset="-120"/>
              </a:rPr>
              <a:t>Lambda, Comprehensions, Args</a:t>
            </a:r>
            <a:endParaRPr lang="en-US" sz="950" dirty="0"/>
          </a:p>
        </p:txBody>
      </p:sp>
      <p:sp>
        <p:nvSpPr>
          <p:cNvPr id="25" name="Shape 23"/>
          <p:cNvSpPr/>
          <p:nvPr/>
        </p:nvSpPr>
        <p:spPr>
          <a:xfrm>
            <a:off x="320040" y="4087368"/>
            <a:ext cx="4251960" cy="704088"/>
          </a:xfrm>
          <a:prstGeom prst="rect">
            <a:avLst>
              <a:gd name="adj" fmla="val 7792"/>
            </a:avLst>
          </a:prstGeom>
          <a:solidFill>
            <a:srgbClr val="242B3D"/>
          </a:solidFill>
          <a:ln/>
        </p:spPr>
      </p:sp>
      <p:sp>
        <p:nvSpPr>
          <p:cNvPr id="26" name="Shape 24"/>
          <p:cNvSpPr/>
          <p:nvPr/>
        </p:nvSpPr>
        <p:spPr>
          <a:xfrm>
            <a:off x="457200" y="4215384"/>
            <a:ext cx="457200" cy="457200"/>
          </a:xfrm>
          <a:prstGeom prst="ellipse">
            <a:avLst/>
          </a:prstGeom>
          <a:solidFill>
            <a:srgbClr val="6C63FF"/>
          </a:solidFill>
          <a:ln/>
        </p:spPr>
      </p:sp>
      <p:sp>
        <p:nvSpPr>
          <p:cNvPr id="27" name="Text 25"/>
          <p:cNvSpPr/>
          <p:nvPr/>
        </p:nvSpPr>
        <p:spPr>
          <a:xfrm>
            <a:off x="457200" y="42153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8" name="Text 26"/>
          <p:cNvSpPr/>
          <p:nvPr/>
        </p:nvSpPr>
        <p:spPr>
          <a:xfrm>
            <a:off x="1051560" y="4160520"/>
            <a:ext cx="3291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Modules &amp; Packages</a:t>
            </a:r>
            <a:endParaRPr lang="en-US" sz="1200" dirty="0"/>
          </a:p>
        </p:txBody>
      </p:sp>
      <p:sp>
        <p:nvSpPr>
          <p:cNvPr id="29" name="Text 27"/>
          <p:cNvSpPr/>
          <p:nvPr/>
        </p:nvSpPr>
        <p:spPr>
          <a:xfrm>
            <a:off x="1051560" y="4434840"/>
            <a:ext cx="3291840" cy="274320"/>
          </a:xfrm>
          <a:prstGeom prst="rect">
            <a:avLst/>
          </a:prstGeom>
          <a:noFill/>
          <a:ln/>
        </p:spPr>
        <p:txBody>
          <a:bodyPr wrap="square" lIns="0" tIns="0" rIns="0" bIns="0" rtlCol="0" anchor="ctr"/>
          <a:lstStyle/>
          <a:p>
            <a:pPr indent="0" marL="0">
              <a:buNone/>
            </a:pPr>
            <a:r>
              <a:rPr lang="en-US" sz="950" dirty="0">
                <a:solidFill>
                  <a:srgbClr val="8892B0"/>
                </a:solidFill>
                <a:latin typeface="Calibri" pitchFamily="34" charset="0"/>
                <a:ea typeface="Calibri" pitchFamily="34" charset="-122"/>
                <a:cs typeface="Calibri" pitchFamily="34" charset="-120"/>
              </a:rPr>
              <a:t>Imports, PIP, Built-ins</a:t>
            </a:r>
            <a:endParaRPr lang="en-US" sz="950" dirty="0"/>
          </a:p>
        </p:txBody>
      </p:sp>
      <p:sp>
        <p:nvSpPr>
          <p:cNvPr id="30" name="Shape 28"/>
          <p:cNvSpPr/>
          <p:nvPr/>
        </p:nvSpPr>
        <p:spPr>
          <a:xfrm>
            <a:off x="4754880" y="868680"/>
            <a:ext cx="4251960" cy="704088"/>
          </a:xfrm>
          <a:prstGeom prst="rect">
            <a:avLst>
              <a:gd name="adj" fmla="val 7792"/>
            </a:avLst>
          </a:prstGeom>
          <a:solidFill>
            <a:srgbClr val="242B3D"/>
          </a:solidFill>
          <a:ln/>
        </p:spPr>
      </p:sp>
      <p:sp>
        <p:nvSpPr>
          <p:cNvPr id="31" name="Shape 29"/>
          <p:cNvSpPr/>
          <p:nvPr/>
        </p:nvSpPr>
        <p:spPr>
          <a:xfrm>
            <a:off x="4892040" y="996696"/>
            <a:ext cx="457200" cy="457200"/>
          </a:xfrm>
          <a:prstGeom prst="ellipse">
            <a:avLst/>
          </a:prstGeom>
          <a:solidFill>
            <a:srgbClr val="6C63FF"/>
          </a:solidFill>
          <a:ln/>
        </p:spPr>
      </p:sp>
      <p:sp>
        <p:nvSpPr>
          <p:cNvPr id="32" name="Text 30"/>
          <p:cNvSpPr/>
          <p:nvPr/>
        </p:nvSpPr>
        <p:spPr>
          <a:xfrm>
            <a:off x="4892040" y="9966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3" name="Text 31"/>
          <p:cNvSpPr/>
          <p:nvPr/>
        </p:nvSpPr>
        <p:spPr>
          <a:xfrm>
            <a:off x="5486400" y="941832"/>
            <a:ext cx="3291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OOP</a:t>
            </a:r>
            <a:endParaRPr lang="en-US" sz="1200" dirty="0"/>
          </a:p>
        </p:txBody>
      </p:sp>
      <p:sp>
        <p:nvSpPr>
          <p:cNvPr id="34" name="Text 32"/>
          <p:cNvSpPr/>
          <p:nvPr/>
        </p:nvSpPr>
        <p:spPr>
          <a:xfrm>
            <a:off x="5486400" y="1216152"/>
            <a:ext cx="3291840" cy="274320"/>
          </a:xfrm>
          <a:prstGeom prst="rect">
            <a:avLst/>
          </a:prstGeom>
          <a:noFill/>
          <a:ln/>
        </p:spPr>
        <p:txBody>
          <a:bodyPr wrap="square" lIns="0" tIns="0" rIns="0" bIns="0" rtlCol="0" anchor="ctr"/>
          <a:lstStyle/>
          <a:p>
            <a:pPr indent="0" marL="0">
              <a:buNone/>
            </a:pPr>
            <a:r>
              <a:rPr lang="en-US" sz="950" dirty="0">
                <a:solidFill>
                  <a:srgbClr val="8892B0"/>
                </a:solidFill>
                <a:latin typeface="Calibri" pitchFamily="34" charset="0"/>
                <a:ea typeface="Calibri" pitchFamily="34" charset="-122"/>
                <a:cs typeface="Calibri" pitchFamily="34" charset="-120"/>
              </a:rPr>
              <a:t>Classes, Inheritance, Polymorphism</a:t>
            </a:r>
            <a:endParaRPr lang="en-US" sz="950" dirty="0"/>
          </a:p>
        </p:txBody>
      </p:sp>
      <p:sp>
        <p:nvSpPr>
          <p:cNvPr id="35" name="Shape 33"/>
          <p:cNvSpPr/>
          <p:nvPr/>
        </p:nvSpPr>
        <p:spPr>
          <a:xfrm>
            <a:off x="4754880" y="1673352"/>
            <a:ext cx="4251960" cy="704088"/>
          </a:xfrm>
          <a:prstGeom prst="rect">
            <a:avLst>
              <a:gd name="adj" fmla="val 7792"/>
            </a:avLst>
          </a:prstGeom>
          <a:solidFill>
            <a:srgbClr val="242B3D"/>
          </a:solidFill>
          <a:ln/>
        </p:spPr>
      </p:sp>
      <p:sp>
        <p:nvSpPr>
          <p:cNvPr id="36" name="Shape 34"/>
          <p:cNvSpPr/>
          <p:nvPr/>
        </p:nvSpPr>
        <p:spPr>
          <a:xfrm>
            <a:off x="4892040" y="1801368"/>
            <a:ext cx="457200" cy="457200"/>
          </a:xfrm>
          <a:prstGeom prst="ellipse">
            <a:avLst/>
          </a:prstGeom>
          <a:solidFill>
            <a:srgbClr val="6C63FF"/>
          </a:solidFill>
          <a:ln/>
        </p:spPr>
      </p:sp>
      <p:sp>
        <p:nvSpPr>
          <p:cNvPr id="37" name="Text 35"/>
          <p:cNvSpPr/>
          <p:nvPr/>
        </p:nvSpPr>
        <p:spPr>
          <a:xfrm>
            <a:off x="4892040" y="18013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38" name="Text 36"/>
          <p:cNvSpPr/>
          <p:nvPr/>
        </p:nvSpPr>
        <p:spPr>
          <a:xfrm>
            <a:off x="5486400" y="1746504"/>
            <a:ext cx="3291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Memory &amp; Internals</a:t>
            </a:r>
            <a:endParaRPr lang="en-US" sz="1200" dirty="0"/>
          </a:p>
        </p:txBody>
      </p:sp>
      <p:sp>
        <p:nvSpPr>
          <p:cNvPr id="39" name="Text 37"/>
          <p:cNvSpPr/>
          <p:nvPr/>
        </p:nvSpPr>
        <p:spPr>
          <a:xfrm>
            <a:off x="5486400" y="2020824"/>
            <a:ext cx="3291840" cy="274320"/>
          </a:xfrm>
          <a:prstGeom prst="rect">
            <a:avLst/>
          </a:prstGeom>
          <a:noFill/>
          <a:ln/>
        </p:spPr>
        <p:txBody>
          <a:bodyPr wrap="square" lIns="0" tIns="0" rIns="0" bIns="0" rtlCol="0" anchor="ctr"/>
          <a:lstStyle/>
          <a:p>
            <a:pPr indent="0" marL="0">
              <a:buNone/>
            </a:pPr>
            <a:r>
              <a:rPr lang="en-US" sz="950" dirty="0">
                <a:solidFill>
                  <a:srgbClr val="8892B0"/>
                </a:solidFill>
                <a:latin typeface="Calibri" pitchFamily="34" charset="0"/>
                <a:ea typeface="Calibri" pitchFamily="34" charset="-122"/>
                <a:cs typeface="Calibri" pitchFamily="34" charset="-120"/>
              </a:rPr>
              <a:t>GC, Reference Counting, GIL</a:t>
            </a:r>
            <a:endParaRPr lang="en-US" sz="950" dirty="0"/>
          </a:p>
        </p:txBody>
      </p:sp>
      <p:sp>
        <p:nvSpPr>
          <p:cNvPr id="40" name="Shape 38"/>
          <p:cNvSpPr/>
          <p:nvPr/>
        </p:nvSpPr>
        <p:spPr>
          <a:xfrm>
            <a:off x="4754880" y="2478024"/>
            <a:ext cx="4251960" cy="704088"/>
          </a:xfrm>
          <a:prstGeom prst="rect">
            <a:avLst>
              <a:gd name="adj" fmla="val 7792"/>
            </a:avLst>
          </a:prstGeom>
          <a:solidFill>
            <a:srgbClr val="242B3D"/>
          </a:solidFill>
          <a:ln/>
        </p:spPr>
      </p:sp>
      <p:sp>
        <p:nvSpPr>
          <p:cNvPr id="41" name="Shape 39"/>
          <p:cNvSpPr/>
          <p:nvPr/>
        </p:nvSpPr>
        <p:spPr>
          <a:xfrm>
            <a:off x="4892040" y="2606040"/>
            <a:ext cx="457200" cy="457200"/>
          </a:xfrm>
          <a:prstGeom prst="ellipse">
            <a:avLst/>
          </a:prstGeom>
          <a:solidFill>
            <a:srgbClr val="6C63FF"/>
          </a:solidFill>
          <a:ln/>
        </p:spPr>
      </p:sp>
      <p:sp>
        <p:nvSpPr>
          <p:cNvPr id="42" name="Text 40"/>
          <p:cNvSpPr/>
          <p:nvPr/>
        </p:nvSpPr>
        <p:spPr>
          <a:xfrm>
            <a:off x="4892040" y="2606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3" name="Text 41"/>
          <p:cNvSpPr/>
          <p:nvPr/>
        </p:nvSpPr>
        <p:spPr>
          <a:xfrm>
            <a:off x="5486400" y="2551176"/>
            <a:ext cx="3291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Error Handling</a:t>
            </a:r>
            <a:endParaRPr lang="en-US" sz="1200" dirty="0"/>
          </a:p>
        </p:txBody>
      </p:sp>
      <p:sp>
        <p:nvSpPr>
          <p:cNvPr id="44" name="Text 42"/>
          <p:cNvSpPr/>
          <p:nvPr/>
        </p:nvSpPr>
        <p:spPr>
          <a:xfrm>
            <a:off x="5486400" y="2825496"/>
            <a:ext cx="3291840" cy="274320"/>
          </a:xfrm>
          <a:prstGeom prst="rect">
            <a:avLst/>
          </a:prstGeom>
          <a:noFill/>
          <a:ln/>
        </p:spPr>
        <p:txBody>
          <a:bodyPr wrap="square" lIns="0" tIns="0" rIns="0" bIns="0" rtlCol="0" anchor="ctr"/>
          <a:lstStyle/>
          <a:p>
            <a:pPr indent="0" marL="0">
              <a:buNone/>
            </a:pPr>
            <a:r>
              <a:rPr lang="en-US" sz="950" dirty="0">
                <a:solidFill>
                  <a:srgbClr val="8892B0"/>
                </a:solidFill>
                <a:latin typeface="Calibri" pitchFamily="34" charset="0"/>
                <a:ea typeface="Calibri" pitchFamily="34" charset="-122"/>
                <a:cs typeface="Calibri" pitchFamily="34" charset="-120"/>
              </a:rPr>
              <a:t>Try/Except, Runtime Errors</a:t>
            </a:r>
            <a:endParaRPr lang="en-US" sz="950" dirty="0"/>
          </a:p>
        </p:txBody>
      </p:sp>
      <p:sp>
        <p:nvSpPr>
          <p:cNvPr id="45" name="Shape 43"/>
          <p:cNvSpPr/>
          <p:nvPr/>
        </p:nvSpPr>
        <p:spPr>
          <a:xfrm>
            <a:off x="4754880" y="3282696"/>
            <a:ext cx="4251960" cy="704088"/>
          </a:xfrm>
          <a:prstGeom prst="rect">
            <a:avLst>
              <a:gd name="adj" fmla="val 7792"/>
            </a:avLst>
          </a:prstGeom>
          <a:solidFill>
            <a:srgbClr val="242B3D"/>
          </a:solidFill>
          <a:ln/>
        </p:spPr>
      </p:sp>
      <p:sp>
        <p:nvSpPr>
          <p:cNvPr id="46" name="Shape 44"/>
          <p:cNvSpPr/>
          <p:nvPr/>
        </p:nvSpPr>
        <p:spPr>
          <a:xfrm>
            <a:off x="4892040" y="3410712"/>
            <a:ext cx="457200" cy="457200"/>
          </a:xfrm>
          <a:prstGeom prst="ellipse">
            <a:avLst/>
          </a:prstGeom>
          <a:solidFill>
            <a:srgbClr val="6C63FF"/>
          </a:solidFill>
          <a:ln/>
        </p:spPr>
      </p:sp>
      <p:sp>
        <p:nvSpPr>
          <p:cNvPr id="47" name="Text 45"/>
          <p:cNvSpPr/>
          <p:nvPr/>
        </p:nvSpPr>
        <p:spPr>
          <a:xfrm>
            <a:off x="4892040" y="34107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8" name="Text 46"/>
          <p:cNvSpPr/>
          <p:nvPr/>
        </p:nvSpPr>
        <p:spPr>
          <a:xfrm>
            <a:off x="5486400" y="3355848"/>
            <a:ext cx="3291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File Handling &amp; Advanced</a:t>
            </a:r>
            <a:endParaRPr lang="en-US" sz="1200" dirty="0"/>
          </a:p>
        </p:txBody>
      </p:sp>
      <p:sp>
        <p:nvSpPr>
          <p:cNvPr id="49" name="Text 47"/>
          <p:cNvSpPr/>
          <p:nvPr/>
        </p:nvSpPr>
        <p:spPr>
          <a:xfrm>
            <a:off x="5486400" y="3630168"/>
            <a:ext cx="3291840" cy="274320"/>
          </a:xfrm>
          <a:prstGeom prst="rect">
            <a:avLst/>
          </a:prstGeom>
          <a:noFill/>
          <a:ln/>
        </p:spPr>
        <p:txBody>
          <a:bodyPr wrap="square" lIns="0" tIns="0" rIns="0" bIns="0" rtlCol="0" anchor="ctr"/>
          <a:lstStyle/>
          <a:p>
            <a:pPr indent="0" marL="0">
              <a:buNone/>
            </a:pPr>
            <a:r>
              <a:rPr lang="en-US" sz="950" dirty="0">
                <a:solidFill>
                  <a:srgbClr val="8892B0"/>
                </a:solidFill>
                <a:latin typeface="Calibri" pitchFamily="34" charset="0"/>
                <a:ea typeface="Calibri" pitchFamily="34" charset="-122"/>
                <a:cs typeface="Calibri" pitchFamily="34" charset="-120"/>
              </a:rPr>
              <a:t>Decorators, Generators, Pickle</a:t>
            </a:r>
            <a:endParaRPr lang="en-US" sz="950" dirty="0"/>
          </a:p>
        </p:txBody>
      </p:sp>
      <p:sp>
        <p:nvSpPr>
          <p:cNvPr id="50" name="Shape 48"/>
          <p:cNvSpPr/>
          <p:nvPr/>
        </p:nvSpPr>
        <p:spPr>
          <a:xfrm>
            <a:off x="4754880" y="4087368"/>
            <a:ext cx="4251960" cy="704088"/>
          </a:xfrm>
          <a:prstGeom prst="rect">
            <a:avLst>
              <a:gd name="adj" fmla="val 7792"/>
            </a:avLst>
          </a:prstGeom>
          <a:solidFill>
            <a:srgbClr val="242B3D"/>
          </a:solidFill>
          <a:ln/>
        </p:spPr>
      </p:sp>
      <p:sp>
        <p:nvSpPr>
          <p:cNvPr id="51" name="Shape 49"/>
          <p:cNvSpPr/>
          <p:nvPr/>
        </p:nvSpPr>
        <p:spPr>
          <a:xfrm>
            <a:off x="4892040" y="4215384"/>
            <a:ext cx="457200" cy="457200"/>
          </a:xfrm>
          <a:prstGeom prst="ellipse">
            <a:avLst/>
          </a:prstGeom>
          <a:solidFill>
            <a:srgbClr val="6C63FF"/>
          </a:solidFill>
          <a:ln/>
        </p:spPr>
      </p:sp>
      <p:sp>
        <p:nvSpPr>
          <p:cNvPr id="52" name="Text 50"/>
          <p:cNvSpPr/>
          <p:nvPr/>
        </p:nvSpPr>
        <p:spPr>
          <a:xfrm>
            <a:off x="4892040" y="42153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53" name="Text 51"/>
          <p:cNvSpPr/>
          <p:nvPr/>
        </p:nvSpPr>
        <p:spPr>
          <a:xfrm>
            <a:off x="5486400" y="4160520"/>
            <a:ext cx="3291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Sorting, Pandas &amp; Frameworks</a:t>
            </a:r>
            <a:endParaRPr lang="en-US" sz="1200" dirty="0"/>
          </a:p>
        </p:txBody>
      </p:sp>
      <p:sp>
        <p:nvSpPr>
          <p:cNvPr id="54" name="Text 52"/>
          <p:cNvSpPr/>
          <p:nvPr/>
        </p:nvSpPr>
        <p:spPr>
          <a:xfrm>
            <a:off x="5486400" y="4434840"/>
            <a:ext cx="3291840" cy="274320"/>
          </a:xfrm>
          <a:prstGeom prst="rect">
            <a:avLst/>
          </a:prstGeom>
          <a:noFill/>
          <a:ln/>
        </p:spPr>
        <p:txBody>
          <a:bodyPr wrap="square" lIns="0" tIns="0" rIns="0" bIns="0" rtlCol="0" anchor="ctr"/>
          <a:lstStyle/>
          <a:p>
            <a:pPr indent="0" marL="0">
              <a:buNone/>
            </a:pPr>
            <a:r>
              <a:rPr lang="en-US" sz="950" dirty="0">
                <a:solidFill>
                  <a:srgbClr val="8892B0"/>
                </a:solidFill>
                <a:latin typeface="Calibri" pitchFamily="34" charset="0"/>
                <a:ea typeface="Calibri" pitchFamily="34" charset="-122"/>
                <a:cs typeface="Calibri" pitchFamily="34" charset="-120"/>
              </a:rPr>
              <a:t>Django, Flask, NumPy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C63FF"/>
          </a:solidFill>
          <a:ln/>
        </p:spPr>
      </p:sp>
      <p:sp>
        <p:nvSpPr>
          <p:cNvPr id="3" name="Shape 1"/>
          <p:cNvSpPr/>
          <p:nvPr/>
        </p:nvSpPr>
        <p:spPr>
          <a:xfrm>
            <a:off x="914400" y="1737360"/>
            <a:ext cx="1280160" cy="1280160"/>
          </a:xfrm>
          <a:prstGeom prst="ellipse">
            <a:avLst/>
          </a:prstGeom>
          <a:solidFill>
            <a:srgbClr val="6C63FF">
              <a:alpha val="80000"/>
            </a:srgbClr>
          </a:solidFill>
          <a:ln/>
        </p:spPr>
      </p:sp>
      <p:pic>
        <p:nvPicPr>
          <p:cNvPr id="4" name="Image 0" descr="preencoded.png">    </p:cNvPr>
          <p:cNvPicPr>
            <a:picLocks noChangeAspect="1"/>
          </p:cNvPicPr>
          <p:nvPr/>
        </p:nvPicPr>
        <p:blipFill>
          <a:blip r:embed="rId1"/>
          <a:stretch>
            <a:fillRect/>
          </a:stretch>
        </p:blipFill>
        <p:spPr>
          <a:xfrm>
            <a:off x="1051560" y="1874520"/>
            <a:ext cx="1005840" cy="1005840"/>
          </a:xfrm>
          <a:prstGeom prst="rect">
            <a:avLst/>
          </a:prstGeom>
        </p:spPr>
      </p:pic>
      <p:sp>
        <p:nvSpPr>
          <p:cNvPr id="5" name="Text 2"/>
          <p:cNvSpPr/>
          <p:nvPr/>
        </p:nvSpPr>
        <p:spPr>
          <a:xfrm>
            <a:off x="2560320" y="1554480"/>
            <a:ext cx="5943600" cy="10972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Basic Python</a:t>
            </a:r>
            <a:endParaRPr lang="en-US" sz="3600" dirty="0"/>
          </a:p>
        </p:txBody>
      </p:sp>
      <p:sp>
        <p:nvSpPr>
          <p:cNvPr id="6" name="Text 3"/>
          <p:cNvSpPr/>
          <p:nvPr/>
        </p:nvSpPr>
        <p:spPr>
          <a:xfrm>
            <a:off x="2560320" y="2834640"/>
            <a:ext cx="5943600" cy="411480"/>
          </a:xfrm>
          <a:prstGeom prst="rect">
            <a:avLst/>
          </a:prstGeom>
          <a:noFill/>
          <a:ln/>
        </p:spPr>
        <p:txBody>
          <a:bodyPr wrap="square" rtlCol="0" anchor="t"/>
          <a:lstStyle/>
          <a:p>
            <a:pPr indent="0" marL="0">
              <a:buNone/>
            </a:pPr>
            <a:r>
              <a:rPr lang="en-US" sz="1500" dirty="0">
                <a:solidFill>
                  <a:srgbClr val="8892B0"/>
                </a:solidFill>
                <a:latin typeface="Calibri" pitchFamily="34" charset="0"/>
                <a:ea typeface="Calibri" pitchFamily="34" charset="-122"/>
                <a:cs typeface="Calibri" pitchFamily="34" charset="-120"/>
              </a:rPr>
              <a:t>Fundamentals, Core Concepts &amp; Language Basics</a:t>
            </a:r>
            <a:endParaRPr lang="en-US" sz="1500" dirty="0"/>
          </a:p>
        </p:txBody>
      </p:sp>
      <p:sp>
        <p:nvSpPr>
          <p:cNvPr id="7" name="Shape 4"/>
          <p:cNvSpPr/>
          <p:nvPr/>
        </p:nvSpPr>
        <p:spPr>
          <a:xfrm>
            <a:off x="2560320" y="3291840"/>
            <a:ext cx="1097280" cy="36576"/>
          </a:xfrm>
          <a:prstGeom prst="rect">
            <a:avLst/>
          </a:prstGeom>
          <a:solidFill>
            <a:srgbClr val="00D4AA"/>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Python?</a:t>
            </a:r>
            <a:endParaRPr lang="en-US" sz="1700" dirty="0"/>
          </a:p>
        </p:txBody>
      </p:sp>
      <p:sp>
        <p:nvSpPr>
          <p:cNvPr id="6" name="Shape 4"/>
          <p:cNvSpPr/>
          <p:nvPr/>
        </p:nvSpPr>
        <p:spPr>
          <a:xfrm>
            <a:off x="365760" y="868680"/>
            <a:ext cx="8412480" cy="1284732"/>
          </a:xfrm>
          <a:prstGeom prst="rect">
            <a:avLst>
              <a:gd name="adj" fmla="val 5694"/>
            </a:avLst>
          </a:prstGeom>
          <a:solidFill>
            <a:srgbClr val="242B3D"/>
          </a:solidFill>
          <a:ln/>
        </p:spPr>
      </p:sp>
      <p:sp>
        <p:nvSpPr>
          <p:cNvPr id="7" name="Shape 5"/>
          <p:cNvSpPr/>
          <p:nvPr/>
        </p:nvSpPr>
        <p:spPr>
          <a:xfrm>
            <a:off x="365760" y="868680"/>
            <a:ext cx="54864" cy="1284732"/>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964692"/>
          </a:xfrm>
          <a:prstGeom prst="rect">
            <a:avLst/>
          </a:prstGeom>
          <a:noFill/>
          <a:ln/>
        </p:spPr>
        <p:txBody>
          <a:bodyPr wrap="square" lIns="0" tIns="0" rIns="0" bIns="0" rtlCol="0" anchor="t"/>
          <a:lstStyle/>
          <a:p>
            <a:pPr indent="0" marL="0">
              <a:buNone/>
            </a:pPr>
            <a:r>
              <a:rPr lang="en-US" sz="1250" dirty="0">
                <a:solidFill>
                  <a:srgbClr val="A8B2C8"/>
                </a:solidFill>
                <a:latin typeface="Calibri" pitchFamily="34" charset="0"/>
                <a:ea typeface="Calibri" pitchFamily="34" charset="-122"/>
                <a:cs typeface="Calibri" pitchFamily="34" charset="-120"/>
              </a:rPr>
              <a:t>Python is a high-level, general-purpose, interpreted programming language created by Guido van Rossum in 1991. It is known for its simple and readable syntax that makes it easy to learn. Python supports multiple programming paradigms including procedural, object-oriented, and functional programming. It is widely used in web development, data science, AI/ML, automation, and much more.</a:t>
            </a:r>
            <a:endParaRPr lang="en-US" sz="1250" dirty="0"/>
          </a:p>
        </p:txBody>
      </p:sp>
      <p:sp>
        <p:nvSpPr>
          <p:cNvPr id="10" name="Shape 8"/>
          <p:cNvSpPr/>
          <p:nvPr/>
        </p:nvSpPr>
        <p:spPr>
          <a:xfrm>
            <a:off x="365760" y="2290572"/>
            <a:ext cx="8412480" cy="1673352"/>
          </a:xfrm>
          <a:prstGeom prst="rect">
            <a:avLst>
              <a:gd name="adj" fmla="val 4372"/>
            </a:avLst>
          </a:prstGeom>
          <a:solidFill>
            <a:srgbClr val="151921"/>
          </a:solidFill>
          <a:ln/>
        </p:spPr>
      </p:sp>
      <p:sp>
        <p:nvSpPr>
          <p:cNvPr id="11" name="Shape 9"/>
          <p:cNvSpPr/>
          <p:nvPr/>
        </p:nvSpPr>
        <p:spPr>
          <a:xfrm>
            <a:off x="365760" y="2290572"/>
            <a:ext cx="54864" cy="1673352"/>
          </a:xfrm>
          <a:prstGeom prst="rect">
            <a:avLst/>
          </a:prstGeom>
          <a:solidFill>
            <a:srgbClr val="FFC107"/>
          </a:solidFill>
          <a:ln/>
        </p:spPr>
      </p:sp>
      <p:sp>
        <p:nvSpPr>
          <p:cNvPr id="12" name="Shape 10"/>
          <p:cNvSpPr/>
          <p:nvPr/>
        </p:nvSpPr>
        <p:spPr>
          <a:xfrm>
            <a:off x="548640" y="2382012"/>
            <a:ext cx="91440" cy="91440"/>
          </a:xfrm>
          <a:prstGeom prst="ellipse">
            <a:avLst/>
          </a:prstGeom>
          <a:solidFill>
            <a:srgbClr val="FF6B6B"/>
          </a:solidFill>
          <a:ln/>
        </p:spPr>
      </p:sp>
      <p:sp>
        <p:nvSpPr>
          <p:cNvPr id="13" name="Shape 11"/>
          <p:cNvSpPr/>
          <p:nvPr/>
        </p:nvSpPr>
        <p:spPr>
          <a:xfrm>
            <a:off x="676656" y="2382012"/>
            <a:ext cx="91440" cy="91440"/>
          </a:xfrm>
          <a:prstGeom prst="ellipse">
            <a:avLst/>
          </a:prstGeom>
          <a:solidFill>
            <a:srgbClr val="FFC107"/>
          </a:solidFill>
          <a:ln/>
        </p:spPr>
      </p:sp>
      <p:sp>
        <p:nvSpPr>
          <p:cNvPr id="14" name="Shape 12"/>
          <p:cNvSpPr/>
          <p:nvPr/>
        </p:nvSpPr>
        <p:spPr>
          <a:xfrm>
            <a:off x="804672" y="2382012"/>
            <a:ext cx="91440" cy="91440"/>
          </a:xfrm>
          <a:prstGeom prst="ellipse">
            <a:avLst/>
          </a:prstGeom>
          <a:solidFill>
            <a:srgbClr val="00D4AA"/>
          </a:solidFill>
          <a:ln/>
        </p:spPr>
      </p:sp>
      <p:sp>
        <p:nvSpPr>
          <p:cNvPr id="15" name="Text 13"/>
          <p:cNvSpPr/>
          <p:nvPr/>
        </p:nvSpPr>
        <p:spPr>
          <a:xfrm>
            <a:off x="1005840" y="2345436"/>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2546604"/>
            <a:ext cx="8138160" cy="1362456"/>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print("Hello, World!")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Output: Hello, World!</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Python is simple and readable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name = "Alice"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age = 25</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print(f"{name} is {age} years old")</a:t>
            </a:r>
            <a:endParaRPr lang="en-US" sz="1100" dirty="0"/>
          </a:p>
        </p:txBody>
      </p:sp>
      <p:sp>
        <p:nvSpPr>
          <p:cNvPr id="17" name="Shape 15"/>
          <p:cNvSpPr/>
          <p:nvPr/>
        </p:nvSpPr>
        <p:spPr>
          <a:xfrm>
            <a:off x="365760" y="4101084"/>
            <a:ext cx="8412480" cy="768096"/>
          </a:xfrm>
          <a:prstGeom prst="rect">
            <a:avLst>
              <a:gd name="adj" fmla="val 9524"/>
            </a:avLst>
          </a:prstGeom>
          <a:solidFill>
            <a:srgbClr val="2A1F3D"/>
          </a:solidFill>
          <a:ln/>
        </p:spPr>
      </p:sp>
      <p:sp>
        <p:nvSpPr>
          <p:cNvPr id="18" name="Shape 16"/>
          <p:cNvSpPr/>
          <p:nvPr/>
        </p:nvSpPr>
        <p:spPr>
          <a:xfrm>
            <a:off x="365760" y="4101084"/>
            <a:ext cx="54864" cy="768096"/>
          </a:xfrm>
          <a:prstGeom prst="rect">
            <a:avLst/>
          </a:prstGeom>
          <a:solidFill>
            <a:srgbClr val="6C63FF"/>
          </a:solidFill>
          <a:ln/>
        </p:spPr>
      </p:sp>
      <p:sp>
        <p:nvSpPr>
          <p:cNvPr id="19" name="Text 17"/>
          <p:cNvSpPr/>
          <p:nvPr/>
        </p:nvSpPr>
        <p:spPr>
          <a:xfrm>
            <a:off x="502920" y="4192524"/>
            <a:ext cx="1828800" cy="182880"/>
          </a:xfrm>
          <a:prstGeom prst="rect">
            <a:avLst/>
          </a:prstGeom>
          <a:noFill/>
          <a:ln/>
        </p:spPr>
        <p:txBody>
          <a:bodyPr wrap="square" lIns="0" tIns="0" rIns="0" bIns="0" rtlCol="0" anchor="ctr"/>
          <a:lstStyle/>
          <a:p>
            <a:pPr indent="0" marL="0">
              <a:buNone/>
            </a:pPr>
            <a:r>
              <a:rPr lang="en-US" sz="900" b="1" dirty="0">
                <a:solidFill>
                  <a:srgbClr val="6C63FF"/>
                </a:solidFill>
                <a:latin typeface="Calibri" pitchFamily="34" charset="0"/>
                <a:ea typeface="Calibri" pitchFamily="34" charset="-122"/>
                <a:cs typeface="Calibri" pitchFamily="34" charset="-120"/>
              </a:rPr>
              <a:t>💡 Interview Tip</a:t>
            </a:r>
            <a:endParaRPr lang="en-US" sz="900" dirty="0"/>
          </a:p>
        </p:txBody>
      </p:sp>
      <p:sp>
        <p:nvSpPr>
          <p:cNvPr id="20" name="Text 18"/>
          <p:cNvSpPr/>
          <p:nvPr/>
        </p:nvSpPr>
        <p:spPr>
          <a:xfrm>
            <a:off x="502920" y="4357116"/>
            <a:ext cx="8138160" cy="457200"/>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Always mention: high-level, interpreted, created by Guido van Rossum, and its versatility across domains. Interviewers love seeing you connect Python to real-world use cases.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makes Python different from other programming languages?</a:t>
            </a:r>
            <a:endParaRPr lang="en-US" sz="1700" dirty="0"/>
          </a:p>
        </p:txBody>
      </p:sp>
      <p:sp>
        <p:nvSpPr>
          <p:cNvPr id="6" name="Shape 4"/>
          <p:cNvSpPr/>
          <p:nvPr/>
        </p:nvSpPr>
        <p:spPr>
          <a:xfrm>
            <a:off x="365760" y="868680"/>
            <a:ext cx="8412480" cy="1641348"/>
          </a:xfrm>
          <a:prstGeom prst="rect">
            <a:avLst>
              <a:gd name="adj" fmla="val 4457"/>
            </a:avLst>
          </a:prstGeom>
          <a:solidFill>
            <a:srgbClr val="242B3D"/>
          </a:solidFill>
          <a:ln/>
        </p:spPr>
      </p:sp>
      <p:sp>
        <p:nvSpPr>
          <p:cNvPr id="7" name="Shape 5"/>
          <p:cNvSpPr/>
          <p:nvPr/>
        </p:nvSpPr>
        <p:spPr>
          <a:xfrm>
            <a:off x="365760" y="868680"/>
            <a:ext cx="54864" cy="1641348"/>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321308"/>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1. Simple &amp; readable syntax — looks almost like English</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2. Dynamically typed — no need to declare variable types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3. Interpreted language — no compilation step needed</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4. Huge standard library &amp; third-party packages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5. Supports multiple paradigms: OOP, functional, procedural</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6. Platform independent — runs on any OS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7. Large community &amp; extensive documentation</a:t>
            </a:r>
            <a:endParaRPr lang="en-US" sz="1150" dirty="0"/>
          </a:p>
        </p:txBody>
      </p:sp>
      <p:sp>
        <p:nvSpPr>
          <p:cNvPr id="10" name="Shape 8"/>
          <p:cNvSpPr/>
          <p:nvPr/>
        </p:nvSpPr>
        <p:spPr>
          <a:xfrm>
            <a:off x="365760" y="2647188"/>
            <a:ext cx="8412480" cy="1856232"/>
          </a:xfrm>
          <a:prstGeom prst="rect">
            <a:avLst>
              <a:gd name="adj" fmla="val 3941"/>
            </a:avLst>
          </a:prstGeom>
          <a:solidFill>
            <a:srgbClr val="151921"/>
          </a:solidFill>
          <a:ln/>
        </p:spPr>
      </p:sp>
      <p:sp>
        <p:nvSpPr>
          <p:cNvPr id="11" name="Shape 9"/>
          <p:cNvSpPr/>
          <p:nvPr/>
        </p:nvSpPr>
        <p:spPr>
          <a:xfrm>
            <a:off x="365760" y="2647188"/>
            <a:ext cx="54864" cy="1856232"/>
          </a:xfrm>
          <a:prstGeom prst="rect">
            <a:avLst/>
          </a:prstGeom>
          <a:solidFill>
            <a:srgbClr val="FFC107"/>
          </a:solidFill>
          <a:ln/>
        </p:spPr>
      </p:sp>
      <p:sp>
        <p:nvSpPr>
          <p:cNvPr id="12" name="Shape 10"/>
          <p:cNvSpPr/>
          <p:nvPr/>
        </p:nvSpPr>
        <p:spPr>
          <a:xfrm>
            <a:off x="548640" y="2738628"/>
            <a:ext cx="91440" cy="91440"/>
          </a:xfrm>
          <a:prstGeom prst="ellipse">
            <a:avLst/>
          </a:prstGeom>
          <a:solidFill>
            <a:srgbClr val="FF6B6B"/>
          </a:solidFill>
          <a:ln/>
        </p:spPr>
      </p:sp>
      <p:sp>
        <p:nvSpPr>
          <p:cNvPr id="13" name="Shape 11"/>
          <p:cNvSpPr/>
          <p:nvPr/>
        </p:nvSpPr>
        <p:spPr>
          <a:xfrm>
            <a:off x="676656" y="2738628"/>
            <a:ext cx="91440" cy="91440"/>
          </a:xfrm>
          <a:prstGeom prst="ellipse">
            <a:avLst/>
          </a:prstGeom>
          <a:solidFill>
            <a:srgbClr val="FFC107"/>
          </a:solidFill>
          <a:ln/>
        </p:spPr>
      </p:sp>
      <p:sp>
        <p:nvSpPr>
          <p:cNvPr id="14" name="Shape 12"/>
          <p:cNvSpPr/>
          <p:nvPr/>
        </p:nvSpPr>
        <p:spPr>
          <a:xfrm>
            <a:off x="804672" y="2738628"/>
            <a:ext cx="91440" cy="91440"/>
          </a:xfrm>
          <a:prstGeom prst="ellipse">
            <a:avLst/>
          </a:prstGeom>
          <a:solidFill>
            <a:srgbClr val="00D4AA"/>
          </a:solidFill>
          <a:ln/>
        </p:spPr>
      </p:sp>
      <p:sp>
        <p:nvSpPr>
          <p:cNvPr id="15" name="Text 13"/>
          <p:cNvSpPr/>
          <p:nvPr/>
        </p:nvSpPr>
        <p:spPr>
          <a:xfrm>
            <a:off x="1005840" y="2702052"/>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2903220"/>
            <a:ext cx="8138160" cy="1545336"/>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 No type declaration needed (unlike Java/C++)</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x = 10          # integer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y = "hello"     # string</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z = 3.14        # float</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Compare with Java:</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int x = 10;</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String y = "hello";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Why is Python used in Data Science?</a:t>
            </a:r>
            <a:endParaRPr lang="en-US" sz="1700" dirty="0"/>
          </a:p>
        </p:txBody>
      </p:sp>
      <p:sp>
        <p:nvSpPr>
          <p:cNvPr id="6" name="Shape 4"/>
          <p:cNvSpPr/>
          <p:nvPr/>
        </p:nvSpPr>
        <p:spPr>
          <a:xfrm>
            <a:off x="365760" y="868680"/>
            <a:ext cx="8412480" cy="1641348"/>
          </a:xfrm>
          <a:prstGeom prst="rect">
            <a:avLst>
              <a:gd name="adj" fmla="val 4457"/>
            </a:avLst>
          </a:prstGeom>
          <a:solidFill>
            <a:srgbClr val="242B3D"/>
          </a:solidFill>
          <a:ln/>
        </p:spPr>
      </p:sp>
      <p:sp>
        <p:nvSpPr>
          <p:cNvPr id="7" name="Shape 5"/>
          <p:cNvSpPr/>
          <p:nvPr/>
        </p:nvSpPr>
        <p:spPr>
          <a:xfrm>
            <a:off x="365760" y="868680"/>
            <a:ext cx="54864" cy="1641348"/>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321308"/>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1. Rich ecosystem of libraries: NumPy, Pandas, Matplotlib, Scikit-learn, TensorFlow</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2. Easy data manipulation and analysis with Pandas DataFrames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3. Strong visualization capabilities (Matplotlib, Seaborn, Plotly)</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4. Excellent ML/AI framework support (TensorFlow, PyTorch, Keras)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5. Large community with tons of tutorials and resources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6. Simple syntax allows data scientists to focus on analysis, not code complexity</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7. Jupyter Notebooks make interactive data exploration easy</a:t>
            </a:r>
            <a:endParaRPr lang="en-US" sz="1150" dirty="0"/>
          </a:p>
        </p:txBody>
      </p:sp>
      <p:sp>
        <p:nvSpPr>
          <p:cNvPr id="10" name="Shape 8"/>
          <p:cNvSpPr/>
          <p:nvPr/>
        </p:nvSpPr>
        <p:spPr>
          <a:xfrm>
            <a:off x="365760" y="2647188"/>
            <a:ext cx="8412480" cy="1673352"/>
          </a:xfrm>
          <a:prstGeom prst="rect">
            <a:avLst>
              <a:gd name="adj" fmla="val 4372"/>
            </a:avLst>
          </a:prstGeom>
          <a:solidFill>
            <a:srgbClr val="151921"/>
          </a:solidFill>
          <a:ln/>
        </p:spPr>
      </p:sp>
      <p:sp>
        <p:nvSpPr>
          <p:cNvPr id="11" name="Shape 9"/>
          <p:cNvSpPr/>
          <p:nvPr/>
        </p:nvSpPr>
        <p:spPr>
          <a:xfrm>
            <a:off x="365760" y="2647188"/>
            <a:ext cx="54864" cy="1673352"/>
          </a:xfrm>
          <a:prstGeom prst="rect">
            <a:avLst/>
          </a:prstGeom>
          <a:solidFill>
            <a:srgbClr val="FFC107"/>
          </a:solidFill>
          <a:ln/>
        </p:spPr>
      </p:sp>
      <p:sp>
        <p:nvSpPr>
          <p:cNvPr id="12" name="Shape 10"/>
          <p:cNvSpPr/>
          <p:nvPr/>
        </p:nvSpPr>
        <p:spPr>
          <a:xfrm>
            <a:off x="548640" y="2738628"/>
            <a:ext cx="91440" cy="91440"/>
          </a:xfrm>
          <a:prstGeom prst="ellipse">
            <a:avLst/>
          </a:prstGeom>
          <a:solidFill>
            <a:srgbClr val="FF6B6B"/>
          </a:solidFill>
          <a:ln/>
        </p:spPr>
      </p:sp>
      <p:sp>
        <p:nvSpPr>
          <p:cNvPr id="13" name="Shape 11"/>
          <p:cNvSpPr/>
          <p:nvPr/>
        </p:nvSpPr>
        <p:spPr>
          <a:xfrm>
            <a:off x="676656" y="2738628"/>
            <a:ext cx="91440" cy="91440"/>
          </a:xfrm>
          <a:prstGeom prst="ellipse">
            <a:avLst/>
          </a:prstGeom>
          <a:solidFill>
            <a:srgbClr val="FFC107"/>
          </a:solidFill>
          <a:ln/>
        </p:spPr>
      </p:sp>
      <p:sp>
        <p:nvSpPr>
          <p:cNvPr id="14" name="Shape 12"/>
          <p:cNvSpPr/>
          <p:nvPr/>
        </p:nvSpPr>
        <p:spPr>
          <a:xfrm>
            <a:off x="804672" y="2738628"/>
            <a:ext cx="91440" cy="91440"/>
          </a:xfrm>
          <a:prstGeom prst="ellipse">
            <a:avLst/>
          </a:prstGeom>
          <a:solidFill>
            <a:srgbClr val="00D4AA"/>
          </a:solidFill>
          <a:ln/>
        </p:spPr>
      </p:sp>
      <p:sp>
        <p:nvSpPr>
          <p:cNvPr id="15" name="Text 13"/>
          <p:cNvSpPr/>
          <p:nvPr/>
        </p:nvSpPr>
        <p:spPr>
          <a:xfrm>
            <a:off x="1005840" y="2702052"/>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2903220"/>
            <a:ext cx="8138160" cy="1362456"/>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import pandas as pd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import numpy as np</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data = pd.DataFrame({"name": ["Alice", "Bob"],</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"score": [85, 92]})</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print(data.mean())  # Quick stats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score    88.5</a:t>
            </a:r>
            <a:endParaRPr lang="en-US" sz="1100" dirty="0"/>
          </a:p>
        </p:txBody>
      </p:sp>
      <p:sp>
        <p:nvSpPr>
          <p:cNvPr id="17" name="Shape 15"/>
          <p:cNvSpPr/>
          <p:nvPr/>
        </p:nvSpPr>
        <p:spPr>
          <a:xfrm>
            <a:off x="365760" y="4457700"/>
            <a:ext cx="8412480" cy="525780"/>
          </a:xfrm>
          <a:prstGeom prst="rect">
            <a:avLst>
              <a:gd name="adj" fmla="val 13913"/>
            </a:avLst>
          </a:prstGeom>
          <a:solidFill>
            <a:srgbClr val="2A1F3D"/>
          </a:solidFill>
          <a:ln/>
        </p:spPr>
      </p:sp>
      <p:sp>
        <p:nvSpPr>
          <p:cNvPr id="18" name="Shape 16"/>
          <p:cNvSpPr/>
          <p:nvPr/>
        </p:nvSpPr>
        <p:spPr>
          <a:xfrm>
            <a:off x="365760" y="4457700"/>
            <a:ext cx="54864" cy="525780"/>
          </a:xfrm>
          <a:prstGeom prst="rect">
            <a:avLst/>
          </a:prstGeom>
          <a:solidFill>
            <a:srgbClr val="6C63FF"/>
          </a:solidFill>
          <a:ln/>
        </p:spPr>
      </p:sp>
      <p:sp>
        <p:nvSpPr>
          <p:cNvPr id="19" name="Text 17"/>
          <p:cNvSpPr/>
          <p:nvPr/>
        </p:nvSpPr>
        <p:spPr>
          <a:xfrm>
            <a:off x="502920" y="4549140"/>
            <a:ext cx="1828800" cy="182880"/>
          </a:xfrm>
          <a:prstGeom prst="rect">
            <a:avLst/>
          </a:prstGeom>
          <a:noFill/>
          <a:ln/>
        </p:spPr>
        <p:txBody>
          <a:bodyPr wrap="square" lIns="0" tIns="0" rIns="0" bIns="0" rtlCol="0" anchor="ctr"/>
          <a:lstStyle/>
          <a:p>
            <a:pPr indent="0" marL="0">
              <a:buNone/>
            </a:pPr>
            <a:r>
              <a:rPr lang="en-US" sz="900" b="1" dirty="0">
                <a:solidFill>
                  <a:srgbClr val="6C63FF"/>
                </a:solidFill>
                <a:latin typeface="Calibri" pitchFamily="34" charset="0"/>
                <a:ea typeface="Calibri" pitchFamily="34" charset="-122"/>
                <a:cs typeface="Calibri" pitchFamily="34" charset="-120"/>
              </a:rPr>
              <a:t>💡 Interview Tip</a:t>
            </a:r>
            <a:endParaRPr lang="en-US" sz="900" dirty="0"/>
          </a:p>
        </p:txBody>
      </p:sp>
      <p:sp>
        <p:nvSpPr>
          <p:cNvPr id="20" name="Text 18"/>
          <p:cNvSpPr/>
          <p:nvPr/>
        </p:nvSpPr>
        <p:spPr>
          <a:xfrm>
            <a:off x="502920" y="4713732"/>
            <a:ext cx="8138160" cy="214884"/>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Name at least 3 key libraries and explain WHY Python won over R or other languages: flexibility, general-purpose nature, and community support.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Is Python a compiled or interpreted language? What does it mean?</a:t>
            </a:r>
            <a:endParaRPr lang="en-US" sz="1700" dirty="0"/>
          </a:p>
        </p:txBody>
      </p:sp>
      <p:sp>
        <p:nvSpPr>
          <p:cNvPr id="6" name="Shape 4"/>
          <p:cNvSpPr/>
          <p:nvPr/>
        </p:nvSpPr>
        <p:spPr>
          <a:xfrm>
            <a:off x="365760" y="868680"/>
            <a:ext cx="8412480" cy="1819656"/>
          </a:xfrm>
          <a:prstGeom prst="rect">
            <a:avLst>
              <a:gd name="adj" fmla="val 4020"/>
            </a:avLst>
          </a:prstGeom>
          <a:solidFill>
            <a:srgbClr val="242B3D"/>
          </a:solidFill>
          <a:ln/>
        </p:spPr>
      </p:sp>
      <p:sp>
        <p:nvSpPr>
          <p:cNvPr id="7" name="Shape 5"/>
          <p:cNvSpPr/>
          <p:nvPr/>
        </p:nvSpPr>
        <p:spPr>
          <a:xfrm>
            <a:off x="365760" y="868680"/>
            <a:ext cx="54864" cy="1819656"/>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499616"/>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Python is an INTERPRETED language. This means: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Code is executed line by line by an interpreter (not compiled to machine code first)</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No separate compilation step needed before running</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Python actually converts code to bytecode (.pyc) internally, then the interpreter runs it</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This makes it slower than compiled languages (C, C++) but much easier to use</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Compiled: C/C++ → compiled to machine code → runs directly</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Interpreted: Python → bytecode → interpreter executes it</a:t>
            </a:r>
            <a:endParaRPr lang="en-US" sz="1150" dirty="0"/>
          </a:p>
        </p:txBody>
      </p:sp>
      <p:sp>
        <p:nvSpPr>
          <p:cNvPr id="10" name="Shape 8"/>
          <p:cNvSpPr/>
          <p:nvPr/>
        </p:nvSpPr>
        <p:spPr>
          <a:xfrm>
            <a:off x="365760" y="2825496"/>
            <a:ext cx="8412480" cy="1673352"/>
          </a:xfrm>
          <a:prstGeom prst="rect">
            <a:avLst>
              <a:gd name="adj" fmla="val 4372"/>
            </a:avLst>
          </a:prstGeom>
          <a:solidFill>
            <a:srgbClr val="151921"/>
          </a:solidFill>
          <a:ln/>
        </p:spPr>
      </p:sp>
      <p:sp>
        <p:nvSpPr>
          <p:cNvPr id="11" name="Shape 9"/>
          <p:cNvSpPr/>
          <p:nvPr/>
        </p:nvSpPr>
        <p:spPr>
          <a:xfrm>
            <a:off x="365760" y="2825496"/>
            <a:ext cx="54864" cy="1673352"/>
          </a:xfrm>
          <a:prstGeom prst="rect">
            <a:avLst/>
          </a:prstGeom>
          <a:solidFill>
            <a:srgbClr val="FFC107"/>
          </a:solidFill>
          <a:ln/>
        </p:spPr>
      </p:sp>
      <p:sp>
        <p:nvSpPr>
          <p:cNvPr id="12" name="Shape 10"/>
          <p:cNvSpPr/>
          <p:nvPr/>
        </p:nvSpPr>
        <p:spPr>
          <a:xfrm>
            <a:off x="548640" y="2916936"/>
            <a:ext cx="91440" cy="91440"/>
          </a:xfrm>
          <a:prstGeom prst="ellipse">
            <a:avLst/>
          </a:prstGeom>
          <a:solidFill>
            <a:srgbClr val="FF6B6B"/>
          </a:solidFill>
          <a:ln/>
        </p:spPr>
      </p:sp>
      <p:sp>
        <p:nvSpPr>
          <p:cNvPr id="13" name="Shape 11"/>
          <p:cNvSpPr/>
          <p:nvPr/>
        </p:nvSpPr>
        <p:spPr>
          <a:xfrm>
            <a:off x="676656" y="2916936"/>
            <a:ext cx="91440" cy="91440"/>
          </a:xfrm>
          <a:prstGeom prst="ellipse">
            <a:avLst/>
          </a:prstGeom>
          <a:solidFill>
            <a:srgbClr val="FFC107"/>
          </a:solidFill>
          <a:ln/>
        </p:spPr>
      </p:sp>
      <p:sp>
        <p:nvSpPr>
          <p:cNvPr id="14" name="Shape 12"/>
          <p:cNvSpPr/>
          <p:nvPr/>
        </p:nvSpPr>
        <p:spPr>
          <a:xfrm>
            <a:off x="804672" y="2916936"/>
            <a:ext cx="91440" cy="91440"/>
          </a:xfrm>
          <a:prstGeom prst="ellipse">
            <a:avLst/>
          </a:prstGeom>
          <a:solidFill>
            <a:srgbClr val="00D4AA"/>
          </a:solidFill>
          <a:ln/>
        </p:spPr>
      </p:sp>
      <p:sp>
        <p:nvSpPr>
          <p:cNvPr id="15" name="Text 13"/>
          <p:cNvSpPr/>
          <p:nvPr/>
        </p:nvSpPr>
        <p:spPr>
          <a:xfrm>
            <a:off x="1005840" y="2880360"/>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081528"/>
            <a:ext cx="8138160" cy="1362456"/>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 You just run Python directly — no compile step!</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terminal command: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python script.py</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Python creates bytecode internally: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script.py → script.pyc (bytecode)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The CPython interpreter then executes it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Is Python case sensitive? Is indentation required? What is PEP 8?</a:t>
            </a:r>
            <a:endParaRPr lang="en-US" sz="1700" dirty="0"/>
          </a:p>
        </p:txBody>
      </p:sp>
      <p:sp>
        <p:nvSpPr>
          <p:cNvPr id="6" name="Shape 4"/>
          <p:cNvSpPr/>
          <p:nvPr/>
        </p:nvSpPr>
        <p:spPr>
          <a:xfrm>
            <a:off x="365760" y="868680"/>
            <a:ext cx="8412480" cy="1641348"/>
          </a:xfrm>
          <a:prstGeom prst="rect">
            <a:avLst>
              <a:gd name="adj" fmla="val 4457"/>
            </a:avLst>
          </a:prstGeom>
          <a:solidFill>
            <a:srgbClr val="242B3D"/>
          </a:solidFill>
          <a:ln/>
        </p:spPr>
      </p:sp>
      <p:sp>
        <p:nvSpPr>
          <p:cNvPr id="7" name="Shape 5"/>
          <p:cNvSpPr/>
          <p:nvPr/>
        </p:nvSpPr>
        <p:spPr>
          <a:xfrm>
            <a:off x="365760" y="868680"/>
            <a:ext cx="54864" cy="1641348"/>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321308"/>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Case Sensitive: YES — 'Name', 'name', 'NAME' are all different variables.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Indentation: YES — Python uses indentation to define code blocks (no curly braces {}). Incorrect indentation causes IndentationError.</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PEP 8: Python Enhancement Proposal 8 — the official style guide for writing Python code. It covers naming conventions, spacing, imports, etc. Following PEP 8 makes code consistent and readable.</a:t>
            </a:r>
            <a:endParaRPr lang="en-US" sz="1150" dirty="0"/>
          </a:p>
        </p:txBody>
      </p:sp>
      <p:sp>
        <p:nvSpPr>
          <p:cNvPr id="10" name="Shape 8"/>
          <p:cNvSpPr/>
          <p:nvPr/>
        </p:nvSpPr>
        <p:spPr>
          <a:xfrm>
            <a:off x="365760" y="2647188"/>
            <a:ext cx="8412480" cy="2221992"/>
          </a:xfrm>
          <a:prstGeom prst="rect">
            <a:avLst>
              <a:gd name="adj" fmla="val 3292"/>
            </a:avLst>
          </a:prstGeom>
          <a:solidFill>
            <a:srgbClr val="151921"/>
          </a:solidFill>
          <a:ln/>
        </p:spPr>
      </p:sp>
      <p:sp>
        <p:nvSpPr>
          <p:cNvPr id="11" name="Shape 9"/>
          <p:cNvSpPr/>
          <p:nvPr/>
        </p:nvSpPr>
        <p:spPr>
          <a:xfrm>
            <a:off x="365760" y="2647188"/>
            <a:ext cx="54864" cy="2221992"/>
          </a:xfrm>
          <a:prstGeom prst="rect">
            <a:avLst/>
          </a:prstGeom>
          <a:solidFill>
            <a:srgbClr val="FFC107"/>
          </a:solidFill>
          <a:ln/>
        </p:spPr>
      </p:sp>
      <p:sp>
        <p:nvSpPr>
          <p:cNvPr id="12" name="Shape 10"/>
          <p:cNvSpPr/>
          <p:nvPr/>
        </p:nvSpPr>
        <p:spPr>
          <a:xfrm>
            <a:off x="548640" y="2738628"/>
            <a:ext cx="91440" cy="91440"/>
          </a:xfrm>
          <a:prstGeom prst="ellipse">
            <a:avLst/>
          </a:prstGeom>
          <a:solidFill>
            <a:srgbClr val="FF6B6B"/>
          </a:solidFill>
          <a:ln/>
        </p:spPr>
      </p:sp>
      <p:sp>
        <p:nvSpPr>
          <p:cNvPr id="13" name="Shape 11"/>
          <p:cNvSpPr/>
          <p:nvPr/>
        </p:nvSpPr>
        <p:spPr>
          <a:xfrm>
            <a:off x="676656" y="2738628"/>
            <a:ext cx="91440" cy="91440"/>
          </a:xfrm>
          <a:prstGeom prst="ellipse">
            <a:avLst/>
          </a:prstGeom>
          <a:solidFill>
            <a:srgbClr val="FFC107"/>
          </a:solidFill>
          <a:ln/>
        </p:spPr>
      </p:sp>
      <p:sp>
        <p:nvSpPr>
          <p:cNvPr id="14" name="Shape 12"/>
          <p:cNvSpPr/>
          <p:nvPr/>
        </p:nvSpPr>
        <p:spPr>
          <a:xfrm>
            <a:off x="804672" y="2738628"/>
            <a:ext cx="91440" cy="91440"/>
          </a:xfrm>
          <a:prstGeom prst="ellipse">
            <a:avLst/>
          </a:prstGeom>
          <a:solidFill>
            <a:srgbClr val="00D4AA"/>
          </a:solidFill>
          <a:ln/>
        </p:spPr>
      </p:sp>
      <p:sp>
        <p:nvSpPr>
          <p:cNvPr id="15" name="Text 13"/>
          <p:cNvSpPr/>
          <p:nvPr/>
        </p:nvSpPr>
        <p:spPr>
          <a:xfrm>
            <a:off x="1005840" y="2702052"/>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2903220"/>
            <a:ext cx="8138160" cy="1911096"/>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Name = "Alice"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name = "Bob"      # Different variable!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NAME = "Charlie"  # Also different!</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def greet():          # Indentation required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print("Hello")    # 4 spaces = inside function</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PEP 8: Use snake_case for variables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my_variable = 10      # ✓ Good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myVariable = 10       # ✗ Not PEP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an expression? What does len() do? What is ==?</a:t>
            </a:r>
            <a:endParaRPr lang="en-US" sz="1700" dirty="0"/>
          </a:p>
        </p:txBody>
      </p:sp>
      <p:sp>
        <p:nvSpPr>
          <p:cNvPr id="6" name="Shape 4"/>
          <p:cNvSpPr/>
          <p:nvPr/>
        </p:nvSpPr>
        <p:spPr>
          <a:xfrm>
            <a:off x="365760" y="868680"/>
            <a:ext cx="8412480" cy="1819656"/>
          </a:xfrm>
          <a:prstGeom prst="rect">
            <a:avLst>
              <a:gd name="adj" fmla="val 4020"/>
            </a:avLst>
          </a:prstGeom>
          <a:solidFill>
            <a:srgbClr val="242B3D"/>
          </a:solidFill>
          <a:ln/>
        </p:spPr>
      </p:sp>
      <p:sp>
        <p:nvSpPr>
          <p:cNvPr id="7" name="Shape 5"/>
          <p:cNvSpPr/>
          <p:nvPr/>
        </p:nvSpPr>
        <p:spPr>
          <a:xfrm>
            <a:off x="365760" y="868680"/>
            <a:ext cx="54864" cy="1819656"/>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499616"/>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Expression: A combination of values, variables, and operators that produces a result.</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Example: 5 + 3 is an expression that evaluates to 8</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len(): A built-in function that returns the length (number of elements) of a sequence like strings, lists, tuples, etc.</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(Equality Operator): Compares two values and returns True if they are equal, False otherwise. It checks VALUE equality.</a:t>
            </a:r>
            <a:endParaRPr lang="en-US" sz="1150" dirty="0"/>
          </a:p>
        </p:txBody>
      </p:sp>
      <p:sp>
        <p:nvSpPr>
          <p:cNvPr id="10" name="Shape 8"/>
          <p:cNvSpPr/>
          <p:nvPr/>
        </p:nvSpPr>
        <p:spPr>
          <a:xfrm>
            <a:off x="365760" y="2825496"/>
            <a:ext cx="8412480" cy="2066544"/>
          </a:xfrm>
          <a:prstGeom prst="rect">
            <a:avLst>
              <a:gd name="adj" fmla="val 3540"/>
            </a:avLst>
          </a:prstGeom>
          <a:solidFill>
            <a:srgbClr val="151921"/>
          </a:solidFill>
          <a:ln/>
        </p:spPr>
      </p:sp>
      <p:sp>
        <p:nvSpPr>
          <p:cNvPr id="11" name="Shape 9"/>
          <p:cNvSpPr/>
          <p:nvPr/>
        </p:nvSpPr>
        <p:spPr>
          <a:xfrm>
            <a:off x="365760" y="2825496"/>
            <a:ext cx="54864" cy="2066544"/>
          </a:xfrm>
          <a:prstGeom prst="rect">
            <a:avLst/>
          </a:prstGeom>
          <a:solidFill>
            <a:srgbClr val="FFC107"/>
          </a:solidFill>
          <a:ln/>
        </p:spPr>
      </p:sp>
      <p:sp>
        <p:nvSpPr>
          <p:cNvPr id="12" name="Shape 10"/>
          <p:cNvSpPr/>
          <p:nvPr/>
        </p:nvSpPr>
        <p:spPr>
          <a:xfrm>
            <a:off x="548640" y="2916936"/>
            <a:ext cx="91440" cy="91440"/>
          </a:xfrm>
          <a:prstGeom prst="ellipse">
            <a:avLst/>
          </a:prstGeom>
          <a:solidFill>
            <a:srgbClr val="FF6B6B"/>
          </a:solidFill>
          <a:ln/>
        </p:spPr>
      </p:sp>
      <p:sp>
        <p:nvSpPr>
          <p:cNvPr id="13" name="Shape 11"/>
          <p:cNvSpPr/>
          <p:nvPr/>
        </p:nvSpPr>
        <p:spPr>
          <a:xfrm>
            <a:off x="676656" y="2916936"/>
            <a:ext cx="91440" cy="91440"/>
          </a:xfrm>
          <a:prstGeom prst="ellipse">
            <a:avLst/>
          </a:prstGeom>
          <a:solidFill>
            <a:srgbClr val="FFC107"/>
          </a:solidFill>
          <a:ln/>
        </p:spPr>
      </p:sp>
      <p:sp>
        <p:nvSpPr>
          <p:cNvPr id="14" name="Shape 12"/>
          <p:cNvSpPr/>
          <p:nvPr/>
        </p:nvSpPr>
        <p:spPr>
          <a:xfrm>
            <a:off x="804672" y="2916936"/>
            <a:ext cx="91440" cy="91440"/>
          </a:xfrm>
          <a:prstGeom prst="ellipse">
            <a:avLst/>
          </a:prstGeom>
          <a:solidFill>
            <a:srgbClr val="00D4AA"/>
          </a:solidFill>
          <a:ln/>
        </p:spPr>
      </p:sp>
      <p:sp>
        <p:nvSpPr>
          <p:cNvPr id="15" name="Text 13"/>
          <p:cNvSpPr/>
          <p:nvPr/>
        </p:nvSpPr>
        <p:spPr>
          <a:xfrm>
            <a:off x="1005840" y="2880360"/>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081528"/>
            <a:ext cx="8138160" cy="1755648"/>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result = 5 + 3 * 2   # Expression → 11</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my_list = [1, 2, 3, 4, 5]</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print(len(my_list))    # Output: 5</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text = "Hello"</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print(len(text))       # Output: 5</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print(5 == 5)          # True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print(5 == "5")        # False (different types)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the difference between == and is?</a:t>
            </a:r>
            <a:endParaRPr lang="en-US" sz="1700" dirty="0"/>
          </a:p>
        </p:txBody>
      </p:sp>
      <p:sp>
        <p:nvSpPr>
          <p:cNvPr id="6" name="Shape 4"/>
          <p:cNvSpPr/>
          <p:nvPr/>
        </p:nvSpPr>
        <p:spPr>
          <a:xfrm>
            <a:off x="365760" y="868680"/>
            <a:ext cx="8412480" cy="1997964"/>
          </a:xfrm>
          <a:prstGeom prst="rect">
            <a:avLst>
              <a:gd name="adj" fmla="val 3661"/>
            </a:avLst>
          </a:prstGeom>
          <a:solidFill>
            <a:srgbClr val="242B3D"/>
          </a:solidFill>
          <a:ln/>
        </p:spPr>
      </p:sp>
      <p:sp>
        <p:nvSpPr>
          <p:cNvPr id="7" name="Shape 5"/>
          <p:cNvSpPr/>
          <p:nvPr/>
        </p:nvSpPr>
        <p:spPr>
          <a:xfrm>
            <a:off x="365760" y="868680"/>
            <a:ext cx="54864" cy="1997964"/>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677924"/>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 checks VALUE equality — are the values the same?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is checks IDENTITY equality — are they the SAME object in memory?</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Key difference: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 compares what the variables CONTAIN</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is compares WHERE they are stored in memory (same object?)</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For small integers (-5 to 256) and short strings, Python caches them, so 'is' may return True. But NEVER rely on this for comparisons — always use == for value checks.</a:t>
            </a:r>
            <a:endParaRPr lang="en-US" sz="1150" dirty="0"/>
          </a:p>
        </p:txBody>
      </p:sp>
      <p:sp>
        <p:nvSpPr>
          <p:cNvPr id="10" name="Shape 8"/>
          <p:cNvSpPr/>
          <p:nvPr/>
        </p:nvSpPr>
        <p:spPr>
          <a:xfrm>
            <a:off x="365760" y="3003804"/>
            <a:ext cx="8412480" cy="1888236"/>
          </a:xfrm>
          <a:prstGeom prst="rect">
            <a:avLst>
              <a:gd name="adj" fmla="val 3874"/>
            </a:avLst>
          </a:prstGeom>
          <a:solidFill>
            <a:srgbClr val="151921"/>
          </a:solidFill>
          <a:ln/>
        </p:spPr>
      </p:sp>
      <p:sp>
        <p:nvSpPr>
          <p:cNvPr id="11" name="Shape 9"/>
          <p:cNvSpPr/>
          <p:nvPr/>
        </p:nvSpPr>
        <p:spPr>
          <a:xfrm>
            <a:off x="365760" y="3003804"/>
            <a:ext cx="54864" cy="1888236"/>
          </a:xfrm>
          <a:prstGeom prst="rect">
            <a:avLst/>
          </a:prstGeom>
          <a:solidFill>
            <a:srgbClr val="FFC107"/>
          </a:solidFill>
          <a:ln/>
        </p:spPr>
      </p:sp>
      <p:sp>
        <p:nvSpPr>
          <p:cNvPr id="12" name="Shape 10"/>
          <p:cNvSpPr/>
          <p:nvPr/>
        </p:nvSpPr>
        <p:spPr>
          <a:xfrm>
            <a:off x="548640" y="3095244"/>
            <a:ext cx="91440" cy="91440"/>
          </a:xfrm>
          <a:prstGeom prst="ellipse">
            <a:avLst/>
          </a:prstGeom>
          <a:solidFill>
            <a:srgbClr val="FF6B6B"/>
          </a:solidFill>
          <a:ln/>
        </p:spPr>
      </p:sp>
      <p:sp>
        <p:nvSpPr>
          <p:cNvPr id="13" name="Shape 11"/>
          <p:cNvSpPr/>
          <p:nvPr/>
        </p:nvSpPr>
        <p:spPr>
          <a:xfrm>
            <a:off x="676656" y="3095244"/>
            <a:ext cx="91440" cy="91440"/>
          </a:xfrm>
          <a:prstGeom prst="ellipse">
            <a:avLst/>
          </a:prstGeom>
          <a:solidFill>
            <a:srgbClr val="FFC107"/>
          </a:solidFill>
          <a:ln/>
        </p:spPr>
      </p:sp>
      <p:sp>
        <p:nvSpPr>
          <p:cNvPr id="14" name="Shape 12"/>
          <p:cNvSpPr/>
          <p:nvPr/>
        </p:nvSpPr>
        <p:spPr>
          <a:xfrm>
            <a:off x="804672" y="3095244"/>
            <a:ext cx="91440" cy="91440"/>
          </a:xfrm>
          <a:prstGeom prst="ellipse">
            <a:avLst/>
          </a:prstGeom>
          <a:solidFill>
            <a:srgbClr val="00D4AA"/>
          </a:solidFill>
          <a:ln/>
        </p:spPr>
      </p:sp>
      <p:sp>
        <p:nvSpPr>
          <p:cNvPr id="15" name="Text 13"/>
          <p:cNvSpPr/>
          <p:nvPr/>
        </p:nvSpPr>
        <p:spPr>
          <a:xfrm>
            <a:off x="1005840" y="3058668"/>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259836"/>
            <a:ext cx="8138160" cy="1577340"/>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a = [1, 2, 3]</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b = [1, 2, 3]</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c = a</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print(a == b)   # True  (same values)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print(a is b)   # False (different objects)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print(a is c)   # True  (same object as a)</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Best practice with None: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if x is None:   # ✓ Correct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if x == None:   # ✗ Avoid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dynamic typing? What is type conversion in Python?</a:t>
            </a:r>
            <a:endParaRPr lang="en-US" sz="1700" dirty="0"/>
          </a:p>
        </p:txBody>
      </p:sp>
      <p:sp>
        <p:nvSpPr>
          <p:cNvPr id="6" name="Shape 4"/>
          <p:cNvSpPr/>
          <p:nvPr/>
        </p:nvSpPr>
        <p:spPr>
          <a:xfrm>
            <a:off x="365760" y="868680"/>
            <a:ext cx="8412480" cy="1641348"/>
          </a:xfrm>
          <a:prstGeom prst="rect">
            <a:avLst>
              <a:gd name="adj" fmla="val 4457"/>
            </a:avLst>
          </a:prstGeom>
          <a:solidFill>
            <a:srgbClr val="242B3D"/>
          </a:solidFill>
          <a:ln/>
        </p:spPr>
      </p:sp>
      <p:sp>
        <p:nvSpPr>
          <p:cNvPr id="7" name="Shape 5"/>
          <p:cNvSpPr/>
          <p:nvPr/>
        </p:nvSpPr>
        <p:spPr>
          <a:xfrm>
            <a:off x="365760" y="868680"/>
            <a:ext cx="54864" cy="1641348"/>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321308"/>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Dynamic Typing: Variable types are determined at RUNTIME, not at compile time. You don't need to declare the type — Python figures it out automatically. The same variable can hold different types at different times.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Type Conversion: Converting a value from one type to another.</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Implicit: Done automatically (e.g., int + float = float)</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Explicit: Done manually using functions like int(), float(), str(), list()</a:t>
            </a:r>
            <a:endParaRPr lang="en-US" sz="1150" dirty="0"/>
          </a:p>
        </p:txBody>
      </p:sp>
      <p:sp>
        <p:nvSpPr>
          <p:cNvPr id="10" name="Shape 8"/>
          <p:cNvSpPr/>
          <p:nvPr/>
        </p:nvSpPr>
        <p:spPr>
          <a:xfrm>
            <a:off x="365760" y="2647188"/>
            <a:ext cx="8412480" cy="2244852"/>
          </a:xfrm>
          <a:prstGeom prst="rect">
            <a:avLst>
              <a:gd name="adj" fmla="val 3259"/>
            </a:avLst>
          </a:prstGeom>
          <a:solidFill>
            <a:srgbClr val="151921"/>
          </a:solidFill>
          <a:ln/>
        </p:spPr>
      </p:sp>
      <p:sp>
        <p:nvSpPr>
          <p:cNvPr id="11" name="Shape 9"/>
          <p:cNvSpPr/>
          <p:nvPr/>
        </p:nvSpPr>
        <p:spPr>
          <a:xfrm>
            <a:off x="365760" y="2647188"/>
            <a:ext cx="54864" cy="2244852"/>
          </a:xfrm>
          <a:prstGeom prst="rect">
            <a:avLst/>
          </a:prstGeom>
          <a:solidFill>
            <a:srgbClr val="FFC107"/>
          </a:solidFill>
          <a:ln/>
        </p:spPr>
      </p:sp>
      <p:sp>
        <p:nvSpPr>
          <p:cNvPr id="12" name="Shape 10"/>
          <p:cNvSpPr/>
          <p:nvPr/>
        </p:nvSpPr>
        <p:spPr>
          <a:xfrm>
            <a:off x="548640" y="2738628"/>
            <a:ext cx="91440" cy="91440"/>
          </a:xfrm>
          <a:prstGeom prst="ellipse">
            <a:avLst/>
          </a:prstGeom>
          <a:solidFill>
            <a:srgbClr val="FF6B6B"/>
          </a:solidFill>
          <a:ln/>
        </p:spPr>
      </p:sp>
      <p:sp>
        <p:nvSpPr>
          <p:cNvPr id="13" name="Shape 11"/>
          <p:cNvSpPr/>
          <p:nvPr/>
        </p:nvSpPr>
        <p:spPr>
          <a:xfrm>
            <a:off x="676656" y="2738628"/>
            <a:ext cx="91440" cy="91440"/>
          </a:xfrm>
          <a:prstGeom prst="ellipse">
            <a:avLst/>
          </a:prstGeom>
          <a:solidFill>
            <a:srgbClr val="FFC107"/>
          </a:solidFill>
          <a:ln/>
        </p:spPr>
      </p:sp>
      <p:sp>
        <p:nvSpPr>
          <p:cNvPr id="14" name="Shape 12"/>
          <p:cNvSpPr/>
          <p:nvPr/>
        </p:nvSpPr>
        <p:spPr>
          <a:xfrm>
            <a:off x="804672" y="2738628"/>
            <a:ext cx="91440" cy="91440"/>
          </a:xfrm>
          <a:prstGeom prst="ellipse">
            <a:avLst/>
          </a:prstGeom>
          <a:solidFill>
            <a:srgbClr val="00D4AA"/>
          </a:solidFill>
          <a:ln/>
        </p:spPr>
      </p:sp>
      <p:sp>
        <p:nvSpPr>
          <p:cNvPr id="15" name="Text 13"/>
          <p:cNvSpPr/>
          <p:nvPr/>
        </p:nvSpPr>
        <p:spPr>
          <a:xfrm>
            <a:off x="1005840" y="2702052"/>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2903220"/>
            <a:ext cx="8138160" cy="1933956"/>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x = 10          # int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x = "hello"     # Now it's a string! (dynamic)</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x = 3.14        # Now float!</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Type Conversion:</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num = int("25")       # str → int = 25</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float_num = float(10) # int → float = 10.0</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text = str(42)        # int → str = "42"</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Implicit conversion:</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result = 5 + 2.5      # int + float → 7.5 (float)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are global, protected, and private attributes in Python?</a:t>
            </a:r>
            <a:endParaRPr lang="en-US" sz="1700" dirty="0"/>
          </a:p>
        </p:txBody>
      </p:sp>
      <p:sp>
        <p:nvSpPr>
          <p:cNvPr id="6" name="Shape 4"/>
          <p:cNvSpPr/>
          <p:nvPr/>
        </p:nvSpPr>
        <p:spPr>
          <a:xfrm>
            <a:off x="365760" y="868680"/>
            <a:ext cx="8412480" cy="1641348"/>
          </a:xfrm>
          <a:prstGeom prst="rect">
            <a:avLst>
              <a:gd name="adj" fmla="val 4457"/>
            </a:avLst>
          </a:prstGeom>
          <a:solidFill>
            <a:srgbClr val="242B3D"/>
          </a:solidFill>
          <a:ln/>
        </p:spPr>
      </p:sp>
      <p:sp>
        <p:nvSpPr>
          <p:cNvPr id="7" name="Shape 5"/>
          <p:cNvSpPr/>
          <p:nvPr/>
        </p:nvSpPr>
        <p:spPr>
          <a:xfrm>
            <a:off x="365760" y="868680"/>
            <a:ext cx="54864" cy="1641348"/>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321308"/>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Global: Variables defined outside any function/class — accessible everywhere in the module.</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Protected: Attributes prefixed with single underscore (_name). Convention that says 'this is for internal use only' — but Python doesn't strictly enforce it.</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Private: Attributes prefixed with double underscore (__name). Python uses Name Mangling to make it harder to access from outside the class. Accessed as _ClassName__attribute.</a:t>
            </a:r>
            <a:endParaRPr lang="en-US" sz="1150" dirty="0"/>
          </a:p>
        </p:txBody>
      </p:sp>
      <p:sp>
        <p:nvSpPr>
          <p:cNvPr id="10" name="Shape 8"/>
          <p:cNvSpPr/>
          <p:nvPr/>
        </p:nvSpPr>
        <p:spPr>
          <a:xfrm>
            <a:off x="365760" y="2647188"/>
            <a:ext cx="8412480" cy="2244852"/>
          </a:xfrm>
          <a:prstGeom prst="rect">
            <a:avLst>
              <a:gd name="adj" fmla="val 3259"/>
            </a:avLst>
          </a:prstGeom>
          <a:solidFill>
            <a:srgbClr val="151921"/>
          </a:solidFill>
          <a:ln/>
        </p:spPr>
      </p:sp>
      <p:sp>
        <p:nvSpPr>
          <p:cNvPr id="11" name="Shape 9"/>
          <p:cNvSpPr/>
          <p:nvPr/>
        </p:nvSpPr>
        <p:spPr>
          <a:xfrm>
            <a:off x="365760" y="2647188"/>
            <a:ext cx="54864" cy="2244852"/>
          </a:xfrm>
          <a:prstGeom prst="rect">
            <a:avLst/>
          </a:prstGeom>
          <a:solidFill>
            <a:srgbClr val="FFC107"/>
          </a:solidFill>
          <a:ln/>
        </p:spPr>
      </p:sp>
      <p:sp>
        <p:nvSpPr>
          <p:cNvPr id="12" name="Shape 10"/>
          <p:cNvSpPr/>
          <p:nvPr/>
        </p:nvSpPr>
        <p:spPr>
          <a:xfrm>
            <a:off x="548640" y="2738628"/>
            <a:ext cx="91440" cy="91440"/>
          </a:xfrm>
          <a:prstGeom prst="ellipse">
            <a:avLst/>
          </a:prstGeom>
          <a:solidFill>
            <a:srgbClr val="FF6B6B"/>
          </a:solidFill>
          <a:ln/>
        </p:spPr>
      </p:sp>
      <p:sp>
        <p:nvSpPr>
          <p:cNvPr id="13" name="Shape 11"/>
          <p:cNvSpPr/>
          <p:nvPr/>
        </p:nvSpPr>
        <p:spPr>
          <a:xfrm>
            <a:off x="676656" y="2738628"/>
            <a:ext cx="91440" cy="91440"/>
          </a:xfrm>
          <a:prstGeom prst="ellipse">
            <a:avLst/>
          </a:prstGeom>
          <a:solidFill>
            <a:srgbClr val="FFC107"/>
          </a:solidFill>
          <a:ln/>
        </p:spPr>
      </p:sp>
      <p:sp>
        <p:nvSpPr>
          <p:cNvPr id="14" name="Shape 12"/>
          <p:cNvSpPr/>
          <p:nvPr/>
        </p:nvSpPr>
        <p:spPr>
          <a:xfrm>
            <a:off x="804672" y="2738628"/>
            <a:ext cx="91440" cy="91440"/>
          </a:xfrm>
          <a:prstGeom prst="ellipse">
            <a:avLst/>
          </a:prstGeom>
          <a:solidFill>
            <a:srgbClr val="00D4AA"/>
          </a:solidFill>
          <a:ln/>
        </p:spPr>
      </p:sp>
      <p:sp>
        <p:nvSpPr>
          <p:cNvPr id="15" name="Text 13"/>
          <p:cNvSpPr/>
          <p:nvPr/>
        </p:nvSpPr>
        <p:spPr>
          <a:xfrm>
            <a:off x="1005840" y="2702052"/>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2903220"/>
            <a:ext cx="8138160" cy="1933956"/>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global_var = "I am global"     # Global</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class MyClass: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__init__(self):</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self.public = "public"      # Public</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self._protected = "protect" # Protected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self.__private = "private"  # Private</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obj = MyClass()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print(obj.public)               # Works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print(obj._protected)           # Works (convention)</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obj.__private → Error!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print(obj._MyClass__private)    # Name mangling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the use of self in Python? What is scope?</a:t>
            </a:r>
            <a:endParaRPr lang="en-US" sz="1700" dirty="0"/>
          </a:p>
        </p:txBody>
      </p:sp>
      <p:sp>
        <p:nvSpPr>
          <p:cNvPr id="6" name="Shape 4"/>
          <p:cNvSpPr/>
          <p:nvPr/>
        </p:nvSpPr>
        <p:spPr>
          <a:xfrm>
            <a:off x="365760" y="868680"/>
            <a:ext cx="8412480" cy="1997964"/>
          </a:xfrm>
          <a:prstGeom prst="rect">
            <a:avLst>
              <a:gd name="adj" fmla="val 3661"/>
            </a:avLst>
          </a:prstGeom>
          <a:solidFill>
            <a:srgbClr val="242B3D"/>
          </a:solidFill>
          <a:ln/>
        </p:spPr>
      </p:sp>
      <p:sp>
        <p:nvSpPr>
          <p:cNvPr id="7" name="Shape 5"/>
          <p:cNvSpPr/>
          <p:nvPr/>
        </p:nvSpPr>
        <p:spPr>
          <a:xfrm>
            <a:off x="365760" y="868680"/>
            <a:ext cx="54864" cy="1997964"/>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677924"/>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self: The first parameter in instance methods that refers to the current instance (object) of the class. It allows you to access and modify the object's attributes and methods. It is NOT a keyword — just a strong convention.</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Scope: The region of code where a variable is accessible. Python has: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Local scope: Inside a function</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Enclosing scope: In nested functions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Global scope: At the module level</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Built-in scope: Python's built-in names (LEGB rule)</a:t>
            </a:r>
            <a:endParaRPr lang="en-US" sz="1150" dirty="0"/>
          </a:p>
        </p:txBody>
      </p:sp>
      <p:sp>
        <p:nvSpPr>
          <p:cNvPr id="10" name="Shape 8"/>
          <p:cNvSpPr/>
          <p:nvPr/>
        </p:nvSpPr>
        <p:spPr>
          <a:xfrm>
            <a:off x="365760" y="3003804"/>
            <a:ext cx="8412480" cy="1888236"/>
          </a:xfrm>
          <a:prstGeom prst="rect">
            <a:avLst>
              <a:gd name="adj" fmla="val 3874"/>
            </a:avLst>
          </a:prstGeom>
          <a:solidFill>
            <a:srgbClr val="151921"/>
          </a:solidFill>
          <a:ln/>
        </p:spPr>
      </p:sp>
      <p:sp>
        <p:nvSpPr>
          <p:cNvPr id="11" name="Shape 9"/>
          <p:cNvSpPr/>
          <p:nvPr/>
        </p:nvSpPr>
        <p:spPr>
          <a:xfrm>
            <a:off x="365760" y="3003804"/>
            <a:ext cx="54864" cy="1888236"/>
          </a:xfrm>
          <a:prstGeom prst="rect">
            <a:avLst/>
          </a:prstGeom>
          <a:solidFill>
            <a:srgbClr val="FFC107"/>
          </a:solidFill>
          <a:ln/>
        </p:spPr>
      </p:sp>
      <p:sp>
        <p:nvSpPr>
          <p:cNvPr id="12" name="Shape 10"/>
          <p:cNvSpPr/>
          <p:nvPr/>
        </p:nvSpPr>
        <p:spPr>
          <a:xfrm>
            <a:off x="548640" y="3095244"/>
            <a:ext cx="91440" cy="91440"/>
          </a:xfrm>
          <a:prstGeom prst="ellipse">
            <a:avLst/>
          </a:prstGeom>
          <a:solidFill>
            <a:srgbClr val="FF6B6B"/>
          </a:solidFill>
          <a:ln/>
        </p:spPr>
      </p:sp>
      <p:sp>
        <p:nvSpPr>
          <p:cNvPr id="13" name="Shape 11"/>
          <p:cNvSpPr/>
          <p:nvPr/>
        </p:nvSpPr>
        <p:spPr>
          <a:xfrm>
            <a:off x="676656" y="3095244"/>
            <a:ext cx="91440" cy="91440"/>
          </a:xfrm>
          <a:prstGeom prst="ellipse">
            <a:avLst/>
          </a:prstGeom>
          <a:solidFill>
            <a:srgbClr val="FFC107"/>
          </a:solidFill>
          <a:ln/>
        </p:spPr>
      </p:sp>
      <p:sp>
        <p:nvSpPr>
          <p:cNvPr id="14" name="Shape 12"/>
          <p:cNvSpPr/>
          <p:nvPr/>
        </p:nvSpPr>
        <p:spPr>
          <a:xfrm>
            <a:off x="804672" y="3095244"/>
            <a:ext cx="91440" cy="91440"/>
          </a:xfrm>
          <a:prstGeom prst="ellipse">
            <a:avLst/>
          </a:prstGeom>
          <a:solidFill>
            <a:srgbClr val="00D4AA"/>
          </a:solidFill>
          <a:ln/>
        </p:spPr>
      </p:sp>
      <p:sp>
        <p:nvSpPr>
          <p:cNvPr id="15" name="Text 13"/>
          <p:cNvSpPr/>
          <p:nvPr/>
        </p:nvSpPr>
        <p:spPr>
          <a:xfrm>
            <a:off x="1005840" y="3058668"/>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259836"/>
            <a:ext cx="8138160" cy="1577340"/>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class Dog:</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__init__(self, name):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self.name = name    # self refers to this dog</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bark(self):</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print(f"{self.name} says Woof!")</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dog = Dog("Buddy")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dog.bark()   # Buddy says Woof!</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Scope (LEGB):</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x = "global"          # Global</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def outer():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x = "enclosing"   # Enclosing</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inner():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x = "local"   # Local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C63FF"/>
          </a:solidFill>
          <a:ln/>
        </p:spPr>
      </p:sp>
      <p:sp>
        <p:nvSpPr>
          <p:cNvPr id="3" name="Shape 1"/>
          <p:cNvSpPr/>
          <p:nvPr/>
        </p:nvSpPr>
        <p:spPr>
          <a:xfrm>
            <a:off x="914400" y="1737360"/>
            <a:ext cx="1280160" cy="1280160"/>
          </a:xfrm>
          <a:prstGeom prst="ellipse">
            <a:avLst/>
          </a:prstGeom>
          <a:solidFill>
            <a:srgbClr val="6C63FF">
              <a:alpha val="80000"/>
            </a:srgbClr>
          </a:solidFill>
          <a:ln/>
        </p:spPr>
      </p:sp>
      <p:pic>
        <p:nvPicPr>
          <p:cNvPr id="4" name="Image 0" descr="preencoded.png">    </p:cNvPr>
          <p:cNvPicPr>
            <a:picLocks noChangeAspect="1"/>
          </p:cNvPicPr>
          <p:nvPr/>
        </p:nvPicPr>
        <p:blipFill>
          <a:blip r:embed="rId1"/>
          <a:stretch>
            <a:fillRect/>
          </a:stretch>
        </p:blipFill>
        <p:spPr>
          <a:xfrm>
            <a:off x="1051560" y="1874520"/>
            <a:ext cx="1005840" cy="1005840"/>
          </a:xfrm>
          <a:prstGeom prst="rect">
            <a:avLst/>
          </a:prstGeom>
        </p:spPr>
      </p:pic>
      <p:sp>
        <p:nvSpPr>
          <p:cNvPr id="5" name="Text 2"/>
          <p:cNvSpPr/>
          <p:nvPr/>
        </p:nvSpPr>
        <p:spPr>
          <a:xfrm>
            <a:off x="2560320" y="1554480"/>
            <a:ext cx="5943600" cy="10972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Data Types &amp; Structures</a:t>
            </a:r>
            <a:endParaRPr lang="en-US" sz="3600" dirty="0"/>
          </a:p>
        </p:txBody>
      </p:sp>
      <p:sp>
        <p:nvSpPr>
          <p:cNvPr id="6" name="Text 3"/>
          <p:cNvSpPr/>
          <p:nvPr/>
        </p:nvSpPr>
        <p:spPr>
          <a:xfrm>
            <a:off x="2560320" y="2834640"/>
            <a:ext cx="5943600" cy="411480"/>
          </a:xfrm>
          <a:prstGeom prst="rect">
            <a:avLst/>
          </a:prstGeom>
          <a:noFill/>
          <a:ln/>
        </p:spPr>
        <p:txBody>
          <a:bodyPr wrap="square" rtlCol="0" anchor="t"/>
          <a:lstStyle/>
          <a:p>
            <a:pPr indent="0" marL="0">
              <a:buNone/>
            </a:pPr>
            <a:r>
              <a:rPr lang="en-US" sz="1500" dirty="0">
                <a:solidFill>
                  <a:srgbClr val="8892B0"/>
                </a:solidFill>
                <a:latin typeface="Calibri" pitchFamily="34" charset="0"/>
                <a:ea typeface="Calibri" pitchFamily="34" charset="-122"/>
                <a:cs typeface="Calibri" pitchFamily="34" charset="-120"/>
              </a:rPr>
              <a:t>Lists, Tuples, Sets, Dictionaries &amp; More</a:t>
            </a:r>
            <a:endParaRPr lang="en-US" sz="1500" dirty="0"/>
          </a:p>
        </p:txBody>
      </p:sp>
      <p:sp>
        <p:nvSpPr>
          <p:cNvPr id="7" name="Shape 4"/>
          <p:cNvSpPr/>
          <p:nvPr/>
        </p:nvSpPr>
        <p:spPr>
          <a:xfrm>
            <a:off x="2560320" y="3291840"/>
            <a:ext cx="1097280" cy="36576"/>
          </a:xfrm>
          <a:prstGeom prst="rect">
            <a:avLst/>
          </a:prstGeom>
          <a:solidFill>
            <a:srgbClr val="00D4AA"/>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Text 1"/>
          <p:cNvSpPr/>
          <p:nvPr/>
        </p:nvSpPr>
        <p:spPr>
          <a:xfrm>
            <a:off x="365760" y="164592"/>
            <a:ext cx="8412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Mutable vs Immutable Data Types</a:t>
            </a:r>
            <a:endParaRPr lang="en-US" sz="2000" dirty="0"/>
          </a:p>
        </p:txBody>
      </p:sp>
      <p:sp>
        <p:nvSpPr>
          <p:cNvPr id="4" name="Shape 2"/>
          <p:cNvSpPr/>
          <p:nvPr/>
        </p:nvSpPr>
        <p:spPr>
          <a:xfrm>
            <a:off x="365760" y="621792"/>
            <a:ext cx="731520" cy="32004"/>
          </a:xfrm>
          <a:prstGeom prst="rect">
            <a:avLst/>
          </a:prstGeom>
          <a:solidFill>
            <a:srgbClr val="00D4AA"/>
          </a:solidFill>
          <a:ln/>
        </p:spPr>
      </p:sp>
      <p:sp>
        <p:nvSpPr>
          <p:cNvPr id="5" name="Shape 3"/>
          <p:cNvSpPr/>
          <p:nvPr/>
        </p:nvSpPr>
        <p:spPr>
          <a:xfrm>
            <a:off x="274320" y="777240"/>
            <a:ext cx="4206240" cy="4114800"/>
          </a:xfrm>
          <a:prstGeom prst="rect">
            <a:avLst>
              <a:gd name="adj" fmla="val 1778"/>
            </a:avLst>
          </a:prstGeom>
          <a:solidFill>
            <a:srgbClr val="242B3D"/>
          </a:solidFill>
          <a:ln/>
        </p:spPr>
      </p:sp>
      <p:sp>
        <p:nvSpPr>
          <p:cNvPr id="6" name="Shape 4"/>
          <p:cNvSpPr/>
          <p:nvPr/>
        </p:nvSpPr>
        <p:spPr>
          <a:xfrm>
            <a:off x="274320" y="777240"/>
            <a:ext cx="4206240" cy="411480"/>
          </a:xfrm>
          <a:prstGeom prst="rect">
            <a:avLst>
              <a:gd name="adj" fmla="val 17778"/>
            </a:avLst>
          </a:prstGeom>
          <a:solidFill>
            <a:srgbClr val="6C63FF"/>
          </a:solidFill>
          <a:ln/>
        </p:spPr>
      </p:sp>
      <p:sp>
        <p:nvSpPr>
          <p:cNvPr id="7" name="Shape 5"/>
          <p:cNvSpPr/>
          <p:nvPr/>
        </p:nvSpPr>
        <p:spPr>
          <a:xfrm>
            <a:off x="274320" y="978408"/>
            <a:ext cx="4206240" cy="210312"/>
          </a:xfrm>
          <a:prstGeom prst="rect">
            <a:avLst/>
          </a:prstGeom>
          <a:solidFill>
            <a:srgbClr val="6C63FF"/>
          </a:solidFill>
          <a:ln/>
        </p:spPr>
      </p:sp>
      <p:sp>
        <p:nvSpPr>
          <p:cNvPr id="8" name="Text 6"/>
          <p:cNvSpPr/>
          <p:nvPr/>
        </p:nvSpPr>
        <p:spPr>
          <a:xfrm>
            <a:off x="411480" y="804672"/>
            <a:ext cx="393192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Mutable (Can Change)</a:t>
            </a:r>
            <a:endParaRPr lang="en-US" sz="1300" dirty="0"/>
          </a:p>
        </p:txBody>
      </p:sp>
      <p:sp>
        <p:nvSpPr>
          <p:cNvPr id="9" name="Text 7"/>
          <p:cNvSpPr/>
          <p:nvPr/>
        </p:nvSpPr>
        <p:spPr>
          <a:xfrm>
            <a:off x="411480" y="1261872"/>
            <a:ext cx="3931920" cy="3657600"/>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Can be modified after creation.</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Changing doesn't create a new object — it modifies the existing one.</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Examples: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List: [1, 2, 3]</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Dictionary: {"a": 1}</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Set: {1, 2, 3}</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Use when: You need to update data frequently.</a:t>
            </a:r>
            <a:endParaRPr lang="en-US" sz="1150" dirty="0"/>
          </a:p>
        </p:txBody>
      </p:sp>
      <p:sp>
        <p:nvSpPr>
          <p:cNvPr id="10" name="Shape 8"/>
          <p:cNvSpPr/>
          <p:nvPr/>
        </p:nvSpPr>
        <p:spPr>
          <a:xfrm>
            <a:off x="4663440" y="777240"/>
            <a:ext cx="4206240" cy="4114800"/>
          </a:xfrm>
          <a:prstGeom prst="rect">
            <a:avLst>
              <a:gd name="adj" fmla="val 1778"/>
            </a:avLst>
          </a:prstGeom>
          <a:solidFill>
            <a:srgbClr val="242B3D"/>
          </a:solidFill>
          <a:ln/>
        </p:spPr>
      </p:sp>
      <p:sp>
        <p:nvSpPr>
          <p:cNvPr id="11" name="Shape 9"/>
          <p:cNvSpPr/>
          <p:nvPr/>
        </p:nvSpPr>
        <p:spPr>
          <a:xfrm>
            <a:off x="4663440" y="777240"/>
            <a:ext cx="4206240" cy="411480"/>
          </a:xfrm>
          <a:prstGeom prst="rect">
            <a:avLst>
              <a:gd name="adj" fmla="val 17778"/>
            </a:avLst>
          </a:prstGeom>
          <a:solidFill>
            <a:srgbClr val="00D4AA"/>
          </a:solidFill>
          <a:ln/>
        </p:spPr>
      </p:sp>
      <p:sp>
        <p:nvSpPr>
          <p:cNvPr id="12" name="Shape 10"/>
          <p:cNvSpPr/>
          <p:nvPr/>
        </p:nvSpPr>
        <p:spPr>
          <a:xfrm>
            <a:off x="4663440" y="978408"/>
            <a:ext cx="4206240" cy="210312"/>
          </a:xfrm>
          <a:prstGeom prst="rect">
            <a:avLst/>
          </a:prstGeom>
          <a:solidFill>
            <a:srgbClr val="00D4AA"/>
          </a:solidFill>
          <a:ln/>
        </p:spPr>
      </p:sp>
      <p:sp>
        <p:nvSpPr>
          <p:cNvPr id="13" name="Text 11"/>
          <p:cNvSpPr/>
          <p:nvPr/>
        </p:nvSpPr>
        <p:spPr>
          <a:xfrm>
            <a:off x="4800600" y="804672"/>
            <a:ext cx="393192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Immutable (Cannot Change)</a:t>
            </a:r>
            <a:endParaRPr lang="en-US" sz="1300" dirty="0"/>
          </a:p>
        </p:txBody>
      </p:sp>
      <p:sp>
        <p:nvSpPr>
          <p:cNvPr id="14" name="Text 12"/>
          <p:cNvSpPr/>
          <p:nvPr/>
        </p:nvSpPr>
        <p:spPr>
          <a:xfrm>
            <a:off x="4800600" y="1261872"/>
            <a:ext cx="3931920" cy="3657600"/>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Cannot be modified after creation.</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Any 'change' creates a NEW object.</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Examples: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String: "hello"</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Tuple: (1, 2, 3)</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Integer: 42</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Float: 3.14</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Use when: Data should not change (e.g., constants, dictionary keys).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Text 1"/>
          <p:cNvSpPr/>
          <p:nvPr/>
        </p:nvSpPr>
        <p:spPr>
          <a:xfrm>
            <a:off x="365760" y="164592"/>
            <a:ext cx="8412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List vs Tuple — Key Differences</a:t>
            </a:r>
            <a:endParaRPr lang="en-US" sz="2000" dirty="0"/>
          </a:p>
        </p:txBody>
      </p:sp>
      <p:sp>
        <p:nvSpPr>
          <p:cNvPr id="4" name="Shape 2"/>
          <p:cNvSpPr/>
          <p:nvPr/>
        </p:nvSpPr>
        <p:spPr>
          <a:xfrm>
            <a:off x="365760" y="621792"/>
            <a:ext cx="731520" cy="32004"/>
          </a:xfrm>
          <a:prstGeom prst="rect">
            <a:avLst/>
          </a:prstGeom>
          <a:solidFill>
            <a:srgbClr val="00D4AA"/>
          </a:solidFill>
          <a:ln/>
        </p:spPr>
      </p:sp>
      <p:sp>
        <p:nvSpPr>
          <p:cNvPr id="5" name="Shape 3"/>
          <p:cNvSpPr/>
          <p:nvPr/>
        </p:nvSpPr>
        <p:spPr>
          <a:xfrm>
            <a:off x="274320" y="777240"/>
            <a:ext cx="4206240" cy="4114800"/>
          </a:xfrm>
          <a:prstGeom prst="rect">
            <a:avLst>
              <a:gd name="adj" fmla="val 1778"/>
            </a:avLst>
          </a:prstGeom>
          <a:solidFill>
            <a:srgbClr val="242B3D"/>
          </a:solidFill>
          <a:ln/>
        </p:spPr>
      </p:sp>
      <p:sp>
        <p:nvSpPr>
          <p:cNvPr id="6" name="Shape 4"/>
          <p:cNvSpPr/>
          <p:nvPr/>
        </p:nvSpPr>
        <p:spPr>
          <a:xfrm>
            <a:off x="274320" y="777240"/>
            <a:ext cx="4206240" cy="411480"/>
          </a:xfrm>
          <a:prstGeom prst="rect">
            <a:avLst>
              <a:gd name="adj" fmla="val 17778"/>
            </a:avLst>
          </a:prstGeom>
          <a:solidFill>
            <a:srgbClr val="6C63FF"/>
          </a:solidFill>
          <a:ln/>
        </p:spPr>
      </p:sp>
      <p:sp>
        <p:nvSpPr>
          <p:cNvPr id="7" name="Shape 5"/>
          <p:cNvSpPr/>
          <p:nvPr/>
        </p:nvSpPr>
        <p:spPr>
          <a:xfrm>
            <a:off x="274320" y="978408"/>
            <a:ext cx="4206240" cy="210312"/>
          </a:xfrm>
          <a:prstGeom prst="rect">
            <a:avLst/>
          </a:prstGeom>
          <a:solidFill>
            <a:srgbClr val="6C63FF"/>
          </a:solidFill>
          <a:ln/>
        </p:spPr>
      </p:sp>
      <p:sp>
        <p:nvSpPr>
          <p:cNvPr id="8" name="Text 6"/>
          <p:cNvSpPr/>
          <p:nvPr/>
        </p:nvSpPr>
        <p:spPr>
          <a:xfrm>
            <a:off x="411480" y="804672"/>
            <a:ext cx="393192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List</a:t>
            </a:r>
            <a:endParaRPr lang="en-US" sz="1300" dirty="0"/>
          </a:p>
        </p:txBody>
      </p:sp>
      <p:sp>
        <p:nvSpPr>
          <p:cNvPr id="9" name="Text 7"/>
          <p:cNvSpPr/>
          <p:nvPr/>
        </p:nvSpPr>
        <p:spPr>
          <a:xfrm>
            <a:off x="411480" y="1261872"/>
            <a:ext cx="3931920" cy="3657600"/>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Syntax: [1, 2, 3]</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Mutable: Yes (can add/remove)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Speed: Slower</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Memory: Uses more memory</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Use case: Dynamic collections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Example: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fruits = ["apple", "banana"]</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fruits.append("cherry")  # OK!</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fruits[0] = "grape"      # OK!</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Can be used as: Regular collection</a:t>
            </a:r>
            <a:endParaRPr lang="en-US" sz="1150" dirty="0"/>
          </a:p>
        </p:txBody>
      </p:sp>
      <p:sp>
        <p:nvSpPr>
          <p:cNvPr id="10" name="Shape 8"/>
          <p:cNvSpPr/>
          <p:nvPr/>
        </p:nvSpPr>
        <p:spPr>
          <a:xfrm>
            <a:off x="4663440" y="777240"/>
            <a:ext cx="4206240" cy="4114800"/>
          </a:xfrm>
          <a:prstGeom prst="rect">
            <a:avLst>
              <a:gd name="adj" fmla="val 1778"/>
            </a:avLst>
          </a:prstGeom>
          <a:solidFill>
            <a:srgbClr val="242B3D"/>
          </a:solidFill>
          <a:ln/>
        </p:spPr>
      </p:sp>
      <p:sp>
        <p:nvSpPr>
          <p:cNvPr id="11" name="Shape 9"/>
          <p:cNvSpPr/>
          <p:nvPr/>
        </p:nvSpPr>
        <p:spPr>
          <a:xfrm>
            <a:off x="4663440" y="777240"/>
            <a:ext cx="4206240" cy="411480"/>
          </a:xfrm>
          <a:prstGeom prst="rect">
            <a:avLst>
              <a:gd name="adj" fmla="val 17778"/>
            </a:avLst>
          </a:prstGeom>
          <a:solidFill>
            <a:srgbClr val="00D4AA"/>
          </a:solidFill>
          <a:ln/>
        </p:spPr>
      </p:sp>
      <p:sp>
        <p:nvSpPr>
          <p:cNvPr id="12" name="Shape 10"/>
          <p:cNvSpPr/>
          <p:nvPr/>
        </p:nvSpPr>
        <p:spPr>
          <a:xfrm>
            <a:off x="4663440" y="978408"/>
            <a:ext cx="4206240" cy="210312"/>
          </a:xfrm>
          <a:prstGeom prst="rect">
            <a:avLst/>
          </a:prstGeom>
          <a:solidFill>
            <a:srgbClr val="00D4AA"/>
          </a:solidFill>
          <a:ln/>
        </p:spPr>
      </p:sp>
      <p:sp>
        <p:nvSpPr>
          <p:cNvPr id="13" name="Text 11"/>
          <p:cNvSpPr/>
          <p:nvPr/>
        </p:nvSpPr>
        <p:spPr>
          <a:xfrm>
            <a:off x="4800600" y="804672"/>
            <a:ext cx="393192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Tuple</a:t>
            </a:r>
            <a:endParaRPr lang="en-US" sz="1300" dirty="0"/>
          </a:p>
        </p:txBody>
      </p:sp>
      <p:sp>
        <p:nvSpPr>
          <p:cNvPr id="14" name="Text 12"/>
          <p:cNvSpPr/>
          <p:nvPr/>
        </p:nvSpPr>
        <p:spPr>
          <a:xfrm>
            <a:off x="4800600" y="1261872"/>
            <a:ext cx="3931920" cy="3657600"/>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Syntax: (1, 2, 3)</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Mutable: No (fixed after creation)</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Speed: Faster than lists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Memory: Uses less memory</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Use case: Fixed/constant data</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Example: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coords = (10, 20)</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coords[0] = 5  # ERROR!</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Can be used as: Dictionary keys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Single element: (1,) — comma needed!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Difference between List, Tuple, Set, and Dictionary</a:t>
            </a:r>
            <a:endParaRPr lang="en-US" sz="1700" dirty="0"/>
          </a:p>
        </p:txBody>
      </p:sp>
      <p:sp>
        <p:nvSpPr>
          <p:cNvPr id="6" name="Shape 4"/>
          <p:cNvSpPr/>
          <p:nvPr/>
        </p:nvSpPr>
        <p:spPr>
          <a:xfrm>
            <a:off x="365760" y="868680"/>
            <a:ext cx="8412480" cy="1284732"/>
          </a:xfrm>
          <a:prstGeom prst="rect">
            <a:avLst>
              <a:gd name="adj" fmla="val 5694"/>
            </a:avLst>
          </a:prstGeom>
          <a:solidFill>
            <a:srgbClr val="242B3D"/>
          </a:solidFill>
          <a:ln/>
        </p:spPr>
      </p:sp>
      <p:sp>
        <p:nvSpPr>
          <p:cNvPr id="7" name="Shape 5"/>
          <p:cNvSpPr/>
          <p:nvPr/>
        </p:nvSpPr>
        <p:spPr>
          <a:xfrm>
            <a:off x="365760" y="868680"/>
            <a:ext cx="54864" cy="1284732"/>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964692"/>
          </a:xfrm>
          <a:prstGeom prst="rect">
            <a:avLst/>
          </a:prstGeom>
          <a:noFill/>
          <a:ln/>
        </p:spPr>
        <p:txBody>
          <a:bodyPr wrap="square" lIns="0" tIns="0" rIns="0" bIns="0" rtlCol="0" anchor="t"/>
          <a:lstStyle/>
          <a:p>
            <a:pPr indent="0" marL="0">
              <a:buNone/>
            </a:pPr>
            <a:r>
              <a:rPr lang="en-US" sz="1250" dirty="0">
                <a:solidFill>
                  <a:srgbClr val="A8B2C8"/>
                </a:solidFill>
                <a:latin typeface="Calibri" pitchFamily="34" charset="0"/>
                <a:ea typeface="Calibri" pitchFamily="34" charset="-122"/>
                <a:cs typeface="Calibri" pitchFamily="34" charset="-120"/>
              </a:rPr>
              <a:t>List []: Ordered, Mutable, Allows duplicates — best for collections you'll modify</a:t>
            </a:r>
            <a:endParaRPr lang="en-US" sz="1250" dirty="0"/>
          </a:p>
          <a:p>
            <a:pPr indent="0" marL="0">
              <a:buNone/>
            </a:pPr>
            <a:r>
              <a:rPr lang="en-US" sz="1250" dirty="0">
                <a:solidFill>
                  <a:srgbClr val="A8B2C8"/>
                </a:solidFill>
                <a:latin typeface="Calibri" pitchFamily="34" charset="0"/>
                <a:ea typeface="Calibri" pitchFamily="34" charset="-122"/>
                <a:cs typeface="Calibri" pitchFamily="34" charset="-120"/>
              </a:rPr>
              <a:t>Tuple (): Ordered, Immutable, Allows duplicates — best for fixed data</a:t>
            </a:r>
            <a:endParaRPr lang="en-US" sz="1250" dirty="0"/>
          </a:p>
          <a:p>
            <a:pPr indent="0" marL="0">
              <a:buNone/>
            </a:pPr>
            <a:r>
              <a:rPr lang="en-US" sz="1250" dirty="0">
                <a:solidFill>
                  <a:srgbClr val="A8B2C8"/>
                </a:solidFill>
                <a:latin typeface="Calibri" pitchFamily="34" charset="0"/>
                <a:ea typeface="Calibri" pitchFamily="34" charset="-122"/>
                <a:cs typeface="Calibri" pitchFamily="34" charset="-120"/>
              </a:rPr>
              <a:t>Set {}: Unordered, Mutable, NO duplicates — best for unique items</a:t>
            </a:r>
            <a:endParaRPr lang="en-US" sz="1250" dirty="0"/>
          </a:p>
          <a:p>
            <a:pPr indent="0" marL="0">
              <a:buNone/>
            </a:pPr>
            <a:r>
              <a:rPr lang="en-US" sz="1250" dirty="0">
                <a:solidFill>
                  <a:srgbClr val="A8B2C8"/>
                </a:solidFill>
                <a:latin typeface="Calibri" pitchFamily="34" charset="0"/>
                <a:ea typeface="Calibri" pitchFamily="34" charset="-122"/>
                <a:cs typeface="Calibri" pitchFamily="34" charset="-120"/>
              </a:rPr>
              <a:t>Dict {key: value}: Ordered (Python 3.7+), Mutable, Keys must be unique — best for key-value pairs</a:t>
            </a:r>
            <a:endParaRPr lang="en-US" sz="1250" dirty="0"/>
          </a:p>
        </p:txBody>
      </p:sp>
      <p:sp>
        <p:nvSpPr>
          <p:cNvPr id="10" name="Shape 8"/>
          <p:cNvSpPr/>
          <p:nvPr/>
        </p:nvSpPr>
        <p:spPr>
          <a:xfrm>
            <a:off x="365760" y="2290572"/>
            <a:ext cx="8412480" cy="1673352"/>
          </a:xfrm>
          <a:prstGeom prst="rect">
            <a:avLst>
              <a:gd name="adj" fmla="val 4372"/>
            </a:avLst>
          </a:prstGeom>
          <a:solidFill>
            <a:srgbClr val="151921"/>
          </a:solidFill>
          <a:ln/>
        </p:spPr>
      </p:sp>
      <p:sp>
        <p:nvSpPr>
          <p:cNvPr id="11" name="Shape 9"/>
          <p:cNvSpPr/>
          <p:nvPr/>
        </p:nvSpPr>
        <p:spPr>
          <a:xfrm>
            <a:off x="365760" y="2290572"/>
            <a:ext cx="54864" cy="1673352"/>
          </a:xfrm>
          <a:prstGeom prst="rect">
            <a:avLst/>
          </a:prstGeom>
          <a:solidFill>
            <a:srgbClr val="FFC107"/>
          </a:solidFill>
          <a:ln/>
        </p:spPr>
      </p:sp>
      <p:sp>
        <p:nvSpPr>
          <p:cNvPr id="12" name="Shape 10"/>
          <p:cNvSpPr/>
          <p:nvPr/>
        </p:nvSpPr>
        <p:spPr>
          <a:xfrm>
            <a:off x="548640" y="2382012"/>
            <a:ext cx="91440" cy="91440"/>
          </a:xfrm>
          <a:prstGeom prst="ellipse">
            <a:avLst/>
          </a:prstGeom>
          <a:solidFill>
            <a:srgbClr val="FF6B6B"/>
          </a:solidFill>
          <a:ln/>
        </p:spPr>
      </p:sp>
      <p:sp>
        <p:nvSpPr>
          <p:cNvPr id="13" name="Shape 11"/>
          <p:cNvSpPr/>
          <p:nvPr/>
        </p:nvSpPr>
        <p:spPr>
          <a:xfrm>
            <a:off x="676656" y="2382012"/>
            <a:ext cx="91440" cy="91440"/>
          </a:xfrm>
          <a:prstGeom prst="ellipse">
            <a:avLst/>
          </a:prstGeom>
          <a:solidFill>
            <a:srgbClr val="FFC107"/>
          </a:solidFill>
          <a:ln/>
        </p:spPr>
      </p:sp>
      <p:sp>
        <p:nvSpPr>
          <p:cNvPr id="14" name="Shape 12"/>
          <p:cNvSpPr/>
          <p:nvPr/>
        </p:nvSpPr>
        <p:spPr>
          <a:xfrm>
            <a:off x="804672" y="2382012"/>
            <a:ext cx="91440" cy="91440"/>
          </a:xfrm>
          <a:prstGeom prst="ellipse">
            <a:avLst/>
          </a:prstGeom>
          <a:solidFill>
            <a:srgbClr val="00D4AA"/>
          </a:solidFill>
          <a:ln/>
        </p:spPr>
      </p:sp>
      <p:sp>
        <p:nvSpPr>
          <p:cNvPr id="15" name="Text 13"/>
          <p:cNvSpPr/>
          <p:nvPr/>
        </p:nvSpPr>
        <p:spPr>
          <a:xfrm>
            <a:off x="1005840" y="2345436"/>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2546604"/>
            <a:ext cx="8138160" cy="1362456"/>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my_list = [1, 2, 2, 3]      # [1, 2, 2, 3] - duplicates OK</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my_tuple = (1, 2, 2, 3)     # (1, 2, 2, 3) - duplicates OK</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my_set = {1, 2, 2, 3}       # {1, 2, 3} - duplicates removed!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my_dict = {"a": 1, "b": 2}  # key-value pairs</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print(len(my_list))   # 4</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print(len(my_set))    # 3 (duplicate removed)</a:t>
            </a:r>
            <a:endParaRPr lang="en-US" sz="1100" dirty="0"/>
          </a:p>
        </p:txBody>
      </p:sp>
      <p:sp>
        <p:nvSpPr>
          <p:cNvPr id="17" name="Shape 15"/>
          <p:cNvSpPr/>
          <p:nvPr/>
        </p:nvSpPr>
        <p:spPr>
          <a:xfrm>
            <a:off x="365760" y="4101084"/>
            <a:ext cx="8412480" cy="768096"/>
          </a:xfrm>
          <a:prstGeom prst="rect">
            <a:avLst>
              <a:gd name="adj" fmla="val 9524"/>
            </a:avLst>
          </a:prstGeom>
          <a:solidFill>
            <a:srgbClr val="2A1F3D"/>
          </a:solidFill>
          <a:ln/>
        </p:spPr>
      </p:sp>
      <p:sp>
        <p:nvSpPr>
          <p:cNvPr id="18" name="Shape 16"/>
          <p:cNvSpPr/>
          <p:nvPr/>
        </p:nvSpPr>
        <p:spPr>
          <a:xfrm>
            <a:off x="365760" y="4101084"/>
            <a:ext cx="54864" cy="768096"/>
          </a:xfrm>
          <a:prstGeom prst="rect">
            <a:avLst/>
          </a:prstGeom>
          <a:solidFill>
            <a:srgbClr val="6C63FF"/>
          </a:solidFill>
          <a:ln/>
        </p:spPr>
      </p:sp>
      <p:sp>
        <p:nvSpPr>
          <p:cNvPr id="19" name="Text 17"/>
          <p:cNvSpPr/>
          <p:nvPr/>
        </p:nvSpPr>
        <p:spPr>
          <a:xfrm>
            <a:off x="502920" y="4192524"/>
            <a:ext cx="1828800" cy="182880"/>
          </a:xfrm>
          <a:prstGeom prst="rect">
            <a:avLst/>
          </a:prstGeom>
          <a:noFill/>
          <a:ln/>
        </p:spPr>
        <p:txBody>
          <a:bodyPr wrap="square" lIns="0" tIns="0" rIns="0" bIns="0" rtlCol="0" anchor="ctr"/>
          <a:lstStyle/>
          <a:p>
            <a:pPr indent="0" marL="0">
              <a:buNone/>
            </a:pPr>
            <a:r>
              <a:rPr lang="en-US" sz="900" b="1" dirty="0">
                <a:solidFill>
                  <a:srgbClr val="6C63FF"/>
                </a:solidFill>
                <a:latin typeface="Calibri" pitchFamily="34" charset="0"/>
                <a:ea typeface="Calibri" pitchFamily="34" charset="-122"/>
                <a:cs typeface="Calibri" pitchFamily="34" charset="-120"/>
              </a:rPr>
              <a:t>💡 Interview Tip</a:t>
            </a:r>
            <a:endParaRPr lang="en-US" sz="900" dirty="0"/>
          </a:p>
        </p:txBody>
      </p:sp>
      <p:sp>
        <p:nvSpPr>
          <p:cNvPr id="20" name="Text 18"/>
          <p:cNvSpPr/>
          <p:nvPr/>
        </p:nvSpPr>
        <p:spPr>
          <a:xfrm>
            <a:off x="502920" y="4357116"/>
            <a:ext cx="8138160" cy="457200"/>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Remember the quick rule: List=ordered+mutable, Tuple=ordered+immutable, Set=unique+unordered, Dict=key-value pairs. Practice drawing this comparison!</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the difference between Python Lists and Arrays?</a:t>
            </a:r>
            <a:endParaRPr lang="en-US" sz="1700" dirty="0"/>
          </a:p>
        </p:txBody>
      </p:sp>
      <p:sp>
        <p:nvSpPr>
          <p:cNvPr id="6" name="Shape 4"/>
          <p:cNvSpPr/>
          <p:nvPr/>
        </p:nvSpPr>
        <p:spPr>
          <a:xfrm>
            <a:off x="365760" y="868680"/>
            <a:ext cx="8412480" cy="1997964"/>
          </a:xfrm>
          <a:prstGeom prst="rect">
            <a:avLst>
              <a:gd name="adj" fmla="val 3661"/>
            </a:avLst>
          </a:prstGeom>
          <a:solidFill>
            <a:srgbClr val="242B3D"/>
          </a:solidFill>
          <a:ln/>
        </p:spPr>
      </p:sp>
      <p:sp>
        <p:nvSpPr>
          <p:cNvPr id="7" name="Shape 5"/>
          <p:cNvSpPr/>
          <p:nvPr/>
        </p:nvSpPr>
        <p:spPr>
          <a:xfrm>
            <a:off x="365760" y="868680"/>
            <a:ext cx="54864" cy="1997964"/>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677924"/>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Python List: Can store elements of DIFFERENT data types. Very flexible but uses more memory.</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Array (from array module or NumPy): Stores elements of the SAME data type only. More memory-efficient and faster for numerical operations.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Key differences: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Lists are flexible (mixed types), Arrays are homogeneous (same type)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Arrays are faster for numerical computations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NumPy arrays support vectorized operations (apply operation to entire array at once)</a:t>
            </a:r>
            <a:endParaRPr lang="en-US" sz="1150" dirty="0"/>
          </a:p>
        </p:txBody>
      </p:sp>
      <p:sp>
        <p:nvSpPr>
          <p:cNvPr id="10" name="Shape 8"/>
          <p:cNvSpPr/>
          <p:nvPr/>
        </p:nvSpPr>
        <p:spPr>
          <a:xfrm>
            <a:off x="365760" y="3003804"/>
            <a:ext cx="8412480" cy="1888236"/>
          </a:xfrm>
          <a:prstGeom prst="rect">
            <a:avLst>
              <a:gd name="adj" fmla="val 3874"/>
            </a:avLst>
          </a:prstGeom>
          <a:solidFill>
            <a:srgbClr val="151921"/>
          </a:solidFill>
          <a:ln/>
        </p:spPr>
      </p:sp>
      <p:sp>
        <p:nvSpPr>
          <p:cNvPr id="11" name="Shape 9"/>
          <p:cNvSpPr/>
          <p:nvPr/>
        </p:nvSpPr>
        <p:spPr>
          <a:xfrm>
            <a:off x="365760" y="3003804"/>
            <a:ext cx="54864" cy="1888236"/>
          </a:xfrm>
          <a:prstGeom prst="rect">
            <a:avLst/>
          </a:prstGeom>
          <a:solidFill>
            <a:srgbClr val="FFC107"/>
          </a:solidFill>
          <a:ln/>
        </p:spPr>
      </p:sp>
      <p:sp>
        <p:nvSpPr>
          <p:cNvPr id="12" name="Shape 10"/>
          <p:cNvSpPr/>
          <p:nvPr/>
        </p:nvSpPr>
        <p:spPr>
          <a:xfrm>
            <a:off x="548640" y="3095244"/>
            <a:ext cx="91440" cy="91440"/>
          </a:xfrm>
          <a:prstGeom prst="ellipse">
            <a:avLst/>
          </a:prstGeom>
          <a:solidFill>
            <a:srgbClr val="FF6B6B"/>
          </a:solidFill>
          <a:ln/>
        </p:spPr>
      </p:sp>
      <p:sp>
        <p:nvSpPr>
          <p:cNvPr id="13" name="Shape 11"/>
          <p:cNvSpPr/>
          <p:nvPr/>
        </p:nvSpPr>
        <p:spPr>
          <a:xfrm>
            <a:off x="676656" y="3095244"/>
            <a:ext cx="91440" cy="91440"/>
          </a:xfrm>
          <a:prstGeom prst="ellipse">
            <a:avLst/>
          </a:prstGeom>
          <a:solidFill>
            <a:srgbClr val="FFC107"/>
          </a:solidFill>
          <a:ln/>
        </p:spPr>
      </p:sp>
      <p:sp>
        <p:nvSpPr>
          <p:cNvPr id="14" name="Shape 12"/>
          <p:cNvSpPr/>
          <p:nvPr/>
        </p:nvSpPr>
        <p:spPr>
          <a:xfrm>
            <a:off x="804672" y="3095244"/>
            <a:ext cx="91440" cy="91440"/>
          </a:xfrm>
          <a:prstGeom prst="ellipse">
            <a:avLst/>
          </a:prstGeom>
          <a:solidFill>
            <a:srgbClr val="00D4AA"/>
          </a:solidFill>
          <a:ln/>
        </p:spPr>
      </p:sp>
      <p:sp>
        <p:nvSpPr>
          <p:cNvPr id="15" name="Text 13"/>
          <p:cNvSpPr/>
          <p:nvPr/>
        </p:nvSpPr>
        <p:spPr>
          <a:xfrm>
            <a:off x="1005840" y="3058668"/>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259836"/>
            <a:ext cx="8138160" cy="1577340"/>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from array import array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import numpy as np</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Python List - mixed types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my_list = [1, "hello", 3.14, True]</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Array - same type only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my_array = array("i", [1, 2, 3, 4])  # "i" = integers</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NumPy Array - fast math</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np_arr = np.array([1, 2, 3, 4])</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print(np_arr * 2)  # [2 4 6 8] — vectorized!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Why is a set unordered? Difference between Set and Dictionary?</a:t>
            </a:r>
            <a:endParaRPr lang="en-US" sz="1700" dirty="0"/>
          </a:p>
        </p:txBody>
      </p:sp>
      <p:sp>
        <p:nvSpPr>
          <p:cNvPr id="6" name="Shape 4"/>
          <p:cNvSpPr/>
          <p:nvPr/>
        </p:nvSpPr>
        <p:spPr>
          <a:xfrm>
            <a:off x="365760" y="868680"/>
            <a:ext cx="8412480" cy="1997964"/>
          </a:xfrm>
          <a:prstGeom prst="rect">
            <a:avLst>
              <a:gd name="adj" fmla="val 3661"/>
            </a:avLst>
          </a:prstGeom>
          <a:solidFill>
            <a:srgbClr val="242B3D"/>
          </a:solidFill>
          <a:ln/>
        </p:spPr>
      </p:sp>
      <p:sp>
        <p:nvSpPr>
          <p:cNvPr id="7" name="Shape 5"/>
          <p:cNvSpPr/>
          <p:nvPr/>
        </p:nvSpPr>
        <p:spPr>
          <a:xfrm>
            <a:off x="365760" y="868680"/>
            <a:ext cx="54864" cy="1997964"/>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677924"/>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Set is Unordered because: Elements are stored based on their HASH values, not insertion order. The internal storage is optimized for fast lookups, not maintaining order. Set is Mutable (you can add/remove elements).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Set vs Dictionary:</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Set stores only VALUES: {1, 2, 3}</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Dictionary stores KEY-VALUE pairs: {"a": 1, "b": 2}</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Both use hash tables internally for O(1) lookups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Set = collection of unique items; Dict = mapping of keys to values</a:t>
            </a:r>
            <a:endParaRPr lang="en-US" sz="1150" dirty="0"/>
          </a:p>
        </p:txBody>
      </p:sp>
      <p:sp>
        <p:nvSpPr>
          <p:cNvPr id="10" name="Shape 8"/>
          <p:cNvSpPr/>
          <p:nvPr/>
        </p:nvSpPr>
        <p:spPr>
          <a:xfrm>
            <a:off x="365760" y="3003804"/>
            <a:ext cx="8412480" cy="1888236"/>
          </a:xfrm>
          <a:prstGeom prst="rect">
            <a:avLst>
              <a:gd name="adj" fmla="val 3874"/>
            </a:avLst>
          </a:prstGeom>
          <a:solidFill>
            <a:srgbClr val="151921"/>
          </a:solidFill>
          <a:ln/>
        </p:spPr>
      </p:sp>
      <p:sp>
        <p:nvSpPr>
          <p:cNvPr id="11" name="Shape 9"/>
          <p:cNvSpPr/>
          <p:nvPr/>
        </p:nvSpPr>
        <p:spPr>
          <a:xfrm>
            <a:off x="365760" y="3003804"/>
            <a:ext cx="54864" cy="1888236"/>
          </a:xfrm>
          <a:prstGeom prst="rect">
            <a:avLst/>
          </a:prstGeom>
          <a:solidFill>
            <a:srgbClr val="FFC107"/>
          </a:solidFill>
          <a:ln/>
        </p:spPr>
      </p:sp>
      <p:sp>
        <p:nvSpPr>
          <p:cNvPr id="12" name="Shape 10"/>
          <p:cNvSpPr/>
          <p:nvPr/>
        </p:nvSpPr>
        <p:spPr>
          <a:xfrm>
            <a:off x="548640" y="3095244"/>
            <a:ext cx="91440" cy="91440"/>
          </a:xfrm>
          <a:prstGeom prst="ellipse">
            <a:avLst/>
          </a:prstGeom>
          <a:solidFill>
            <a:srgbClr val="FF6B6B"/>
          </a:solidFill>
          <a:ln/>
        </p:spPr>
      </p:sp>
      <p:sp>
        <p:nvSpPr>
          <p:cNvPr id="13" name="Shape 11"/>
          <p:cNvSpPr/>
          <p:nvPr/>
        </p:nvSpPr>
        <p:spPr>
          <a:xfrm>
            <a:off x="676656" y="3095244"/>
            <a:ext cx="91440" cy="91440"/>
          </a:xfrm>
          <a:prstGeom prst="ellipse">
            <a:avLst/>
          </a:prstGeom>
          <a:solidFill>
            <a:srgbClr val="FFC107"/>
          </a:solidFill>
          <a:ln/>
        </p:spPr>
      </p:sp>
      <p:sp>
        <p:nvSpPr>
          <p:cNvPr id="14" name="Shape 12"/>
          <p:cNvSpPr/>
          <p:nvPr/>
        </p:nvSpPr>
        <p:spPr>
          <a:xfrm>
            <a:off x="804672" y="3095244"/>
            <a:ext cx="91440" cy="91440"/>
          </a:xfrm>
          <a:prstGeom prst="ellipse">
            <a:avLst/>
          </a:prstGeom>
          <a:solidFill>
            <a:srgbClr val="00D4AA"/>
          </a:solidFill>
          <a:ln/>
        </p:spPr>
      </p:sp>
      <p:sp>
        <p:nvSpPr>
          <p:cNvPr id="15" name="Text 13"/>
          <p:cNvSpPr/>
          <p:nvPr/>
        </p:nvSpPr>
        <p:spPr>
          <a:xfrm>
            <a:off x="1005840" y="3058668"/>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259836"/>
            <a:ext cx="8138160" cy="1577340"/>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my_set = {3, 1, 2}</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print(my_set)        # Could be {1, 2, 3} — no guaranteed order</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my_set.add(4)        # Mutable — can add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my_set.add(2)        # Duplicate ignored</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Set vs Dict: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set_ex = {"apple", "banana"}           # Just values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dict_ex = {"apple": 1, "banana": 2}    # Key: Value pairs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slicing? What is the difference between slicing and indexing? Negative indexing?</a:t>
            </a:r>
            <a:endParaRPr lang="en-US" sz="1700" dirty="0"/>
          </a:p>
        </p:txBody>
      </p:sp>
      <p:sp>
        <p:nvSpPr>
          <p:cNvPr id="6" name="Shape 4"/>
          <p:cNvSpPr/>
          <p:nvPr/>
        </p:nvSpPr>
        <p:spPr>
          <a:xfrm>
            <a:off x="365760" y="868680"/>
            <a:ext cx="8412480" cy="1106424"/>
          </a:xfrm>
          <a:prstGeom prst="rect">
            <a:avLst>
              <a:gd name="adj" fmla="val 6612"/>
            </a:avLst>
          </a:prstGeom>
          <a:solidFill>
            <a:srgbClr val="242B3D"/>
          </a:solidFill>
          <a:ln/>
        </p:spPr>
      </p:sp>
      <p:sp>
        <p:nvSpPr>
          <p:cNvPr id="7" name="Shape 5"/>
          <p:cNvSpPr/>
          <p:nvPr/>
        </p:nvSpPr>
        <p:spPr>
          <a:xfrm>
            <a:off x="365760" y="868680"/>
            <a:ext cx="54864" cy="1106424"/>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786384"/>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Indexing: Accessing a SINGLE element using its position. Index starts at 0.</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Slicing: Extracting a RANGE of elements using syntax [start:stop:step]. Returns a NEW sequence.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Negative Indexing: Using negative numbers to access elements from the END. -1 is the last element, -2 is second to last, etc. Very useful when you don't know the exact length.</a:t>
            </a:r>
            <a:endParaRPr lang="en-US" sz="1150" dirty="0"/>
          </a:p>
        </p:txBody>
      </p:sp>
      <p:sp>
        <p:nvSpPr>
          <p:cNvPr id="10" name="Shape 8"/>
          <p:cNvSpPr/>
          <p:nvPr/>
        </p:nvSpPr>
        <p:spPr>
          <a:xfrm>
            <a:off x="365760" y="2112264"/>
            <a:ext cx="8412480" cy="2221992"/>
          </a:xfrm>
          <a:prstGeom prst="rect">
            <a:avLst>
              <a:gd name="adj" fmla="val 3292"/>
            </a:avLst>
          </a:prstGeom>
          <a:solidFill>
            <a:srgbClr val="151921"/>
          </a:solidFill>
          <a:ln/>
        </p:spPr>
      </p:sp>
      <p:sp>
        <p:nvSpPr>
          <p:cNvPr id="11" name="Shape 9"/>
          <p:cNvSpPr/>
          <p:nvPr/>
        </p:nvSpPr>
        <p:spPr>
          <a:xfrm>
            <a:off x="365760" y="2112264"/>
            <a:ext cx="54864" cy="2221992"/>
          </a:xfrm>
          <a:prstGeom prst="rect">
            <a:avLst/>
          </a:prstGeom>
          <a:solidFill>
            <a:srgbClr val="FFC107"/>
          </a:solidFill>
          <a:ln/>
        </p:spPr>
      </p:sp>
      <p:sp>
        <p:nvSpPr>
          <p:cNvPr id="12" name="Shape 10"/>
          <p:cNvSpPr/>
          <p:nvPr/>
        </p:nvSpPr>
        <p:spPr>
          <a:xfrm>
            <a:off x="548640" y="2203704"/>
            <a:ext cx="91440" cy="91440"/>
          </a:xfrm>
          <a:prstGeom prst="ellipse">
            <a:avLst/>
          </a:prstGeom>
          <a:solidFill>
            <a:srgbClr val="FF6B6B"/>
          </a:solidFill>
          <a:ln/>
        </p:spPr>
      </p:sp>
      <p:sp>
        <p:nvSpPr>
          <p:cNvPr id="13" name="Shape 11"/>
          <p:cNvSpPr/>
          <p:nvPr/>
        </p:nvSpPr>
        <p:spPr>
          <a:xfrm>
            <a:off x="676656" y="2203704"/>
            <a:ext cx="91440" cy="91440"/>
          </a:xfrm>
          <a:prstGeom prst="ellipse">
            <a:avLst/>
          </a:prstGeom>
          <a:solidFill>
            <a:srgbClr val="FFC107"/>
          </a:solidFill>
          <a:ln/>
        </p:spPr>
      </p:sp>
      <p:sp>
        <p:nvSpPr>
          <p:cNvPr id="14" name="Shape 12"/>
          <p:cNvSpPr/>
          <p:nvPr/>
        </p:nvSpPr>
        <p:spPr>
          <a:xfrm>
            <a:off x="804672" y="2203704"/>
            <a:ext cx="91440" cy="91440"/>
          </a:xfrm>
          <a:prstGeom prst="ellipse">
            <a:avLst/>
          </a:prstGeom>
          <a:solidFill>
            <a:srgbClr val="00D4AA"/>
          </a:solidFill>
          <a:ln/>
        </p:spPr>
      </p:sp>
      <p:sp>
        <p:nvSpPr>
          <p:cNvPr id="15" name="Text 13"/>
          <p:cNvSpPr/>
          <p:nvPr/>
        </p:nvSpPr>
        <p:spPr>
          <a:xfrm>
            <a:off x="1005840" y="2167128"/>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2368296"/>
            <a:ext cx="8138160" cy="1911096"/>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fruits = ["apple", "banana", "cherry", "date", "elderberry"]</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Indexing — single element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print(fruits[0])     # apple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print(fruits[-1])    # elderberry (last element)</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Slicing — range of elements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print(fruits[1:3])   # [banana, cherry]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print(fruits[::2])   # [apple, cherry, elderberry]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print(fruits[::-1])  # Reversed list!</a:t>
            </a:r>
            <a:endParaRPr lang="en-US" sz="1100" dirty="0"/>
          </a:p>
        </p:txBody>
      </p:sp>
      <p:sp>
        <p:nvSpPr>
          <p:cNvPr id="17" name="Shape 15"/>
          <p:cNvSpPr/>
          <p:nvPr/>
        </p:nvSpPr>
        <p:spPr>
          <a:xfrm>
            <a:off x="365760" y="4471416"/>
            <a:ext cx="8412480" cy="512064"/>
          </a:xfrm>
          <a:prstGeom prst="rect">
            <a:avLst>
              <a:gd name="adj" fmla="val 14286"/>
            </a:avLst>
          </a:prstGeom>
          <a:solidFill>
            <a:srgbClr val="2A1F3D"/>
          </a:solidFill>
          <a:ln/>
        </p:spPr>
      </p:sp>
      <p:sp>
        <p:nvSpPr>
          <p:cNvPr id="18" name="Shape 16"/>
          <p:cNvSpPr/>
          <p:nvPr/>
        </p:nvSpPr>
        <p:spPr>
          <a:xfrm>
            <a:off x="365760" y="4471416"/>
            <a:ext cx="54864" cy="512064"/>
          </a:xfrm>
          <a:prstGeom prst="rect">
            <a:avLst/>
          </a:prstGeom>
          <a:solidFill>
            <a:srgbClr val="6C63FF"/>
          </a:solidFill>
          <a:ln/>
        </p:spPr>
      </p:sp>
      <p:sp>
        <p:nvSpPr>
          <p:cNvPr id="19" name="Text 17"/>
          <p:cNvSpPr/>
          <p:nvPr/>
        </p:nvSpPr>
        <p:spPr>
          <a:xfrm>
            <a:off x="502920" y="4562856"/>
            <a:ext cx="1828800" cy="182880"/>
          </a:xfrm>
          <a:prstGeom prst="rect">
            <a:avLst/>
          </a:prstGeom>
          <a:noFill/>
          <a:ln/>
        </p:spPr>
        <p:txBody>
          <a:bodyPr wrap="square" lIns="0" tIns="0" rIns="0" bIns="0" rtlCol="0" anchor="ctr"/>
          <a:lstStyle/>
          <a:p>
            <a:pPr indent="0" marL="0">
              <a:buNone/>
            </a:pPr>
            <a:r>
              <a:rPr lang="en-US" sz="900" b="1" dirty="0">
                <a:solidFill>
                  <a:srgbClr val="6C63FF"/>
                </a:solidFill>
                <a:latin typeface="Calibri" pitchFamily="34" charset="0"/>
                <a:ea typeface="Calibri" pitchFamily="34" charset="-122"/>
                <a:cs typeface="Calibri" pitchFamily="34" charset="-120"/>
              </a:rPr>
              <a:t>💡 Interview Tip</a:t>
            </a:r>
            <a:endParaRPr lang="en-US" sz="900" dirty="0"/>
          </a:p>
        </p:txBody>
      </p:sp>
      <p:sp>
        <p:nvSpPr>
          <p:cNvPr id="20" name="Text 18"/>
          <p:cNvSpPr/>
          <p:nvPr/>
        </p:nvSpPr>
        <p:spPr>
          <a:xfrm>
            <a:off x="502920" y="4727448"/>
            <a:ext cx="8138160" cy="201168"/>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Slicing syntax [start:stop:step] is VERY commonly tested. Remember: stop is EXCLUSIVE. Negative indexing is a Python superpower — use it!</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C63FF"/>
          </a:solidFill>
          <a:ln/>
        </p:spPr>
      </p:sp>
      <p:sp>
        <p:nvSpPr>
          <p:cNvPr id="3" name="Shape 1"/>
          <p:cNvSpPr/>
          <p:nvPr/>
        </p:nvSpPr>
        <p:spPr>
          <a:xfrm>
            <a:off x="914400" y="1737360"/>
            <a:ext cx="1280160" cy="1280160"/>
          </a:xfrm>
          <a:prstGeom prst="ellipse">
            <a:avLst/>
          </a:prstGeom>
          <a:solidFill>
            <a:srgbClr val="6C63FF">
              <a:alpha val="80000"/>
            </a:srgbClr>
          </a:solidFill>
          <a:ln/>
        </p:spPr>
      </p:sp>
      <p:pic>
        <p:nvPicPr>
          <p:cNvPr id="4" name="Image 0" descr="preencoded.png">    </p:cNvPr>
          <p:cNvPicPr>
            <a:picLocks noChangeAspect="1"/>
          </p:cNvPicPr>
          <p:nvPr/>
        </p:nvPicPr>
        <p:blipFill>
          <a:blip r:embed="rId1"/>
          <a:stretch>
            <a:fillRect/>
          </a:stretch>
        </p:blipFill>
        <p:spPr>
          <a:xfrm>
            <a:off x="1051560" y="1874520"/>
            <a:ext cx="1005840" cy="1005840"/>
          </a:xfrm>
          <a:prstGeom prst="rect">
            <a:avLst/>
          </a:prstGeom>
        </p:spPr>
      </p:pic>
      <p:sp>
        <p:nvSpPr>
          <p:cNvPr id="5" name="Text 2"/>
          <p:cNvSpPr/>
          <p:nvPr/>
        </p:nvSpPr>
        <p:spPr>
          <a:xfrm>
            <a:off x="2560320" y="1554480"/>
            <a:ext cx="5943600" cy="10972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Control Statements &amp; Loops</a:t>
            </a:r>
            <a:endParaRPr lang="en-US" sz="3600" dirty="0"/>
          </a:p>
        </p:txBody>
      </p:sp>
      <p:sp>
        <p:nvSpPr>
          <p:cNvPr id="6" name="Text 3"/>
          <p:cNvSpPr/>
          <p:nvPr/>
        </p:nvSpPr>
        <p:spPr>
          <a:xfrm>
            <a:off x="2560320" y="2834640"/>
            <a:ext cx="5943600" cy="411480"/>
          </a:xfrm>
          <a:prstGeom prst="rect">
            <a:avLst/>
          </a:prstGeom>
          <a:noFill/>
          <a:ln/>
        </p:spPr>
        <p:txBody>
          <a:bodyPr wrap="square" rtlCol="0" anchor="t"/>
          <a:lstStyle/>
          <a:p>
            <a:pPr indent="0" marL="0">
              <a:buNone/>
            </a:pPr>
            <a:r>
              <a:rPr lang="en-US" sz="1500" dirty="0">
                <a:solidFill>
                  <a:srgbClr val="8892B0"/>
                </a:solidFill>
                <a:latin typeface="Calibri" pitchFamily="34" charset="0"/>
                <a:ea typeface="Calibri" pitchFamily="34" charset="-122"/>
                <a:cs typeface="Calibri" pitchFamily="34" charset="-120"/>
              </a:rPr>
              <a:t>For, While, Break, Continue &amp; Pass</a:t>
            </a:r>
            <a:endParaRPr lang="en-US" sz="1500" dirty="0"/>
          </a:p>
        </p:txBody>
      </p:sp>
      <p:sp>
        <p:nvSpPr>
          <p:cNvPr id="7" name="Shape 4"/>
          <p:cNvSpPr/>
          <p:nvPr/>
        </p:nvSpPr>
        <p:spPr>
          <a:xfrm>
            <a:off x="2560320" y="3291840"/>
            <a:ext cx="1097280" cy="36576"/>
          </a:xfrm>
          <a:prstGeom prst="rect">
            <a:avLst/>
          </a:prstGeom>
          <a:solidFill>
            <a:srgbClr val="00D4AA"/>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Text 1"/>
          <p:cNvSpPr/>
          <p:nvPr/>
        </p:nvSpPr>
        <p:spPr>
          <a:xfrm>
            <a:off x="365760" y="164592"/>
            <a:ext cx="8412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For Loop vs While Loop</a:t>
            </a:r>
            <a:endParaRPr lang="en-US" sz="2000" dirty="0"/>
          </a:p>
        </p:txBody>
      </p:sp>
      <p:sp>
        <p:nvSpPr>
          <p:cNvPr id="4" name="Shape 2"/>
          <p:cNvSpPr/>
          <p:nvPr/>
        </p:nvSpPr>
        <p:spPr>
          <a:xfrm>
            <a:off x="365760" y="621792"/>
            <a:ext cx="731520" cy="32004"/>
          </a:xfrm>
          <a:prstGeom prst="rect">
            <a:avLst/>
          </a:prstGeom>
          <a:solidFill>
            <a:srgbClr val="00D4AA"/>
          </a:solidFill>
          <a:ln/>
        </p:spPr>
      </p:sp>
      <p:sp>
        <p:nvSpPr>
          <p:cNvPr id="5" name="Shape 3"/>
          <p:cNvSpPr/>
          <p:nvPr/>
        </p:nvSpPr>
        <p:spPr>
          <a:xfrm>
            <a:off x="274320" y="777240"/>
            <a:ext cx="4206240" cy="4114800"/>
          </a:xfrm>
          <a:prstGeom prst="rect">
            <a:avLst>
              <a:gd name="adj" fmla="val 1778"/>
            </a:avLst>
          </a:prstGeom>
          <a:solidFill>
            <a:srgbClr val="242B3D"/>
          </a:solidFill>
          <a:ln/>
        </p:spPr>
      </p:sp>
      <p:sp>
        <p:nvSpPr>
          <p:cNvPr id="6" name="Shape 4"/>
          <p:cNvSpPr/>
          <p:nvPr/>
        </p:nvSpPr>
        <p:spPr>
          <a:xfrm>
            <a:off x="274320" y="777240"/>
            <a:ext cx="4206240" cy="411480"/>
          </a:xfrm>
          <a:prstGeom prst="rect">
            <a:avLst>
              <a:gd name="adj" fmla="val 17778"/>
            </a:avLst>
          </a:prstGeom>
          <a:solidFill>
            <a:srgbClr val="6C63FF"/>
          </a:solidFill>
          <a:ln/>
        </p:spPr>
      </p:sp>
      <p:sp>
        <p:nvSpPr>
          <p:cNvPr id="7" name="Shape 5"/>
          <p:cNvSpPr/>
          <p:nvPr/>
        </p:nvSpPr>
        <p:spPr>
          <a:xfrm>
            <a:off x="274320" y="978408"/>
            <a:ext cx="4206240" cy="210312"/>
          </a:xfrm>
          <a:prstGeom prst="rect">
            <a:avLst/>
          </a:prstGeom>
          <a:solidFill>
            <a:srgbClr val="6C63FF"/>
          </a:solidFill>
          <a:ln/>
        </p:spPr>
      </p:sp>
      <p:sp>
        <p:nvSpPr>
          <p:cNvPr id="8" name="Text 6"/>
          <p:cNvSpPr/>
          <p:nvPr/>
        </p:nvSpPr>
        <p:spPr>
          <a:xfrm>
            <a:off x="411480" y="804672"/>
            <a:ext cx="393192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For Loop</a:t>
            </a:r>
            <a:endParaRPr lang="en-US" sz="1300" dirty="0"/>
          </a:p>
        </p:txBody>
      </p:sp>
      <p:sp>
        <p:nvSpPr>
          <p:cNvPr id="9" name="Text 7"/>
          <p:cNvSpPr/>
          <p:nvPr/>
        </p:nvSpPr>
        <p:spPr>
          <a:xfrm>
            <a:off x="411480" y="1261872"/>
            <a:ext cx="3931920" cy="3657600"/>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Iterates over a SEQUENCE (list, string, range, etc.)</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Number of iterations is KNOWN beforehand.</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More Pythonic and commonly used.</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Syntax:</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for item in sequence: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do_something()</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Example: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for i in range(5):  # 0,1,2,3,4</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print(i)</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Best for: Known iterations</a:t>
            </a:r>
            <a:endParaRPr lang="en-US" sz="1150" dirty="0"/>
          </a:p>
        </p:txBody>
      </p:sp>
      <p:sp>
        <p:nvSpPr>
          <p:cNvPr id="10" name="Shape 8"/>
          <p:cNvSpPr/>
          <p:nvPr/>
        </p:nvSpPr>
        <p:spPr>
          <a:xfrm>
            <a:off x="4663440" y="777240"/>
            <a:ext cx="4206240" cy="4114800"/>
          </a:xfrm>
          <a:prstGeom prst="rect">
            <a:avLst>
              <a:gd name="adj" fmla="val 1778"/>
            </a:avLst>
          </a:prstGeom>
          <a:solidFill>
            <a:srgbClr val="242B3D"/>
          </a:solidFill>
          <a:ln/>
        </p:spPr>
      </p:sp>
      <p:sp>
        <p:nvSpPr>
          <p:cNvPr id="11" name="Shape 9"/>
          <p:cNvSpPr/>
          <p:nvPr/>
        </p:nvSpPr>
        <p:spPr>
          <a:xfrm>
            <a:off x="4663440" y="777240"/>
            <a:ext cx="4206240" cy="411480"/>
          </a:xfrm>
          <a:prstGeom prst="rect">
            <a:avLst>
              <a:gd name="adj" fmla="val 17778"/>
            </a:avLst>
          </a:prstGeom>
          <a:solidFill>
            <a:srgbClr val="00D4AA"/>
          </a:solidFill>
          <a:ln/>
        </p:spPr>
      </p:sp>
      <p:sp>
        <p:nvSpPr>
          <p:cNvPr id="12" name="Shape 10"/>
          <p:cNvSpPr/>
          <p:nvPr/>
        </p:nvSpPr>
        <p:spPr>
          <a:xfrm>
            <a:off x="4663440" y="978408"/>
            <a:ext cx="4206240" cy="210312"/>
          </a:xfrm>
          <a:prstGeom prst="rect">
            <a:avLst/>
          </a:prstGeom>
          <a:solidFill>
            <a:srgbClr val="00D4AA"/>
          </a:solidFill>
          <a:ln/>
        </p:spPr>
      </p:sp>
      <p:sp>
        <p:nvSpPr>
          <p:cNvPr id="13" name="Text 11"/>
          <p:cNvSpPr/>
          <p:nvPr/>
        </p:nvSpPr>
        <p:spPr>
          <a:xfrm>
            <a:off x="4800600" y="804672"/>
            <a:ext cx="393192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While Loop</a:t>
            </a:r>
            <a:endParaRPr lang="en-US" sz="1300" dirty="0"/>
          </a:p>
        </p:txBody>
      </p:sp>
      <p:sp>
        <p:nvSpPr>
          <p:cNvPr id="14" name="Text 12"/>
          <p:cNvSpPr/>
          <p:nvPr/>
        </p:nvSpPr>
        <p:spPr>
          <a:xfrm>
            <a:off x="4800600" y="1261872"/>
            <a:ext cx="3931920" cy="3657600"/>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Repeats as long as a CONDITION is True.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Number of iterations is NOT known beforehand.</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Can cause infinite loop if condition never becomes False.</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Syntax:</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while condition:</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do_something()</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Example: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i = 0</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while i &lt; 5:</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print(i)</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i += 1</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Best for: Unknown iterations</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the difference between break, continue, and pass?</a:t>
            </a:r>
            <a:endParaRPr lang="en-US" sz="1700" dirty="0"/>
          </a:p>
        </p:txBody>
      </p:sp>
      <p:sp>
        <p:nvSpPr>
          <p:cNvPr id="6" name="Shape 4"/>
          <p:cNvSpPr/>
          <p:nvPr/>
        </p:nvSpPr>
        <p:spPr>
          <a:xfrm>
            <a:off x="365760" y="868680"/>
            <a:ext cx="8412480" cy="1463040"/>
          </a:xfrm>
          <a:prstGeom prst="rect">
            <a:avLst>
              <a:gd name="adj" fmla="val 5000"/>
            </a:avLst>
          </a:prstGeom>
          <a:solidFill>
            <a:srgbClr val="242B3D"/>
          </a:solidFill>
          <a:ln/>
        </p:spPr>
      </p:sp>
      <p:sp>
        <p:nvSpPr>
          <p:cNvPr id="7" name="Shape 5"/>
          <p:cNvSpPr/>
          <p:nvPr/>
        </p:nvSpPr>
        <p:spPr>
          <a:xfrm>
            <a:off x="365760" y="868680"/>
            <a:ext cx="54864" cy="1463040"/>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143000"/>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break: STOPS the loop completely and exits it immediately. Used when you find what you need.</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continue: SKIPS the current iteration and moves to the next one. Used to skip certain conditions.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pass: A NO-OP (does nothing). Used as a placeholder when a block of code is required syntactically but you don't want to do anything yet.</a:t>
            </a:r>
            <a:endParaRPr lang="en-US" sz="1150" dirty="0"/>
          </a:p>
        </p:txBody>
      </p:sp>
      <p:sp>
        <p:nvSpPr>
          <p:cNvPr id="10" name="Shape 8"/>
          <p:cNvSpPr/>
          <p:nvPr/>
        </p:nvSpPr>
        <p:spPr>
          <a:xfrm>
            <a:off x="365760" y="2468880"/>
            <a:ext cx="8412480" cy="2423160"/>
          </a:xfrm>
          <a:prstGeom prst="rect">
            <a:avLst>
              <a:gd name="adj" fmla="val 3019"/>
            </a:avLst>
          </a:prstGeom>
          <a:solidFill>
            <a:srgbClr val="151921"/>
          </a:solidFill>
          <a:ln/>
        </p:spPr>
      </p:sp>
      <p:sp>
        <p:nvSpPr>
          <p:cNvPr id="11" name="Shape 9"/>
          <p:cNvSpPr/>
          <p:nvPr/>
        </p:nvSpPr>
        <p:spPr>
          <a:xfrm>
            <a:off x="365760" y="2468880"/>
            <a:ext cx="54864" cy="2423160"/>
          </a:xfrm>
          <a:prstGeom prst="rect">
            <a:avLst/>
          </a:prstGeom>
          <a:solidFill>
            <a:srgbClr val="FFC107"/>
          </a:solidFill>
          <a:ln/>
        </p:spPr>
      </p:sp>
      <p:sp>
        <p:nvSpPr>
          <p:cNvPr id="12" name="Shape 10"/>
          <p:cNvSpPr/>
          <p:nvPr/>
        </p:nvSpPr>
        <p:spPr>
          <a:xfrm>
            <a:off x="548640" y="2560320"/>
            <a:ext cx="91440" cy="91440"/>
          </a:xfrm>
          <a:prstGeom prst="ellipse">
            <a:avLst/>
          </a:prstGeom>
          <a:solidFill>
            <a:srgbClr val="FF6B6B"/>
          </a:solidFill>
          <a:ln/>
        </p:spPr>
      </p:sp>
      <p:sp>
        <p:nvSpPr>
          <p:cNvPr id="13" name="Shape 11"/>
          <p:cNvSpPr/>
          <p:nvPr/>
        </p:nvSpPr>
        <p:spPr>
          <a:xfrm>
            <a:off x="676656" y="2560320"/>
            <a:ext cx="91440" cy="91440"/>
          </a:xfrm>
          <a:prstGeom prst="ellipse">
            <a:avLst/>
          </a:prstGeom>
          <a:solidFill>
            <a:srgbClr val="FFC107"/>
          </a:solidFill>
          <a:ln/>
        </p:spPr>
      </p:sp>
      <p:sp>
        <p:nvSpPr>
          <p:cNvPr id="14" name="Shape 12"/>
          <p:cNvSpPr/>
          <p:nvPr/>
        </p:nvSpPr>
        <p:spPr>
          <a:xfrm>
            <a:off x="804672" y="2560320"/>
            <a:ext cx="91440" cy="91440"/>
          </a:xfrm>
          <a:prstGeom prst="ellipse">
            <a:avLst/>
          </a:prstGeom>
          <a:solidFill>
            <a:srgbClr val="00D4AA"/>
          </a:solidFill>
          <a:ln/>
        </p:spPr>
      </p:sp>
      <p:sp>
        <p:nvSpPr>
          <p:cNvPr id="15" name="Text 13"/>
          <p:cNvSpPr/>
          <p:nvPr/>
        </p:nvSpPr>
        <p:spPr>
          <a:xfrm>
            <a:off x="1005840" y="2523744"/>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2724912"/>
            <a:ext cx="8138160" cy="2112264"/>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numbers = [1, 2, 3, 4, 5, 6, 7, 8]</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BREAK — stop at 5</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for n in numbers: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if n == 5:</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break</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print(n)         # 1, 2, 3, 4</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CONTINUE — skip even numbers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for n in numbers: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if n % 2 == 0:</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continue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print(n)         # 1, 3, 5, 7</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PASS — placeholder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class MyClass: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pass             # Empty class for now</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C63FF"/>
          </a:solidFill>
          <a:ln/>
        </p:spPr>
      </p:sp>
      <p:sp>
        <p:nvSpPr>
          <p:cNvPr id="3" name="Shape 1"/>
          <p:cNvSpPr/>
          <p:nvPr/>
        </p:nvSpPr>
        <p:spPr>
          <a:xfrm>
            <a:off x="914400" y="1737360"/>
            <a:ext cx="1280160" cy="1280160"/>
          </a:xfrm>
          <a:prstGeom prst="ellipse">
            <a:avLst/>
          </a:prstGeom>
          <a:solidFill>
            <a:srgbClr val="6C63FF">
              <a:alpha val="80000"/>
            </a:srgbClr>
          </a:solidFill>
          <a:ln/>
        </p:spPr>
      </p:sp>
      <p:pic>
        <p:nvPicPr>
          <p:cNvPr id="4" name="Image 0" descr="preencoded.png">    </p:cNvPr>
          <p:cNvPicPr>
            <a:picLocks noChangeAspect="1"/>
          </p:cNvPicPr>
          <p:nvPr/>
        </p:nvPicPr>
        <p:blipFill>
          <a:blip r:embed="rId1"/>
          <a:stretch>
            <a:fillRect/>
          </a:stretch>
        </p:blipFill>
        <p:spPr>
          <a:xfrm>
            <a:off x="1051560" y="1874520"/>
            <a:ext cx="1005840" cy="1005840"/>
          </a:xfrm>
          <a:prstGeom prst="rect">
            <a:avLst/>
          </a:prstGeom>
        </p:spPr>
      </p:pic>
      <p:sp>
        <p:nvSpPr>
          <p:cNvPr id="5" name="Text 2"/>
          <p:cNvSpPr/>
          <p:nvPr/>
        </p:nvSpPr>
        <p:spPr>
          <a:xfrm>
            <a:off x="2560320" y="1554480"/>
            <a:ext cx="5943600" cy="10972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Functions &amp; Functional Programming</a:t>
            </a:r>
            <a:endParaRPr lang="en-US" sz="3600" dirty="0"/>
          </a:p>
        </p:txBody>
      </p:sp>
      <p:sp>
        <p:nvSpPr>
          <p:cNvPr id="6" name="Text 3"/>
          <p:cNvSpPr/>
          <p:nvPr/>
        </p:nvSpPr>
        <p:spPr>
          <a:xfrm>
            <a:off x="2560320" y="2834640"/>
            <a:ext cx="5943600" cy="411480"/>
          </a:xfrm>
          <a:prstGeom prst="rect">
            <a:avLst/>
          </a:prstGeom>
          <a:noFill/>
          <a:ln/>
        </p:spPr>
        <p:txBody>
          <a:bodyPr wrap="square" rtlCol="0" anchor="t"/>
          <a:lstStyle/>
          <a:p>
            <a:pPr indent="0" marL="0">
              <a:buNone/>
            </a:pPr>
            <a:r>
              <a:rPr lang="en-US" sz="1500" dirty="0">
                <a:solidFill>
                  <a:srgbClr val="8892B0"/>
                </a:solidFill>
                <a:latin typeface="Calibri" pitchFamily="34" charset="0"/>
                <a:ea typeface="Calibri" pitchFamily="34" charset="-122"/>
                <a:cs typeface="Calibri" pitchFamily="34" charset="-120"/>
              </a:rPr>
              <a:t>Lambda, Comprehensions, *args &amp; **kwargs</a:t>
            </a:r>
            <a:endParaRPr lang="en-US" sz="1500" dirty="0"/>
          </a:p>
        </p:txBody>
      </p:sp>
      <p:sp>
        <p:nvSpPr>
          <p:cNvPr id="7" name="Shape 4"/>
          <p:cNvSpPr/>
          <p:nvPr/>
        </p:nvSpPr>
        <p:spPr>
          <a:xfrm>
            <a:off x="2560320" y="3291840"/>
            <a:ext cx="1097280" cy="36576"/>
          </a:xfrm>
          <a:prstGeom prst="rect">
            <a:avLst/>
          </a:prstGeom>
          <a:solidFill>
            <a:srgbClr val="00D4AA"/>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a lambda function? Why is it used?</a:t>
            </a:r>
            <a:endParaRPr lang="en-US" sz="1700" dirty="0"/>
          </a:p>
        </p:txBody>
      </p:sp>
      <p:sp>
        <p:nvSpPr>
          <p:cNvPr id="6" name="Shape 4"/>
          <p:cNvSpPr/>
          <p:nvPr/>
        </p:nvSpPr>
        <p:spPr>
          <a:xfrm>
            <a:off x="365760" y="868680"/>
            <a:ext cx="8412480" cy="2176272"/>
          </a:xfrm>
          <a:prstGeom prst="rect">
            <a:avLst>
              <a:gd name="adj" fmla="val 3361"/>
            </a:avLst>
          </a:prstGeom>
          <a:solidFill>
            <a:srgbClr val="242B3D"/>
          </a:solidFill>
          <a:ln/>
        </p:spPr>
      </p:sp>
      <p:sp>
        <p:nvSpPr>
          <p:cNvPr id="7" name="Shape 5"/>
          <p:cNvSpPr/>
          <p:nvPr/>
        </p:nvSpPr>
        <p:spPr>
          <a:xfrm>
            <a:off x="365760" y="868680"/>
            <a:ext cx="54864" cy="2176272"/>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856232"/>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A lambda function is a small, anonymous (nameless) function defined in a single line. It can take any number of arguments but can only have ONE expression.</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Syntax: lambda arguments: expression</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Why use it?</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When you need a small function for a short time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Commonly used with higher-order functions like map(), filter(), sorted()</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Makes code more concise and readable for simple operations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Cannot contain statements — only expressions</a:t>
            </a:r>
            <a:endParaRPr lang="en-US" sz="1150" dirty="0"/>
          </a:p>
        </p:txBody>
      </p:sp>
      <p:sp>
        <p:nvSpPr>
          <p:cNvPr id="10" name="Shape 8"/>
          <p:cNvSpPr/>
          <p:nvPr/>
        </p:nvSpPr>
        <p:spPr>
          <a:xfrm>
            <a:off x="365760" y="3182112"/>
            <a:ext cx="8412480" cy="1709928"/>
          </a:xfrm>
          <a:prstGeom prst="rect">
            <a:avLst>
              <a:gd name="adj" fmla="val 4278"/>
            </a:avLst>
          </a:prstGeom>
          <a:solidFill>
            <a:srgbClr val="151921"/>
          </a:solidFill>
          <a:ln/>
        </p:spPr>
      </p:sp>
      <p:sp>
        <p:nvSpPr>
          <p:cNvPr id="11" name="Shape 9"/>
          <p:cNvSpPr/>
          <p:nvPr/>
        </p:nvSpPr>
        <p:spPr>
          <a:xfrm>
            <a:off x="365760" y="3182112"/>
            <a:ext cx="54864" cy="1709928"/>
          </a:xfrm>
          <a:prstGeom prst="rect">
            <a:avLst/>
          </a:prstGeom>
          <a:solidFill>
            <a:srgbClr val="FFC107"/>
          </a:solidFill>
          <a:ln/>
        </p:spPr>
      </p:sp>
      <p:sp>
        <p:nvSpPr>
          <p:cNvPr id="12" name="Shape 10"/>
          <p:cNvSpPr/>
          <p:nvPr/>
        </p:nvSpPr>
        <p:spPr>
          <a:xfrm>
            <a:off x="548640" y="3273552"/>
            <a:ext cx="91440" cy="91440"/>
          </a:xfrm>
          <a:prstGeom prst="ellipse">
            <a:avLst/>
          </a:prstGeom>
          <a:solidFill>
            <a:srgbClr val="FF6B6B"/>
          </a:solidFill>
          <a:ln/>
        </p:spPr>
      </p:sp>
      <p:sp>
        <p:nvSpPr>
          <p:cNvPr id="13" name="Shape 11"/>
          <p:cNvSpPr/>
          <p:nvPr/>
        </p:nvSpPr>
        <p:spPr>
          <a:xfrm>
            <a:off x="676656" y="3273552"/>
            <a:ext cx="91440" cy="91440"/>
          </a:xfrm>
          <a:prstGeom prst="ellipse">
            <a:avLst/>
          </a:prstGeom>
          <a:solidFill>
            <a:srgbClr val="FFC107"/>
          </a:solidFill>
          <a:ln/>
        </p:spPr>
      </p:sp>
      <p:sp>
        <p:nvSpPr>
          <p:cNvPr id="14" name="Shape 12"/>
          <p:cNvSpPr/>
          <p:nvPr/>
        </p:nvSpPr>
        <p:spPr>
          <a:xfrm>
            <a:off x="804672" y="3273552"/>
            <a:ext cx="91440" cy="91440"/>
          </a:xfrm>
          <a:prstGeom prst="ellipse">
            <a:avLst/>
          </a:prstGeom>
          <a:solidFill>
            <a:srgbClr val="00D4AA"/>
          </a:solidFill>
          <a:ln/>
        </p:spPr>
      </p:sp>
      <p:sp>
        <p:nvSpPr>
          <p:cNvPr id="15" name="Text 13"/>
          <p:cNvSpPr/>
          <p:nvPr/>
        </p:nvSpPr>
        <p:spPr>
          <a:xfrm>
            <a:off x="1005840" y="3236976"/>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438144"/>
            <a:ext cx="8138160" cy="1399032"/>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 Regular function</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def square(x):</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return x * x</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Lambda — same thing in one line!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square = lambda x: x * x</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print(square(5))         # 25</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Lambda with map()</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numbers = [1, 2, 3, 4, 5]</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squared = list(map(lambda x: x**2, numbers))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print(squared)           # [1, 4, 9, 16, 25]</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Lambda with sorted()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words = ["banana", "apple", "cherry"]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sorted_words = sorted(words, key=lambda x: len(x))</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are *args and **kwargs in Python?</a:t>
            </a:r>
            <a:endParaRPr lang="en-US" sz="1700" dirty="0"/>
          </a:p>
        </p:txBody>
      </p:sp>
      <p:sp>
        <p:nvSpPr>
          <p:cNvPr id="6" name="Shape 4"/>
          <p:cNvSpPr/>
          <p:nvPr/>
        </p:nvSpPr>
        <p:spPr>
          <a:xfrm>
            <a:off x="365760" y="868680"/>
            <a:ext cx="8412480" cy="2176272"/>
          </a:xfrm>
          <a:prstGeom prst="rect">
            <a:avLst>
              <a:gd name="adj" fmla="val 3361"/>
            </a:avLst>
          </a:prstGeom>
          <a:solidFill>
            <a:srgbClr val="242B3D"/>
          </a:solidFill>
          <a:ln/>
        </p:spPr>
      </p:sp>
      <p:sp>
        <p:nvSpPr>
          <p:cNvPr id="7" name="Shape 5"/>
          <p:cNvSpPr/>
          <p:nvPr/>
        </p:nvSpPr>
        <p:spPr>
          <a:xfrm>
            <a:off x="365760" y="868680"/>
            <a:ext cx="54864" cy="2176272"/>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856232"/>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*args (Variable Positional Arguments): Allows a function to accept any NUMBER of positional arguments. Stored as a TUPLE.</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**kwargs (Variable Keyword Arguments): Allows a function to accept any NUMBER of keyword arguments. Stored as a DICTIONARY.</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Why use them?</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When you don't know how many arguments will be passed</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Makes functions flexible and reusable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*args comes BEFORE **kwargs in function definition</a:t>
            </a:r>
            <a:endParaRPr lang="en-US" sz="1150" dirty="0"/>
          </a:p>
        </p:txBody>
      </p:sp>
      <p:sp>
        <p:nvSpPr>
          <p:cNvPr id="10" name="Shape 8"/>
          <p:cNvSpPr/>
          <p:nvPr/>
        </p:nvSpPr>
        <p:spPr>
          <a:xfrm>
            <a:off x="365760" y="3182112"/>
            <a:ext cx="8412480" cy="1709928"/>
          </a:xfrm>
          <a:prstGeom prst="rect">
            <a:avLst>
              <a:gd name="adj" fmla="val 4278"/>
            </a:avLst>
          </a:prstGeom>
          <a:solidFill>
            <a:srgbClr val="151921"/>
          </a:solidFill>
          <a:ln/>
        </p:spPr>
      </p:sp>
      <p:sp>
        <p:nvSpPr>
          <p:cNvPr id="11" name="Shape 9"/>
          <p:cNvSpPr/>
          <p:nvPr/>
        </p:nvSpPr>
        <p:spPr>
          <a:xfrm>
            <a:off x="365760" y="3182112"/>
            <a:ext cx="54864" cy="1709928"/>
          </a:xfrm>
          <a:prstGeom prst="rect">
            <a:avLst/>
          </a:prstGeom>
          <a:solidFill>
            <a:srgbClr val="FFC107"/>
          </a:solidFill>
          <a:ln/>
        </p:spPr>
      </p:sp>
      <p:sp>
        <p:nvSpPr>
          <p:cNvPr id="12" name="Shape 10"/>
          <p:cNvSpPr/>
          <p:nvPr/>
        </p:nvSpPr>
        <p:spPr>
          <a:xfrm>
            <a:off x="548640" y="3273552"/>
            <a:ext cx="91440" cy="91440"/>
          </a:xfrm>
          <a:prstGeom prst="ellipse">
            <a:avLst/>
          </a:prstGeom>
          <a:solidFill>
            <a:srgbClr val="FF6B6B"/>
          </a:solidFill>
          <a:ln/>
        </p:spPr>
      </p:sp>
      <p:sp>
        <p:nvSpPr>
          <p:cNvPr id="13" name="Shape 11"/>
          <p:cNvSpPr/>
          <p:nvPr/>
        </p:nvSpPr>
        <p:spPr>
          <a:xfrm>
            <a:off x="676656" y="3273552"/>
            <a:ext cx="91440" cy="91440"/>
          </a:xfrm>
          <a:prstGeom prst="ellipse">
            <a:avLst/>
          </a:prstGeom>
          <a:solidFill>
            <a:srgbClr val="FFC107"/>
          </a:solidFill>
          <a:ln/>
        </p:spPr>
      </p:sp>
      <p:sp>
        <p:nvSpPr>
          <p:cNvPr id="14" name="Shape 12"/>
          <p:cNvSpPr/>
          <p:nvPr/>
        </p:nvSpPr>
        <p:spPr>
          <a:xfrm>
            <a:off x="804672" y="3273552"/>
            <a:ext cx="91440" cy="91440"/>
          </a:xfrm>
          <a:prstGeom prst="ellipse">
            <a:avLst/>
          </a:prstGeom>
          <a:solidFill>
            <a:srgbClr val="00D4AA"/>
          </a:solidFill>
          <a:ln/>
        </p:spPr>
      </p:sp>
      <p:sp>
        <p:nvSpPr>
          <p:cNvPr id="15" name="Text 13"/>
          <p:cNvSpPr/>
          <p:nvPr/>
        </p:nvSpPr>
        <p:spPr>
          <a:xfrm>
            <a:off x="1005840" y="3236976"/>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438144"/>
            <a:ext cx="8138160" cy="1399032"/>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def greet(*args):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for name in args: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print(f"Hello, {name}!")</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greet("Alice", "Bob", "Charlie")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Hello, Alice! Hello, Bob! Hello, Charlie!</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def info(**kwargs):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for key, value in kwargs.items():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print(f"{key}: {value}")</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info(name="Alice", age=25, city="NYC")</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name: Alice  age: 25  city: NYC</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list comprehension?</a:t>
            </a:r>
            <a:endParaRPr lang="en-US" sz="1700" dirty="0"/>
          </a:p>
        </p:txBody>
      </p:sp>
      <p:sp>
        <p:nvSpPr>
          <p:cNvPr id="6" name="Shape 4"/>
          <p:cNvSpPr/>
          <p:nvPr/>
        </p:nvSpPr>
        <p:spPr>
          <a:xfrm>
            <a:off x="365760" y="868680"/>
            <a:ext cx="8412480" cy="2176272"/>
          </a:xfrm>
          <a:prstGeom prst="rect">
            <a:avLst>
              <a:gd name="adj" fmla="val 3361"/>
            </a:avLst>
          </a:prstGeom>
          <a:solidFill>
            <a:srgbClr val="242B3D"/>
          </a:solidFill>
          <a:ln/>
        </p:spPr>
      </p:sp>
      <p:sp>
        <p:nvSpPr>
          <p:cNvPr id="7" name="Shape 5"/>
          <p:cNvSpPr/>
          <p:nvPr/>
        </p:nvSpPr>
        <p:spPr>
          <a:xfrm>
            <a:off x="365760" y="868680"/>
            <a:ext cx="54864" cy="2176272"/>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856232"/>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List comprehension is a concise way to create a new list based on an existing iterable, in a SINGLE LINE. It is more readable and faster than using a for loop with append().</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Syntax: [expression for item in iterable if condition]</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Advantages: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More concise and readable than traditional loops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Faster than regular for loops (optimized internally)</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Can include conditions (if) to filter elements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Similar concepts exist for sets, dicts, and generators</a:t>
            </a:r>
            <a:endParaRPr lang="en-US" sz="1150" dirty="0"/>
          </a:p>
        </p:txBody>
      </p:sp>
      <p:sp>
        <p:nvSpPr>
          <p:cNvPr id="10" name="Shape 8"/>
          <p:cNvSpPr/>
          <p:nvPr/>
        </p:nvSpPr>
        <p:spPr>
          <a:xfrm>
            <a:off x="365760" y="3182112"/>
            <a:ext cx="8412480" cy="1709928"/>
          </a:xfrm>
          <a:prstGeom prst="rect">
            <a:avLst>
              <a:gd name="adj" fmla="val 4278"/>
            </a:avLst>
          </a:prstGeom>
          <a:solidFill>
            <a:srgbClr val="151921"/>
          </a:solidFill>
          <a:ln/>
        </p:spPr>
      </p:sp>
      <p:sp>
        <p:nvSpPr>
          <p:cNvPr id="11" name="Shape 9"/>
          <p:cNvSpPr/>
          <p:nvPr/>
        </p:nvSpPr>
        <p:spPr>
          <a:xfrm>
            <a:off x="365760" y="3182112"/>
            <a:ext cx="54864" cy="1709928"/>
          </a:xfrm>
          <a:prstGeom prst="rect">
            <a:avLst/>
          </a:prstGeom>
          <a:solidFill>
            <a:srgbClr val="FFC107"/>
          </a:solidFill>
          <a:ln/>
        </p:spPr>
      </p:sp>
      <p:sp>
        <p:nvSpPr>
          <p:cNvPr id="12" name="Shape 10"/>
          <p:cNvSpPr/>
          <p:nvPr/>
        </p:nvSpPr>
        <p:spPr>
          <a:xfrm>
            <a:off x="548640" y="3273552"/>
            <a:ext cx="91440" cy="91440"/>
          </a:xfrm>
          <a:prstGeom prst="ellipse">
            <a:avLst/>
          </a:prstGeom>
          <a:solidFill>
            <a:srgbClr val="FF6B6B"/>
          </a:solidFill>
          <a:ln/>
        </p:spPr>
      </p:sp>
      <p:sp>
        <p:nvSpPr>
          <p:cNvPr id="13" name="Shape 11"/>
          <p:cNvSpPr/>
          <p:nvPr/>
        </p:nvSpPr>
        <p:spPr>
          <a:xfrm>
            <a:off x="676656" y="3273552"/>
            <a:ext cx="91440" cy="91440"/>
          </a:xfrm>
          <a:prstGeom prst="ellipse">
            <a:avLst/>
          </a:prstGeom>
          <a:solidFill>
            <a:srgbClr val="FFC107"/>
          </a:solidFill>
          <a:ln/>
        </p:spPr>
      </p:sp>
      <p:sp>
        <p:nvSpPr>
          <p:cNvPr id="14" name="Shape 12"/>
          <p:cNvSpPr/>
          <p:nvPr/>
        </p:nvSpPr>
        <p:spPr>
          <a:xfrm>
            <a:off x="804672" y="3273552"/>
            <a:ext cx="91440" cy="91440"/>
          </a:xfrm>
          <a:prstGeom prst="ellipse">
            <a:avLst/>
          </a:prstGeom>
          <a:solidFill>
            <a:srgbClr val="00D4AA"/>
          </a:solidFill>
          <a:ln/>
        </p:spPr>
      </p:sp>
      <p:sp>
        <p:nvSpPr>
          <p:cNvPr id="15" name="Text 13"/>
          <p:cNvSpPr/>
          <p:nvPr/>
        </p:nvSpPr>
        <p:spPr>
          <a:xfrm>
            <a:off x="1005840" y="3236976"/>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438144"/>
            <a:ext cx="8138160" cy="1399032"/>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 Traditional way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squares = []</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for i in range(5):</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squares.append(i ** 2)</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List Comprehension — same in ONE line!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squares = [i ** 2 for i in range(5)]</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print(squares)   # [0, 1, 4, 9, 16]</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With condition (filter even numbers)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evens = [x for x in range(10) if x % 2 == 0]</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print(evens)     # [0, 2, 4, 6, 8]</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Dict comprehension</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square_dict = {x: x**2 for x in range(5)}</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zip()? What is the difference between append() and extend()?</a:t>
            </a:r>
            <a:endParaRPr lang="en-US" sz="1700" dirty="0"/>
          </a:p>
        </p:txBody>
      </p:sp>
      <p:sp>
        <p:nvSpPr>
          <p:cNvPr id="6" name="Shape 4"/>
          <p:cNvSpPr/>
          <p:nvPr/>
        </p:nvSpPr>
        <p:spPr>
          <a:xfrm>
            <a:off x="365760" y="868680"/>
            <a:ext cx="8412480" cy="1819656"/>
          </a:xfrm>
          <a:prstGeom prst="rect">
            <a:avLst>
              <a:gd name="adj" fmla="val 4020"/>
            </a:avLst>
          </a:prstGeom>
          <a:solidFill>
            <a:srgbClr val="242B3D"/>
          </a:solidFill>
          <a:ln/>
        </p:spPr>
      </p:sp>
      <p:sp>
        <p:nvSpPr>
          <p:cNvPr id="7" name="Shape 5"/>
          <p:cNvSpPr/>
          <p:nvPr/>
        </p:nvSpPr>
        <p:spPr>
          <a:xfrm>
            <a:off x="365760" y="868680"/>
            <a:ext cx="54864" cy="1819656"/>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499616"/>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zip(): Combines two or more iterables element by element into tuples. Stops at the shortest iterable.</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append() vs extend():</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append(): Adds a SINGLE element (even if it's a list, it adds as one element)</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extend(): Adds EACH element of an iterable individually to the list</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This is a common source of bugs! Always remember: append adds ONE thing, extend adds EACH thing.</a:t>
            </a:r>
            <a:endParaRPr lang="en-US" sz="1150" dirty="0"/>
          </a:p>
        </p:txBody>
      </p:sp>
      <p:sp>
        <p:nvSpPr>
          <p:cNvPr id="10" name="Shape 8"/>
          <p:cNvSpPr/>
          <p:nvPr/>
        </p:nvSpPr>
        <p:spPr>
          <a:xfrm>
            <a:off x="365760" y="2825496"/>
            <a:ext cx="8412480" cy="2066544"/>
          </a:xfrm>
          <a:prstGeom prst="rect">
            <a:avLst>
              <a:gd name="adj" fmla="val 3540"/>
            </a:avLst>
          </a:prstGeom>
          <a:solidFill>
            <a:srgbClr val="151921"/>
          </a:solidFill>
          <a:ln/>
        </p:spPr>
      </p:sp>
      <p:sp>
        <p:nvSpPr>
          <p:cNvPr id="11" name="Shape 9"/>
          <p:cNvSpPr/>
          <p:nvPr/>
        </p:nvSpPr>
        <p:spPr>
          <a:xfrm>
            <a:off x="365760" y="2825496"/>
            <a:ext cx="54864" cy="2066544"/>
          </a:xfrm>
          <a:prstGeom prst="rect">
            <a:avLst/>
          </a:prstGeom>
          <a:solidFill>
            <a:srgbClr val="FFC107"/>
          </a:solidFill>
          <a:ln/>
        </p:spPr>
      </p:sp>
      <p:sp>
        <p:nvSpPr>
          <p:cNvPr id="12" name="Shape 10"/>
          <p:cNvSpPr/>
          <p:nvPr/>
        </p:nvSpPr>
        <p:spPr>
          <a:xfrm>
            <a:off x="548640" y="2916936"/>
            <a:ext cx="91440" cy="91440"/>
          </a:xfrm>
          <a:prstGeom prst="ellipse">
            <a:avLst/>
          </a:prstGeom>
          <a:solidFill>
            <a:srgbClr val="FF6B6B"/>
          </a:solidFill>
          <a:ln/>
        </p:spPr>
      </p:sp>
      <p:sp>
        <p:nvSpPr>
          <p:cNvPr id="13" name="Shape 11"/>
          <p:cNvSpPr/>
          <p:nvPr/>
        </p:nvSpPr>
        <p:spPr>
          <a:xfrm>
            <a:off x="676656" y="2916936"/>
            <a:ext cx="91440" cy="91440"/>
          </a:xfrm>
          <a:prstGeom prst="ellipse">
            <a:avLst/>
          </a:prstGeom>
          <a:solidFill>
            <a:srgbClr val="FFC107"/>
          </a:solidFill>
          <a:ln/>
        </p:spPr>
      </p:sp>
      <p:sp>
        <p:nvSpPr>
          <p:cNvPr id="14" name="Shape 12"/>
          <p:cNvSpPr/>
          <p:nvPr/>
        </p:nvSpPr>
        <p:spPr>
          <a:xfrm>
            <a:off x="804672" y="2916936"/>
            <a:ext cx="91440" cy="91440"/>
          </a:xfrm>
          <a:prstGeom prst="ellipse">
            <a:avLst/>
          </a:prstGeom>
          <a:solidFill>
            <a:srgbClr val="00D4AA"/>
          </a:solidFill>
          <a:ln/>
        </p:spPr>
      </p:sp>
      <p:sp>
        <p:nvSpPr>
          <p:cNvPr id="15" name="Text 13"/>
          <p:cNvSpPr/>
          <p:nvPr/>
        </p:nvSpPr>
        <p:spPr>
          <a:xfrm>
            <a:off x="1005840" y="2880360"/>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081528"/>
            <a:ext cx="8138160" cy="1755648"/>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names = ["Alice", "Bob"]</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ages = [25, 30]</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zip — combines element by element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for name, age in zip(names, ages):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print(f"{name} is {age}")  # Alice:25, Bob:30</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append vs extend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my_list = [1, 2, 3]</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my_list.append([4, 5])    # [1, 2, 3, [4, 5]]</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my_list2 = [1, 2, 3]</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my_list2.extend([4, 5])   # [1, 2, 3, 4, 5]</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C63FF"/>
          </a:solidFill>
          <a:ln/>
        </p:spPr>
      </p:sp>
      <p:sp>
        <p:nvSpPr>
          <p:cNvPr id="3" name="Shape 1"/>
          <p:cNvSpPr/>
          <p:nvPr/>
        </p:nvSpPr>
        <p:spPr>
          <a:xfrm>
            <a:off x="914400" y="1737360"/>
            <a:ext cx="1280160" cy="1280160"/>
          </a:xfrm>
          <a:prstGeom prst="ellipse">
            <a:avLst/>
          </a:prstGeom>
          <a:solidFill>
            <a:srgbClr val="6C63FF">
              <a:alpha val="80000"/>
            </a:srgbClr>
          </a:solidFill>
          <a:ln/>
        </p:spPr>
      </p:sp>
      <p:pic>
        <p:nvPicPr>
          <p:cNvPr id="4" name="Image 0" descr="preencoded.png">    </p:cNvPr>
          <p:cNvPicPr>
            <a:picLocks noChangeAspect="1"/>
          </p:cNvPicPr>
          <p:nvPr/>
        </p:nvPicPr>
        <p:blipFill>
          <a:blip r:embed="rId1"/>
          <a:stretch>
            <a:fillRect/>
          </a:stretch>
        </p:blipFill>
        <p:spPr>
          <a:xfrm>
            <a:off x="1051560" y="1874520"/>
            <a:ext cx="1005840" cy="1005840"/>
          </a:xfrm>
          <a:prstGeom prst="rect">
            <a:avLst/>
          </a:prstGeom>
        </p:spPr>
      </p:pic>
      <p:sp>
        <p:nvSpPr>
          <p:cNvPr id="5" name="Text 2"/>
          <p:cNvSpPr/>
          <p:nvPr/>
        </p:nvSpPr>
        <p:spPr>
          <a:xfrm>
            <a:off x="2560320" y="1554480"/>
            <a:ext cx="5943600" cy="10972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Modules, Packages &amp; Built-ins</a:t>
            </a:r>
            <a:endParaRPr lang="en-US" sz="3600" dirty="0"/>
          </a:p>
        </p:txBody>
      </p:sp>
      <p:sp>
        <p:nvSpPr>
          <p:cNvPr id="6" name="Text 3"/>
          <p:cNvSpPr/>
          <p:nvPr/>
        </p:nvSpPr>
        <p:spPr>
          <a:xfrm>
            <a:off x="2560320" y="2834640"/>
            <a:ext cx="5943600" cy="411480"/>
          </a:xfrm>
          <a:prstGeom prst="rect">
            <a:avLst/>
          </a:prstGeom>
          <a:noFill/>
          <a:ln/>
        </p:spPr>
        <p:txBody>
          <a:bodyPr wrap="square" rtlCol="0" anchor="t"/>
          <a:lstStyle/>
          <a:p>
            <a:pPr indent="0" marL="0">
              <a:buNone/>
            </a:pPr>
            <a:r>
              <a:rPr lang="en-US" sz="1500" dirty="0">
                <a:solidFill>
                  <a:srgbClr val="8892B0"/>
                </a:solidFill>
                <a:latin typeface="Calibri" pitchFamily="34" charset="0"/>
                <a:ea typeface="Calibri" pitchFamily="34" charset="-122"/>
                <a:cs typeface="Calibri" pitchFamily="34" charset="-120"/>
              </a:rPr>
              <a:t>Imports, PIP &amp; Python Ecosystem</a:t>
            </a:r>
            <a:endParaRPr lang="en-US" sz="1500" dirty="0"/>
          </a:p>
        </p:txBody>
      </p:sp>
      <p:sp>
        <p:nvSpPr>
          <p:cNvPr id="7" name="Shape 4"/>
          <p:cNvSpPr/>
          <p:nvPr/>
        </p:nvSpPr>
        <p:spPr>
          <a:xfrm>
            <a:off x="2560320" y="3291840"/>
            <a:ext cx="1097280" cy="36576"/>
          </a:xfrm>
          <a:prstGeom prst="rect">
            <a:avLst/>
          </a:prstGeom>
          <a:solidFill>
            <a:srgbClr val="00D4AA"/>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Module vs Package? What is PIP? Common built-in modules?</a:t>
            </a:r>
            <a:endParaRPr lang="en-US" sz="1700" dirty="0"/>
          </a:p>
        </p:txBody>
      </p:sp>
      <p:sp>
        <p:nvSpPr>
          <p:cNvPr id="6" name="Shape 4"/>
          <p:cNvSpPr/>
          <p:nvPr/>
        </p:nvSpPr>
        <p:spPr>
          <a:xfrm>
            <a:off x="365760" y="868680"/>
            <a:ext cx="8412480" cy="2176272"/>
          </a:xfrm>
          <a:prstGeom prst="rect">
            <a:avLst>
              <a:gd name="adj" fmla="val 3361"/>
            </a:avLst>
          </a:prstGeom>
          <a:solidFill>
            <a:srgbClr val="242B3D"/>
          </a:solidFill>
          <a:ln/>
        </p:spPr>
      </p:sp>
      <p:sp>
        <p:nvSpPr>
          <p:cNvPr id="7" name="Shape 5"/>
          <p:cNvSpPr/>
          <p:nvPr/>
        </p:nvSpPr>
        <p:spPr>
          <a:xfrm>
            <a:off x="365760" y="868680"/>
            <a:ext cx="54864" cy="2176272"/>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856232"/>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Module: A SINGLE Python file (.py) that contains functions, classes, or variables. Can be imported into other files.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Package: A DIRECTORY (folder) containing multiple modules and an __init__.py file. Packages organize related modules together.</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PIP: Package Installer for Python — a command-line tool to install, upgrade, and remove third-party packages from PyPI (Python Package Index).</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Common built-in modules: os, sys, math, json, datetime, random, collections, itertools, functools</a:t>
            </a:r>
            <a:endParaRPr lang="en-US" sz="1150" dirty="0"/>
          </a:p>
        </p:txBody>
      </p:sp>
      <p:sp>
        <p:nvSpPr>
          <p:cNvPr id="10" name="Shape 8"/>
          <p:cNvSpPr/>
          <p:nvPr/>
        </p:nvSpPr>
        <p:spPr>
          <a:xfrm>
            <a:off x="365760" y="3182112"/>
            <a:ext cx="8412480" cy="1709928"/>
          </a:xfrm>
          <a:prstGeom prst="rect">
            <a:avLst>
              <a:gd name="adj" fmla="val 4278"/>
            </a:avLst>
          </a:prstGeom>
          <a:solidFill>
            <a:srgbClr val="151921"/>
          </a:solidFill>
          <a:ln/>
        </p:spPr>
      </p:sp>
      <p:sp>
        <p:nvSpPr>
          <p:cNvPr id="11" name="Shape 9"/>
          <p:cNvSpPr/>
          <p:nvPr/>
        </p:nvSpPr>
        <p:spPr>
          <a:xfrm>
            <a:off x="365760" y="3182112"/>
            <a:ext cx="54864" cy="1709928"/>
          </a:xfrm>
          <a:prstGeom prst="rect">
            <a:avLst/>
          </a:prstGeom>
          <a:solidFill>
            <a:srgbClr val="FFC107"/>
          </a:solidFill>
          <a:ln/>
        </p:spPr>
      </p:sp>
      <p:sp>
        <p:nvSpPr>
          <p:cNvPr id="12" name="Shape 10"/>
          <p:cNvSpPr/>
          <p:nvPr/>
        </p:nvSpPr>
        <p:spPr>
          <a:xfrm>
            <a:off x="548640" y="3273552"/>
            <a:ext cx="91440" cy="91440"/>
          </a:xfrm>
          <a:prstGeom prst="ellipse">
            <a:avLst/>
          </a:prstGeom>
          <a:solidFill>
            <a:srgbClr val="FF6B6B"/>
          </a:solidFill>
          <a:ln/>
        </p:spPr>
      </p:sp>
      <p:sp>
        <p:nvSpPr>
          <p:cNvPr id="13" name="Shape 11"/>
          <p:cNvSpPr/>
          <p:nvPr/>
        </p:nvSpPr>
        <p:spPr>
          <a:xfrm>
            <a:off x="676656" y="3273552"/>
            <a:ext cx="91440" cy="91440"/>
          </a:xfrm>
          <a:prstGeom prst="ellipse">
            <a:avLst/>
          </a:prstGeom>
          <a:solidFill>
            <a:srgbClr val="FFC107"/>
          </a:solidFill>
          <a:ln/>
        </p:spPr>
      </p:sp>
      <p:sp>
        <p:nvSpPr>
          <p:cNvPr id="14" name="Shape 12"/>
          <p:cNvSpPr/>
          <p:nvPr/>
        </p:nvSpPr>
        <p:spPr>
          <a:xfrm>
            <a:off x="804672" y="3273552"/>
            <a:ext cx="91440" cy="91440"/>
          </a:xfrm>
          <a:prstGeom prst="ellipse">
            <a:avLst/>
          </a:prstGeom>
          <a:solidFill>
            <a:srgbClr val="00D4AA"/>
          </a:solidFill>
          <a:ln/>
        </p:spPr>
      </p:sp>
      <p:sp>
        <p:nvSpPr>
          <p:cNvPr id="15" name="Text 13"/>
          <p:cNvSpPr/>
          <p:nvPr/>
        </p:nvSpPr>
        <p:spPr>
          <a:xfrm>
            <a:off x="1005840" y="3236976"/>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438144"/>
            <a:ext cx="8138160" cy="1399032"/>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 Module — single file (math_utils.py)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def add(a, b):</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return a + b</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Import module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import math_utils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math_utils.add(2, 3)</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Package — directory structure: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my_package/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__init__.py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module1.py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module2.py</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PIP commands: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pip install numpy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pip install --upgrade pandas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pip uninstall flask</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C63FF"/>
          </a:solidFill>
          <a:ln/>
        </p:spPr>
      </p:sp>
      <p:sp>
        <p:nvSpPr>
          <p:cNvPr id="3" name="Shape 1"/>
          <p:cNvSpPr/>
          <p:nvPr/>
        </p:nvSpPr>
        <p:spPr>
          <a:xfrm>
            <a:off x="914400" y="1737360"/>
            <a:ext cx="1280160" cy="1280160"/>
          </a:xfrm>
          <a:prstGeom prst="ellipse">
            <a:avLst/>
          </a:prstGeom>
          <a:solidFill>
            <a:srgbClr val="6C63FF">
              <a:alpha val="80000"/>
            </a:srgbClr>
          </a:solidFill>
          <a:ln/>
        </p:spPr>
      </p:sp>
      <p:pic>
        <p:nvPicPr>
          <p:cNvPr id="4" name="Image 0" descr="preencoded.png">    </p:cNvPr>
          <p:cNvPicPr>
            <a:picLocks noChangeAspect="1"/>
          </p:cNvPicPr>
          <p:nvPr/>
        </p:nvPicPr>
        <p:blipFill>
          <a:blip r:embed="rId1"/>
          <a:stretch>
            <a:fillRect/>
          </a:stretch>
        </p:blipFill>
        <p:spPr>
          <a:xfrm>
            <a:off x="1051560" y="1874520"/>
            <a:ext cx="1005840" cy="1005840"/>
          </a:xfrm>
          <a:prstGeom prst="rect">
            <a:avLst/>
          </a:prstGeom>
        </p:spPr>
      </p:pic>
      <p:sp>
        <p:nvSpPr>
          <p:cNvPr id="5" name="Text 2"/>
          <p:cNvSpPr/>
          <p:nvPr/>
        </p:nvSpPr>
        <p:spPr>
          <a:xfrm>
            <a:off x="2560320" y="1554480"/>
            <a:ext cx="5943600" cy="10972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Object-Oriented Programming</a:t>
            </a:r>
            <a:endParaRPr lang="en-US" sz="3600" dirty="0"/>
          </a:p>
        </p:txBody>
      </p:sp>
      <p:sp>
        <p:nvSpPr>
          <p:cNvPr id="6" name="Text 3"/>
          <p:cNvSpPr/>
          <p:nvPr/>
        </p:nvSpPr>
        <p:spPr>
          <a:xfrm>
            <a:off x="2560320" y="2834640"/>
            <a:ext cx="5943600" cy="411480"/>
          </a:xfrm>
          <a:prstGeom prst="rect">
            <a:avLst/>
          </a:prstGeom>
          <a:noFill/>
          <a:ln/>
        </p:spPr>
        <p:txBody>
          <a:bodyPr wrap="square" rtlCol="0" anchor="t"/>
          <a:lstStyle/>
          <a:p>
            <a:pPr indent="0" marL="0">
              <a:buNone/>
            </a:pPr>
            <a:r>
              <a:rPr lang="en-US" sz="1500" dirty="0">
                <a:solidFill>
                  <a:srgbClr val="8892B0"/>
                </a:solidFill>
                <a:latin typeface="Calibri" pitchFamily="34" charset="0"/>
                <a:ea typeface="Calibri" pitchFamily="34" charset="-122"/>
                <a:cs typeface="Calibri" pitchFamily="34" charset="-120"/>
              </a:rPr>
              <a:t>Classes, Inheritance, Encapsulation &amp; More</a:t>
            </a:r>
            <a:endParaRPr lang="en-US" sz="1500" dirty="0"/>
          </a:p>
        </p:txBody>
      </p:sp>
      <p:sp>
        <p:nvSpPr>
          <p:cNvPr id="7" name="Shape 4"/>
          <p:cNvSpPr/>
          <p:nvPr/>
        </p:nvSpPr>
        <p:spPr>
          <a:xfrm>
            <a:off x="2560320" y="3291840"/>
            <a:ext cx="1097280" cy="36576"/>
          </a:xfrm>
          <a:prstGeom prst="rect">
            <a:avLst/>
          </a:prstGeom>
          <a:solidFill>
            <a:srgbClr val="00D4AA"/>
          </a:solidFill>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How are classes created in Python? What is the significance of self?</a:t>
            </a:r>
            <a:endParaRPr lang="en-US" sz="1700" dirty="0"/>
          </a:p>
        </p:txBody>
      </p:sp>
      <p:sp>
        <p:nvSpPr>
          <p:cNvPr id="6" name="Shape 4"/>
          <p:cNvSpPr/>
          <p:nvPr/>
        </p:nvSpPr>
        <p:spPr>
          <a:xfrm>
            <a:off x="365760" y="868680"/>
            <a:ext cx="8412480" cy="1819656"/>
          </a:xfrm>
          <a:prstGeom prst="rect">
            <a:avLst>
              <a:gd name="adj" fmla="val 4020"/>
            </a:avLst>
          </a:prstGeom>
          <a:solidFill>
            <a:srgbClr val="242B3D"/>
          </a:solidFill>
          <a:ln/>
        </p:spPr>
      </p:sp>
      <p:sp>
        <p:nvSpPr>
          <p:cNvPr id="7" name="Shape 5"/>
          <p:cNvSpPr/>
          <p:nvPr/>
        </p:nvSpPr>
        <p:spPr>
          <a:xfrm>
            <a:off x="365760" y="868680"/>
            <a:ext cx="54864" cy="1819656"/>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499616"/>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A class is a BLUEPRINT for creating objects. It defines attributes (data) and methods (functions). An object is an INSTANCE of a class.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self: Refers to the current instance of the class. It is always the first parameter of instance methods. It allows access to instance attributes and methods. It is a convention — you could use any name, but 'self' is the standard.</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__init__: The constructor method — called automatically when an object is created.</a:t>
            </a:r>
            <a:endParaRPr lang="en-US" sz="1150" dirty="0"/>
          </a:p>
        </p:txBody>
      </p:sp>
      <p:sp>
        <p:nvSpPr>
          <p:cNvPr id="10" name="Shape 8"/>
          <p:cNvSpPr/>
          <p:nvPr/>
        </p:nvSpPr>
        <p:spPr>
          <a:xfrm>
            <a:off x="365760" y="2825496"/>
            <a:ext cx="8412480" cy="2066544"/>
          </a:xfrm>
          <a:prstGeom prst="rect">
            <a:avLst>
              <a:gd name="adj" fmla="val 3540"/>
            </a:avLst>
          </a:prstGeom>
          <a:solidFill>
            <a:srgbClr val="151921"/>
          </a:solidFill>
          <a:ln/>
        </p:spPr>
      </p:sp>
      <p:sp>
        <p:nvSpPr>
          <p:cNvPr id="11" name="Shape 9"/>
          <p:cNvSpPr/>
          <p:nvPr/>
        </p:nvSpPr>
        <p:spPr>
          <a:xfrm>
            <a:off x="365760" y="2825496"/>
            <a:ext cx="54864" cy="2066544"/>
          </a:xfrm>
          <a:prstGeom prst="rect">
            <a:avLst/>
          </a:prstGeom>
          <a:solidFill>
            <a:srgbClr val="FFC107"/>
          </a:solidFill>
          <a:ln/>
        </p:spPr>
      </p:sp>
      <p:sp>
        <p:nvSpPr>
          <p:cNvPr id="12" name="Shape 10"/>
          <p:cNvSpPr/>
          <p:nvPr/>
        </p:nvSpPr>
        <p:spPr>
          <a:xfrm>
            <a:off x="548640" y="2916936"/>
            <a:ext cx="91440" cy="91440"/>
          </a:xfrm>
          <a:prstGeom prst="ellipse">
            <a:avLst/>
          </a:prstGeom>
          <a:solidFill>
            <a:srgbClr val="FF6B6B"/>
          </a:solidFill>
          <a:ln/>
        </p:spPr>
      </p:sp>
      <p:sp>
        <p:nvSpPr>
          <p:cNvPr id="13" name="Shape 11"/>
          <p:cNvSpPr/>
          <p:nvPr/>
        </p:nvSpPr>
        <p:spPr>
          <a:xfrm>
            <a:off x="676656" y="2916936"/>
            <a:ext cx="91440" cy="91440"/>
          </a:xfrm>
          <a:prstGeom prst="ellipse">
            <a:avLst/>
          </a:prstGeom>
          <a:solidFill>
            <a:srgbClr val="FFC107"/>
          </a:solidFill>
          <a:ln/>
        </p:spPr>
      </p:sp>
      <p:sp>
        <p:nvSpPr>
          <p:cNvPr id="14" name="Shape 12"/>
          <p:cNvSpPr/>
          <p:nvPr/>
        </p:nvSpPr>
        <p:spPr>
          <a:xfrm>
            <a:off x="804672" y="2916936"/>
            <a:ext cx="91440" cy="91440"/>
          </a:xfrm>
          <a:prstGeom prst="ellipse">
            <a:avLst/>
          </a:prstGeom>
          <a:solidFill>
            <a:srgbClr val="00D4AA"/>
          </a:solidFill>
          <a:ln/>
        </p:spPr>
      </p:sp>
      <p:sp>
        <p:nvSpPr>
          <p:cNvPr id="15" name="Text 13"/>
          <p:cNvSpPr/>
          <p:nvPr/>
        </p:nvSpPr>
        <p:spPr>
          <a:xfrm>
            <a:off x="1005840" y="2880360"/>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081528"/>
            <a:ext cx="8138160" cy="1755648"/>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class Car: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__init__(self, make, model, year):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self.make = make        # instance attribute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self.model = model</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self.year = year</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display(self):</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print(f"{self.year} {self.make} {self.model}")</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Creating an object (instance)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my_car = Car("Toyota", "Camry", 2023)</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my_car.display()   # 2023 Toyota Camry</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inheritance? Does Python support multiple inheritance?</a:t>
            </a:r>
            <a:endParaRPr lang="en-US" sz="1700" dirty="0"/>
          </a:p>
        </p:txBody>
      </p:sp>
      <p:sp>
        <p:nvSpPr>
          <p:cNvPr id="6" name="Shape 4"/>
          <p:cNvSpPr/>
          <p:nvPr/>
        </p:nvSpPr>
        <p:spPr>
          <a:xfrm>
            <a:off x="365760" y="868680"/>
            <a:ext cx="8412480" cy="2176272"/>
          </a:xfrm>
          <a:prstGeom prst="rect">
            <a:avLst>
              <a:gd name="adj" fmla="val 3361"/>
            </a:avLst>
          </a:prstGeom>
          <a:solidFill>
            <a:srgbClr val="242B3D"/>
          </a:solidFill>
          <a:ln/>
        </p:spPr>
      </p:sp>
      <p:sp>
        <p:nvSpPr>
          <p:cNvPr id="7" name="Shape 5"/>
          <p:cNvSpPr/>
          <p:nvPr/>
        </p:nvSpPr>
        <p:spPr>
          <a:xfrm>
            <a:off x="365760" y="868680"/>
            <a:ext cx="54864" cy="2176272"/>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856232"/>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Inheritance: A mechanism where a child class INHERITS attributes and methods from a parent class. The child can also ADD new features or OVERRIDE existing ones.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YES, Python supports Multiple Inheritance — a class can inherit from multiple parent classes.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Key concepts: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Parent/Base class: The class being inherited from</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Child/Derived class: The class that inherits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super(): Used to call the parent class's methods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Method Resolution Order (MRO): Determines which parent's method to call</a:t>
            </a:r>
            <a:endParaRPr lang="en-US" sz="1150" dirty="0"/>
          </a:p>
        </p:txBody>
      </p:sp>
      <p:sp>
        <p:nvSpPr>
          <p:cNvPr id="10" name="Shape 8"/>
          <p:cNvSpPr/>
          <p:nvPr/>
        </p:nvSpPr>
        <p:spPr>
          <a:xfrm>
            <a:off x="365760" y="3182112"/>
            <a:ext cx="8412480" cy="1709928"/>
          </a:xfrm>
          <a:prstGeom prst="rect">
            <a:avLst>
              <a:gd name="adj" fmla="val 4278"/>
            </a:avLst>
          </a:prstGeom>
          <a:solidFill>
            <a:srgbClr val="151921"/>
          </a:solidFill>
          <a:ln/>
        </p:spPr>
      </p:sp>
      <p:sp>
        <p:nvSpPr>
          <p:cNvPr id="11" name="Shape 9"/>
          <p:cNvSpPr/>
          <p:nvPr/>
        </p:nvSpPr>
        <p:spPr>
          <a:xfrm>
            <a:off x="365760" y="3182112"/>
            <a:ext cx="54864" cy="1709928"/>
          </a:xfrm>
          <a:prstGeom prst="rect">
            <a:avLst/>
          </a:prstGeom>
          <a:solidFill>
            <a:srgbClr val="FFC107"/>
          </a:solidFill>
          <a:ln/>
        </p:spPr>
      </p:sp>
      <p:sp>
        <p:nvSpPr>
          <p:cNvPr id="12" name="Shape 10"/>
          <p:cNvSpPr/>
          <p:nvPr/>
        </p:nvSpPr>
        <p:spPr>
          <a:xfrm>
            <a:off x="548640" y="3273552"/>
            <a:ext cx="91440" cy="91440"/>
          </a:xfrm>
          <a:prstGeom prst="ellipse">
            <a:avLst/>
          </a:prstGeom>
          <a:solidFill>
            <a:srgbClr val="FF6B6B"/>
          </a:solidFill>
          <a:ln/>
        </p:spPr>
      </p:sp>
      <p:sp>
        <p:nvSpPr>
          <p:cNvPr id="13" name="Shape 11"/>
          <p:cNvSpPr/>
          <p:nvPr/>
        </p:nvSpPr>
        <p:spPr>
          <a:xfrm>
            <a:off x="676656" y="3273552"/>
            <a:ext cx="91440" cy="91440"/>
          </a:xfrm>
          <a:prstGeom prst="ellipse">
            <a:avLst/>
          </a:prstGeom>
          <a:solidFill>
            <a:srgbClr val="FFC107"/>
          </a:solidFill>
          <a:ln/>
        </p:spPr>
      </p:sp>
      <p:sp>
        <p:nvSpPr>
          <p:cNvPr id="14" name="Shape 12"/>
          <p:cNvSpPr/>
          <p:nvPr/>
        </p:nvSpPr>
        <p:spPr>
          <a:xfrm>
            <a:off x="804672" y="3273552"/>
            <a:ext cx="91440" cy="91440"/>
          </a:xfrm>
          <a:prstGeom prst="ellipse">
            <a:avLst/>
          </a:prstGeom>
          <a:solidFill>
            <a:srgbClr val="00D4AA"/>
          </a:solidFill>
          <a:ln/>
        </p:spPr>
      </p:sp>
      <p:sp>
        <p:nvSpPr>
          <p:cNvPr id="15" name="Text 13"/>
          <p:cNvSpPr/>
          <p:nvPr/>
        </p:nvSpPr>
        <p:spPr>
          <a:xfrm>
            <a:off x="1005840" y="3236976"/>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438144"/>
            <a:ext cx="8138160" cy="1399032"/>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class Animal:                  # Parent class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speak(self):</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return "Some sound"</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class Dog(Animal):             # Child inherits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speak(self):           # Override method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return "Woof!"</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Multiple Inheritance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class Flyable: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fly(self): return "Flying"</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class FlyingDog(Dog, Flyable): # Both parents!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pass</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fd = FlyingDog()</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fd.speak()  # Woof!</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fd.fly()    # Flying</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Method Overriding vs Overloading? Abstraction vs Encapsulation?</a:t>
            </a:r>
            <a:endParaRPr lang="en-US" sz="1700" dirty="0"/>
          </a:p>
        </p:txBody>
      </p:sp>
      <p:sp>
        <p:nvSpPr>
          <p:cNvPr id="6" name="Shape 4"/>
          <p:cNvSpPr/>
          <p:nvPr/>
        </p:nvSpPr>
        <p:spPr>
          <a:xfrm>
            <a:off x="365760" y="868680"/>
            <a:ext cx="8412480" cy="1819656"/>
          </a:xfrm>
          <a:prstGeom prst="rect">
            <a:avLst>
              <a:gd name="adj" fmla="val 4020"/>
            </a:avLst>
          </a:prstGeom>
          <a:solidFill>
            <a:srgbClr val="242B3D"/>
          </a:solidFill>
          <a:ln/>
        </p:spPr>
      </p:sp>
      <p:sp>
        <p:nvSpPr>
          <p:cNvPr id="7" name="Shape 5"/>
          <p:cNvSpPr/>
          <p:nvPr/>
        </p:nvSpPr>
        <p:spPr>
          <a:xfrm>
            <a:off x="365760" y="868680"/>
            <a:ext cx="54864" cy="1819656"/>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499616"/>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Overriding: Child class REPLACES a method from parent class with same name. (Supported in Python)</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Overloading: Same method with DIFFERENT parameters. (NOT directly supported in Python — use *args or default params instead)</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Abstraction: HIDING implementation details, showing only what's necessary. (Using abstract classes with ABC)</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Encapsulation: BUNDLING data and methods together, restricting direct access to attributes. (Using _ and __ prefixes)</a:t>
            </a:r>
            <a:endParaRPr lang="en-US" sz="1150" dirty="0"/>
          </a:p>
        </p:txBody>
      </p:sp>
      <p:sp>
        <p:nvSpPr>
          <p:cNvPr id="10" name="Shape 8"/>
          <p:cNvSpPr/>
          <p:nvPr/>
        </p:nvSpPr>
        <p:spPr>
          <a:xfrm>
            <a:off x="365760" y="2825496"/>
            <a:ext cx="8412480" cy="2066544"/>
          </a:xfrm>
          <a:prstGeom prst="rect">
            <a:avLst>
              <a:gd name="adj" fmla="val 3540"/>
            </a:avLst>
          </a:prstGeom>
          <a:solidFill>
            <a:srgbClr val="151921"/>
          </a:solidFill>
          <a:ln/>
        </p:spPr>
      </p:sp>
      <p:sp>
        <p:nvSpPr>
          <p:cNvPr id="11" name="Shape 9"/>
          <p:cNvSpPr/>
          <p:nvPr/>
        </p:nvSpPr>
        <p:spPr>
          <a:xfrm>
            <a:off x="365760" y="2825496"/>
            <a:ext cx="54864" cy="2066544"/>
          </a:xfrm>
          <a:prstGeom prst="rect">
            <a:avLst/>
          </a:prstGeom>
          <a:solidFill>
            <a:srgbClr val="FFC107"/>
          </a:solidFill>
          <a:ln/>
        </p:spPr>
      </p:sp>
      <p:sp>
        <p:nvSpPr>
          <p:cNvPr id="12" name="Shape 10"/>
          <p:cNvSpPr/>
          <p:nvPr/>
        </p:nvSpPr>
        <p:spPr>
          <a:xfrm>
            <a:off x="548640" y="2916936"/>
            <a:ext cx="91440" cy="91440"/>
          </a:xfrm>
          <a:prstGeom prst="ellipse">
            <a:avLst/>
          </a:prstGeom>
          <a:solidFill>
            <a:srgbClr val="FF6B6B"/>
          </a:solidFill>
          <a:ln/>
        </p:spPr>
      </p:sp>
      <p:sp>
        <p:nvSpPr>
          <p:cNvPr id="13" name="Shape 11"/>
          <p:cNvSpPr/>
          <p:nvPr/>
        </p:nvSpPr>
        <p:spPr>
          <a:xfrm>
            <a:off x="676656" y="2916936"/>
            <a:ext cx="91440" cy="91440"/>
          </a:xfrm>
          <a:prstGeom prst="ellipse">
            <a:avLst/>
          </a:prstGeom>
          <a:solidFill>
            <a:srgbClr val="FFC107"/>
          </a:solidFill>
          <a:ln/>
        </p:spPr>
      </p:sp>
      <p:sp>
        <p:nvSpPr>
          <p:cNvPr id="14" name="Shape 12"/>
          <p:cNvSpPr/>
          <p:nvPr/>
        </p:nvSpPr>
        <p:spPr>
          <a:xfrm>
            <a:off x="804672" y="2916936"/>
            <a:ext cx="91440" cy="91440"/>
          </a:xfrm>
          <a:prstGeom prst="ellipse">
            <a:avLst/>
          </a:prstGeom>
          <a:solidFill>
            <a:srgbClr val="00D4AA"/>
          </a:solidFill>
          <a:ln/>
        </p:spPr>
      </p:sp>
      <p:sp>
        <p:nvSpPr>
          <p:cNvPr id="15" name="Text 13"/>
          <p:cNvSpPr/>
          <p:nvPr/>
        </p:nvSpPr>
        <p:spPr>
          <a:xfrm>
            <a:off x="1005840" y="2880360"/>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081528"/>
            <a:ext cx="8138160" cy="1755648"/>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from abc import ABC, abstractmethod</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class Shape(ABC):                # Abstraction</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@abstractmethod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area(self):              # Must implement in child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pass</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class Circle(Shape):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__init__(self, 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self.__radius = r        # Encapsulation (private)</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area(self):              # Overriding</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return 3.14 * self.__radius ** 2</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Overloading simulation:</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def add(a, b=0, c=0):</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return a + b + c</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are class methods and static methods? How are they different from instance methods?</a:t>
            </a:r>
            <a:endParaRPr lang="en-US" sz="1700" dirty="0"/>
          </a:p>
        </p:txBody>
      </p:sp>
      <p:sp>
        <p:nvSpPr>
          <p:cNvPr id="6" name="Shape 4"/>
          <p:cNvSpPr/>
          <p:nvPr/>
        </p:nvSpPr>
        <p:spPr>
          <a:xfrm>
            <a:off x="365760" y="868680"/>
            <a:ext cx="8412480" cy="1819656"/>
          </a:xfrm>
          <a:prstGeom prst="rect">
            <a:avLst>
              <a:gd name="adj" fmla="val 4020"/>
            </a:avLst>
          </a:prstGeom>
          <a:solidFill>
            <a:srgbClr val="242B3D"/>
          </a:solidFill>
          <a:ln/>
        </p:spPr>
      </p:sp>
      <p:sp>
        <p:nvSpPr>
          <p:cNvPr id="7" name="Shape 5"/>
          <p:cNvSpPr/>
          <p:nvPr/>
        </p:nvSpPr>
        <p:spPr>
          <a:xfrm>
            <a:off x="365760" y="868680"/>
            <a:ext cx="54864" cy="1819656"/>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499616"/>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Instance Method: Takes 'self' as first param — works with a SPECIFIC object instance. Can access instance and class attributes.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Class Method: Takes 'cls' as first param — works with the CLASS itself (not a specific instance). Decorated with @classmethod. Can access class attributes but not instance attributes.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Static Method: Takes NO special first param — doesn't access class or instance. Decorated with @staticmethod. Acts like a regular function inside a class.</a:t>
            </a:r>
            <a:endParaRPr lang="en-US" sz="1150" dirty="0"/>
          </a:p>
        </p:txBody>
      </p:sp>
      <p:sp>
        <p:nvSpPr>
          <p:cNvPr id="10" name="Shape 8"/>
          <p:cNvSpPr/>
          <p:nvPr/>
        </p:nvSpPr>
        <p:spPr>
          <a:xfrm>
            <a:off x="365760" y="2825496"/>
            <a:ext cx="8412480" cy="2066544"/>
          </a:xfrm>
          <a:prstGeom prst="rect">
            <a:avLst>
              <a:gd name="adj" fmla="val 3540"/>
            </a:avLst>
          </a:prstGeom>
          <a:solidFill>
            <a:srgbClr val="151921"/>
          </a:solidFill>
          <a:ln/>
        </p:spPr>
      </p:sp>
      <p:sp>
        <p:nvSpPr>
          <p:cNvPr id="11" name="Shape 9"/>
          <p:cNvSpPr/>
          <p:nvPr/>
        </p:nvSpPr>
        <p:spPr>
          <a:xfrm>
            <a:off x="365760" y="2825496"/>
            <a:ext cx="54864" cy="2066544"/>
          </a:xfrm>
          <a:prstGeom prst="rect">
            <a:avLst/>
          </a:prstGeom>
          <a:solidFill>
            <a:srgbClr val="FFC107"/>
          </a:solidFill>
          <a:ln/>
        </p:spPr>
      </p:sp>
      <p:sp>
        <p:nvSpPr>
          <p:cNvPr id="12" name="Shape 10"/>
          <p:cNvSpPr/>
          <p:nvPr/>
        </p:nvSpPr>
        <p:spPr>
          <a:xfrm>
            <a:off x="548640" y="2916936"/>
            <a:ext cx="91440" cy="91440"/>
          </a:xfrm>
          <a:prstGeom prst="ellipse">
            <a:avLst/>
          </a:prstGeom>
          <a:solidFill>
            <a:srgbClr val="FF6B6B"/>
          </a:solidFill>
          <a:ln/>
        </p:spPr>
      </p:sp>
      <p:sp>
        <p:nvSpPr>
          <p:cNvPr id="13" name="Shape 11"/>
          <p:cNvSpPr/>
          <p:nvPr/>
        </p:nvSpPr>
        <p:spPr>
          <a:xfrm>
            <a:off x="676656" y="2916936"/>
            <a:ext cx="91440" cy="91440"/>
          </a:xfrm>
          <a:prstGeom prst="ellipse">
            <a:avLst/>
          </a:prstGeom>
          <a:solidFill>
            <a:srgbClr val="FFC107"/>
          </a:solidFill>
          <a:ln/>
        </p:spPr>
      </p:sp>
      <p:sp>
        <p:nvSpPr>
          <p:cNvPr id="14" name="Shape 12"/>
          <p:cNvSpPr/>
          <p:nvPr/>
        </p:nvSpPr>
        <p:spPr>
          <a:xfrm>
            <a:off x="804672" y="2916936"/>
            <a:ext cx="91440" cy="91440"/>
          </a:xfrm>
          <a:prstGeom prst="ellipse">
            <a:avLst/>
          </a:prstGeom>
          <a:solidFill>
            <a:srgbClr val="00D4AA"/>
          </a:solidFill>
          <a:ln/>
        </p:spPr>
      </p:sp>
      <p:sp>
        <p:nvSpPr>
          <p:cNvPr id="15" name="Text 13"/>
          <p:cNvSpPr/>
          <p:nvPr/>
        </p:nvSpPr>
        <p:spPr>
          <a:xfrm>
            <a:off x="1005840" y="2880360"/>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081528"/>
            <a:ext cx="8138160" cy="1755648"/>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class MyClass: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class_var = "class variable"</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instance_method(self):    # needs self</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return self.class_var</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@classmethod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class_method(cls):        # needs cls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return cls.class_var</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@staticmethod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static_method():          # needs neither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return "utility function"</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obj = MyClass()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obj.instance_method()       # ✓</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MyClass.class_method()      # ✓ no instance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MyClass.static_method()     # ✓ no instance</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C63FF"/>
          </a:solidFill>
          <a:ln/>
        </p:spPr>
      </p:sp>
      <p:sp>
        <p:nvSpPr>
          <p:cNvPr id="3" name="Shape 1"/>
          <p:cNvSpPr/>
          <p:nvPr/>
        </p:nvSpPr>
        <p:spPr>
          <a:xfrm>
            <a:off x="914400" y="1737360"/>
            <a:ext cx="1280160" cy="1280160"/>
          </a:xfrm>
          <a:prstGeom prst="ellipse">
            <a:avLst/>
          </a:prstGeom>
          <a:solidFill>
            <a:srgbClr val="6C63FF">
              <a:alpha val="80000"/>
            </a:srgbClr>
          </a:solidFill>
          <a:ln/>
        </p:spPr>
      </p:sp>
      <p:pic>
        <p:nvPicPr>
          <p:cNvPr id="4" name="Image 0" descr="preencoded.png">    </p:cNvPr>
          <p:cNvPicPr>
            <a:picLocks noChangeAspect="1"/>
          </p:cNvPicPr>
          <p:nvPr/>
        </p:nvPicPr>
        <p:blipFill>
          <a:blip r:embed="rId1"/>
          <a:stretch>
            <a:fillRect/>
          </a:stretch>
        </p:blipFill>
        <p:spPr>
          <a:xfrm>
            <a:off x="1051560" y="1874520"/>
            <a:ext cx="1005840" cy="1005840"/>
          </a:xfrm>
          <a:prstGeom prst="rect">
            <a:avLst/>
          </a:prstGeom>
        </p:spPr>
      </p:pic>
      <p:sp>
        <p:nvSpPr>
          <p:cNvPr id="5" name="Text 2"/>
          <p:cNvSpPr/>
          <p:nvPr/>
        </p:nvSpPr>
        <p:spPr>
          <a:xfrm>
            <a:off x="2560320" y="1554480"/>
            <a:ext cx="5943600" cy="10972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Memory Management &amp; Internals</a:t>
            </a:r>
            <a:endParaRPr lang="en-US" sz="3600" dirty="0"/>
          </a:p>
        </p:txBody>
      </p:sp>
      <p:sp>
        <p:nvSpPr>
          <p:cNvPr id="6" name="Text 3"/>
          <p:cNvSpPr/>
          <p:nvPr/>
        </p:nvSpPr>
        <p:spPr>
          <a:xfrm>
            <a:off x="2560320" y="2834640"/>
            <a:ext cx="5943600" cy="411480"/>
          </a:xfrm>
          <a:prstGeom prst="rect">
            <a:avLst/>
          </a:prstGeom>
          <a:noFill/>
          <a:ln/>
        </p:spPr>
        <p:txBody>
          <a:bodyPr wrap="square" rtlCol="0" anchor="t"/>
          <a:lstStyle/>
          <a:p>
            <a:pPr indent="0" marL="0">
              <a:buNone/>
            </a:pPr>
            <a:r>
              <a:rPr lang="en-US" sz="1500" dirty="0">
                <a:solidFill>
                  <a:srgbClr val="8892B0"/>
                </a:solidFill>
                <a:latin typeface="Calibri" pitchFamily="34" charset="0"/>
                <a:ea typeface="Calibri" pitchFamily="34" charset="-122"/>
                <a:cs typeface="Calibri" pitchFamily="34" charset="-120"/>
              </a:rPr>
              <a:t>Reference Counting, GC &amp; GIL</a:t>
            </a:r>
            <a:endParaRPr lang="en-US" sz="1500" dirty="0"/>
          </a:p>
        </p:txBody>
      </p:sp>
      <p:sp>
        <p:nvSpPr>
          <p:cNvPr id="7" name="Shape 4"/>
          <p:cNvSpPr/>
          <p:nvPr/>
        </p:nvSpPr>
        <p:spPr>
          <a:xfrm>
            <a:off x="2560320" y="3291840"/>
            <a:ext cx="1097280" cy="36576"/>
          </a:xfrm>
          <a:prstGeom prst="rect">
            <a:avLst/>
          </a:prstGeom>
          <a:solidFill>
            <a:srgbClr val="00D4AA"/>
          </a:solidFill>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How is memory managed in Python? Reference Counting &amp; Garbage Collection?</a:t>
            </a:r>
            <a:endParaRPr lang="en-US" sz="1700" dirty="0"/>
          </a:p>
        </p:txBody>
      </p:sp>
      <p:sp>
        <p:nvSpPr>
          <p:cNvPr id="6" name="Shape 4"/>
          <p:cNvSpPr/>
          <p:nvPr/>
        </p:nvSpPr>
        <p:spPr>
          <a:xfrm>
            <a:off x="365760" y="868680"/>
            <a:ext cx="8412480" cy="2176272"/>
          </a:xfrm>
          <a:prstGeom prst="rect">
            <a:avLst>
              <a:gd name="adj" fmla="val 3361"/>
            </a:avLst>
          </a:prstGeom>
          <a:solidFill>
            <a:srgbClr val="242B3D"/>
          </a:solidFill>
          <a:ln/>
        </p:spPr>
      </p:sp>
      <p:sp>
        <p:nvSpPr>
          <p:cNvPr id="7" name="Shape 5"/>
          <p:cNvSpPr/>
          <p:nvPr/>
        </p:nvSpPr>
        <p:spPr>
          <a:xfrm>
            <a:off x="365760" y="868680"/>
            <a:ext cx="54864" cy="2176272"/>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856232"/>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Python manages memory AUTOMATICALLY — you don't need to manually allocate/deallocate.</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Two main mechanisms: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1. Reference Counting: Every object has a counter tracking how many references point to it. When count reaches 0, memory is freed immediately.</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2. Garbage Collection (GC): Handles CIRCULAR references that reference counting can't detect. Python's gc module periodically checks for and removes these cycles.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Why doesn't Python deallocate all memory on exit? The OS reclaims all process memory when a program exits — Python relies on this for cleanup.</a:t>
            </a:r>
            <a:endParaRPr lang="en-US" sz="1150" dirty="0"/>
          </a:p>
        </p:txBody>
      </p:sp>
      <p:sp>
        <p:nvSpPr>
          <p:cNvPr id="10" name="Shape 8"/>
          <p:cNvSpPr/>
          <p:nvPr/>
        </p:nvSpPr>
        <p:spPr>
          <a:xfrm>
            <a:off x="365760" y="3182112"/>
            <a:ext cx="8412480" cy="1709928"/>
          </a:xfrm>
          <a:prstGeom prst="rect">
            <a:avLst>
              <a:gd name="adj" fmla="val 4278"/>
            </a:avLst>
          </a:prstGeom>
          <a:solidFill>
            <a:srgbClr val="151921"/>
          </a:solidFill>
          <a:ln/>
        </p:spPr>
      </p:sp>
      <p:sp>
        <p:nvSpPr>
          <p:cNvPr id="11" name="Shape 9"/>
          <p:cNvSpPr/>
          <p:nvPr/>
        </p:nvSpPr>
        <p:spPr>
          <a:xfrm>
            <a:off x="365760" y="3182112"/>
            <a:ext cx="54864" cy="1709928"/>
          </a:xfrm>
          <a:prstGeom prst="rect">
            <a:avLst/>
          </a:prstGeom>
          <a:solidFill>
            <a:srgbClr val="FFC107"/>
          </a:solidFill>
          <a:ln/>
        </p:spPr>
      </p:sp>
      <p:sp>
        <p:nvSpPr>
          <p:cNvPr id="12" name="Shape 10"/>
          <p:cNvSpPr/>
          <p:nvPr/>
        </p:nvSpPr>
        <p:spPr>
          <a:xfrm>
            <a:off x="548640" y="3273552"/>
            <a:ext cx="91440" cy="91440"/>
          </a:xfrm>
          <a:prstGeom prst="ellipse">
            <a:avLst/>
          </a:prstGeom>
          <a:solidFill>
            <a:srgbClr val="FF6B6B"/>
          </a:solidFill>
          <a:ln/>
        </p:spPr>
      </p:sp>
      <p:sp>
        <p:nvSpPr>
          <p:cNvPr id="13" name="Shape 11"/>
          <p:cNvSpPr/>
          <p:nvPr/>
        </p:nvSpPr>
        <p:spPr>
          <a:xfrm>
            <a:off x="676656" y="3273552"/>
            <a:ext cx="91440" cy="91440"/>
          </a:xfrm>
          <a:prstGeom prst="ellipse">
            <a:avLst/>
          </a:prstGeom>
          <a:solidFill>
            <a:srgbClr val="FFC107"/>
          </a:solidFill>
          <a:ln/>
        </p:spPr>
      </p:sp>
      <p:sp>
        <p:nvSpPr>
          <p:cNvPr id="14" name="Shape 12"/>
          <p:cNvSpPr/>
          <p:nvPr/>
        </p:nvSpPr>
        <p:spPr>
          <a:xfrm>
            <a:off x="804672" y="3273552"/>
            <a:ext cx="91440" cy="91440"/>
          </a:xfrm>
          <a:prstGeom prst="ellipse">
            <a:avLst/>
          </a:prstGeom>
          <a:solidFill>
            <a:srgbClr val="00D4AA"/>
          </a:solidFill>
          <a:ln/>
        </p:spPr>
      </p:sp>
      <p:sp>
        <p:nvSpPr>
          <p:cNvPr id="15" name="Text 13"/>
          <p:cNvSpPr/>
          <p:nvPr/>
        </p:nvSpPr>
        <p:spPr>
          <a:xfrm>
            <a:off x="1005840" y="3236976"/>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438144"/>
            <a:ext cx="8138160" cy="1399032"/>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import sys</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a = [1, 2, 3]</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print(sys.getrefcount(a))  # Ref count</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b = a                      # Count increases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del b                      # Count decreases → freed</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Circular reference: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class Node: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__init__(self):</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self.ref = None</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n1, n2 = Node(), Node()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n1.ref = n2    # n1 → n2</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n2.ref = n1    # n2 → n1 (circular!)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GC cleans this up!</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C63FF"/>
          </a:solidFill>
          <a:ln/>
        </p:spPr>
      </p:sp>
      <p:sp>
        <p:nvSpPr>
          <p:cNvPr id="3" name="Shape 1"/>
          <p:cNvSpPr/>
          <p:nvPr/>
        </p:nvSpPr>
        <p:spPr>
          <a:xfrm>
            <a:off x="914400" y="1737360"/>
            <a:ext cx="1280160" cy="1280160"/>
          </a:xfrm>
          <a:prstGeom prst="ellipse">
            <a:avLst/>
          </a:prstGeom>
          <a:solidFill>
            <a:srgbClr val="6C63FF">
              <a:alpha val="80000"/>
            </a:srgbClr>
          </a:solidFill>
          <a:ln/>
        </p:spPr>
      </p:sp>
      <p:pic>
        <p:nvPicPr>
          <p:cNvPr id="4" name="Image 0" descr="preencoded.png">    </p:cNvPr>
          <p:cNvPicPr>
            <a:picLocks noChangeAspect="1"/>
          </p:cNvPicPr>
          <p:nvPr/>
        </p:nvPicPr>
        <p:blipFill>
          <a:blip r:embed="rId1"/>
          <a:stretch>
            <a:fillRect/>
          </a:stretch>
        </p:blipFill>
        <p:spPr>
          <a:xfrm>
            <a:off x="1051560" y="1874520"/>
            <a:ext cx="1005840" cy="1005840"/>
          </a:xfrm>
          <a:prstGeom prst="rect">
            <a:avLst/>
          </a:prstGeom>
        </p:spPr>
      </p:pic>
      <p:sp>
        <p:nvSpPr>
          <p:cNvPr id="5" name="Text 2"/>
          <p:cNvSpPr/>
          <p:nvPr/>
        </p:nvSpPr>
        <p:spPr>
          <a:xfrm>
            <a:off x="2560320" y="1554480"/>
            <a:ext cx="5943600" cy="10972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Error &amp; Exception Handling</a:t>
            </a:r>
            <a:endParaRPr lang="en-US" sz="3600" dirty="0"/>
          </a:p>
        </p:txBody>
      </p:sp>
      <p:sp>
        <p:nvSpPr>
          <p:cNvPr id="6" name="Text 3"/>
          <p:cNvSpPr/>
          <p:nvPr/>
        </p:nvSpPr>
        <p:spPr>
          <a:xfrm>
            <a:off x="2560320" y="2834640"/>
            <a:ext cx="5943600" cy="411480"/>
          </a:xfrm>
          <a:prstGeom prst="rect">
            <a:avLst/>
          </a:prstGeom>
          <a:noFill/>
          <a:ln/>
        </p:spPr>
        <p:txBody>
          <a:bodyPr wrap="square" rtlCol="0" anchor="t"/>
          <a:lstStyle/>
          <a:p>
            <a:pPr indent="0" marL="0">
              <a:buNone/>
            </a:pPr>
            <a:r>
              <a:rPr lang="en-US" sz="1500" dirty="0">
                <a:solidFill>
                  <a:srgbClr val="8892B0"/>
                </a:solidFill>
                <a:latin typeface="Calibri" pitchFamily="34" charset="0"/>
                <a:ea typeface="Calibri" pitchFamily="34" charset="-122"/>
                <a:cs typeface="Calibri" pitchFamily="34" charset="-120"/>
              </a:rPr>
              <a:t>Try/Except, Runtime &amp; Compile-time Errors</a:t>
            </a:r>
            <a:endParaRPr lang="en-US" sz="1500" dirty="0"/>
          </a:p>
        </p:txBody>
      </p:sp>
      <p:sp>
        <p:nvSpPr>
          <p:cNvPr id="7" name="Shape 4"/>
          <p:cNvSpPr/>
          <p:nvPr/>
        </p:nvSpPr>
        <p:spPr>
          <a:xfrm>
            <a:off x="2560320" y="3291840"/>
            <a:ext cx="1097280" cy="36576"/>
          </a:xfrm>
          <a:prstGeom prst="rect">
            <a:avLst/>
          </a:prstGeom>
          <a:solidFill>
            <a:srgbClr val="00D4AA"/>
          </a:solidFill>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How is exception handling done in Python? Compile-time vs Runtime errors?</a:t>
            </a:r>
            <a:endParaRPr lang="en-US" sz="1700" dirty="0"/>
          </a:p>
        </p:txBody>
      </p:sp>
      <p:sp>
        <p:nvSpPr>
          <p:cNvPr id="6" name="Shape 4"/>
          <p:cNvSpPr/>
          <p:nvPr/>
        </p:nvSpPr>
        <p:spPr>
          <a:xfrm>
            <a:off x="365760" y="868680"/>
            <a:ext cx="8412480" cy="2354580"/>
          </a:xfrm>
          <a:prstGeom prst="rect">
            <a:avLst>
              <a:gd name="adj" fmla="val 3107"/>
            </a:avLst>
          </a:prstGeom>
          <a:solidFill>
            <a:srgbClr val="242B3D"/>
          </a:solidFill>
          <a:ln/>
        </p:spPr>
      </p:sp>
      <p:sp>
        <p:nvSpPr>
          <p:cNvPr id="7" name="Shape 5"/>
          <p:cNvSpPr/>
          <p:nvPr/>
        </p:nvSpPr>
        <p:spPr>
          <a:xfrm>
            <a:off x="365760" y="868680"/>
            <a:ext cx="54864" cy="2354580"/>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2034540"/>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Exception Handling: Using try/except blocks to catch and handle errors gracefully instead of crashing.</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Structure: try → except → else → finally</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try: Code that might raise an error</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except: Handles specific exceptions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else: Runs only if NO exception occurred</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finally: ALWAYS runs (cleanup code)</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Python is interpreted, so there are NO compile-time errors in the traditional sense. Most errors are RUNTIME errors (occur during execution): TypeError, ValueError, ZeroDivisionError, IndexError, etc.</a:t>
            </a:r>
            <a:endParaRPr lang="en-US" sz="1150" dirty="0"/>
          </a:p>
        </p:txBody>
      </p:sp>
      <p:sp>
        <p:nvSpPr>
          <p:cNvPr id="10" name="Shape 8"/>
          <p:cNvSpPr/>
          <p:nvPr/>
        </p:nvSpPr>
        <p:spPr>
          <a:xfrm>
            <a:off x="365760" y="3360420"/>
            <a:ext cx="8412480" cy="1531620"/>
          </a:xfrm>
          <a:prstGeom prst="rect">
            <a:avLst>
              <a:gd name="adj" fmla="val 4776"/>
            </a:avLst>
          </a:prstGeom>
          <a:solidFill>
            <a:srgbClr val="151921"/>
          </a:solidFill>
          <a:ln/>
        </p:spPr>
      </p:sp>
      <p:sp>
        <p:nvSpPr>
          <p:cNvPr id="11" name="Shape 9"/>
          <p:cNvSpPr/>
          <p:nvPr/>
        </p:nvSpPr>
        <p:spPr>
          <a:xfrm>
            <a:off x="365760" y="3360420"/>
            <a:ext cx="54864" cy="1531620"/>
          </a:xfrm>
          <a:prstGeom prst="rect">
            <a:avLst/>
          </a:prstGeom>
          <a:solidFill>
            <a:srgbClr val="FFC107"/>
          </a:solidFill>
          <a:ln/>
        </p:spPr>
      </p:sp>
      <p:sp>
        <p:nvSpPr>
          <p:cNvPr id="12" name="Shape 10"/>
          <p:cNvSpPr/>
          <p:nvPr/>
        </p:nvSpPr>
        <p:spPr>
          <a:xfrm>
            <a:off x="548640" y="3451860"/>
            <a:ext cx="91440" cy="91440"/>
          </a:xfrm>
          <a:prstGeom prst="ellipse">
            <a:avLst/>
          </a:prstGeom>
          <a:solidFill>
            <a:srgbClr val="FF6B6B"/>
          </a:solidFill>
          <a:ln/>
        </p:spPr>
      </p:sp>
      <p:sp>
        <p:nvSpPr>
          <p:cNvPr id="13" name="Shape 11"/>
          <p:cNvSpPr/>
          <p:nvPr/>
        </p:nvSpPr>
        <p:spPr>
          <a:xfrm>
            <a:off x="676656" y="3451860"/>
            <a:ext cx="91440" cy="91440"/>
          </a:xfrm>
          <a:prstGeom prst="ellipse">
            <a:avLst/>
          </a:prstGeom>
          <a:solidFill>
            <a:srgbClr val="FFC107"/>
          </a:solidFill>
          <a:ln/>
        </p:spPr>
      </p:sp>
      <p:sp>
        <p:nvSpPr>
          <p:cNvPr id="14" name="Shape 12"/>
          <p:cNvSpPr/>
          <p:nvPr/>
        </p:nvSpPr>
        <p:spPr>
          <a:xfrm>
            <a:off x="804672" y="3451860"/>
            <a:ext cx="91440" cy="91440"/>
          </a:xfrm>
          <a:prstGeom prst="ellipse">
            <a:avLst/>
          </a:prstGeom>
          <a:solidFill>
            <a:srgbClr val="00D4AA"/>
          </a:solidFill>
          <a:ln/>
        </p:spPr>
      </p:sp>
      <p:sp>
        <p:nvSpPr>
          <p:cNvPr id="15" name="Text 13"/>
          <p:cNvSpPr/>
          <p:nvPr/>
        </p:nvSpPr>
        <p:spPr>
          <a:xfrm>
            <a:off x="1005840" y="3415284"/>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616452"/>
            <a:ext cx="8138160" cy="1220724"/>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try: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result = 10 / 0           # Error!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except ZeroDivisionError: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print("Can't divide by 0") # Caught!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except Exception as 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print(f"Error: {e}")      # Any error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else: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print("No error!")        # Only if OK</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finally: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print("Always runs")      # Cleanup</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Runtime errors: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my_list = [1, 2, 3]</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my_list[5]          # IndexError!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10 / 0              # ZeroDivisionError!</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C63FF"/>
          </a:solidFill>
          <a:ln/>
        </p:spPr>
      </p:sp>
      <p:sp>
        <p:nvSpPr>
          <p:cNvPr id="3" name="Shape 1"/>
          <p:cNvSpPr/>
          <p:nvPr/>
        </p:nvSpPr>
        <p:spPr>
          <a:xfrm>
            <a:off x="914400" y="1737360"/>
            <a:ext cx="1280160" cy="1280160"/>
          </a:xfrm>
          <a:prstGeom prst="ellipse">
            <a:avLst/>
          </a:prstGeom>
          <a:solidFill>
            <a:srgbClr val="6C63FF">
              <a:alpha val="80000"/>
            </a:srgbClr>
          </a:solidFill>
          <a:ln/>
        </p:spPr>
      </p:sp>
      <p:pic>
        <p:nvPicPr>
          <p:cNvPr id="4" name="Image 0" descr="preencoded.png">    </p:cNvPr>
          <p:cNvPicPr>
            <a:picLocks noChangeAspect="1"/>
          </p:cNvPicPr>
          <p:nvPr/>
        </p:nvPicPr>
        <p:blipFill>
          <a:blip r:embed="rId1"/>
          <a:stretch>
            <a:fillRect/>
          </a:stretch>
        </p:blipFill>
        <p:spPr>
          <a:xfrm>
            <a:off x="1051560" y="1874520"/>
            <a:ext cx="1005840" cy="1005840"/>
          </a:xfrm>
          <a:prstGeom prst="rect">
            <a:avLst/>
          </a:prstGeom>
        </p:spPr>
      </p:pic>
      <p:sp>
        <p:nvSpPr>
          <p:cNvPr id="5" name="Text 2"/>
          <p:cNvSpPr/>
          <p:nvPr/>
        </p:nvSpPr>
        <p:spPr>
          <a:xfrm>
            <a:off x="2560320" y="1554480"/>
            <a:ext cx="5943600" cy="10972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File Handling &amp; Advanced Concepts</a:t>
            </a:r>
            <a:endParaRPr lang="en-US" sz="3600" dirty="0"/>
          </a:p>
        </p:txBody>
      </p:sp>
      <p:sp>
        <p:nvSpPr>
          <p:cNvPr id="6" name="Text 3"/>
          <p:cNvSpPr/>
          <p:nvPr/>
        </p:nvSpPr>
        <p:spPr>
          <a:xfrm>
            <a:off x="2560320" y="2834640"/>
            <a:ext cx="5943600" cy="411480"/>
          </a:xfrm>
          <a:prstGeom prst="rect">
            <a:avLst/>
          </a:prstGeom>
          <a:noFill/>
          <a:ln/>
        </p:spPr>
        <p:txBody>
          <a:bodyPr wrap="square" rtlCol="0" anchor="t"/>
          <a:lstStyle/>
          <a:p>
            <a:pPr indent="0" marL="0">
              <a:buNone/>
            </a:pPr>
            <a:r>
              <a:rPr lang="en-US" sz="1500" dirty="0">
                <a:solidFill>
                  <a:srgbClr val="8892B0"/>
                </a:solidFill>
                <a:latin typeface="Calibri" pitchFamily="34" charset="0"/>
                <a:ea typeface="Calibri" pitchFamily="34" charset="-122"/>
                <a:cs typeface="Calibri" pitchFamily="34" charset="-120"/>
              </a:rPr>
              <a:t>Decorators, Generators, Pickle &amp; More</a:t>
            </a:r>
            <a:endParaRPr lang="en-US" sz="1500" dirty="0"/>
          </a:p>
        </p:txBody>
      </p:sp>
      <p:sp>
        <p:nvSpPr>
          <p:cNvPr id="7" name="Shape 4"/>
          <p:cNvSpPr/>
          <p:nvPr/>
        </p:nvSpPr>
        <p:spPr>
          <a:xfrm>
            <a:off x="2560320" y="3291840"/>
            <a:ext cx="1097280" cy="36576"/>
          </a:xfrm>
          <a:prstGeom prst="rect">
            <a:avLst/>
          </a:prstGeom>
          <a:solidFill>
            <a:srgbClr val="00D4AA"/>
          </a:solidFill>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How to delete a file? What are pickling and unpickling?</a:t>
            </a:r>
            <a:endParaRPr lang="en-US" sz="1700" dirty="0"/>
          </a:p>
        </p:txBody>
      </p:sp>
      <p:sp>
        <p:nvSpPr>
          <p:cNvPr id="6" name="Shape 4"/>
          <p:cNvSpPr/>
          <p:nvPr/>
        </p:nvSpPr>
        <p:spPr>
          <a:xfrm>
            <a:off x="365760" y="868680"/>
            <a:ext cx="8412480" cy="2176272"/>
          </a:xfrm>
          <a:prstGeom prst="rect">
            <a:avLst>
              <a:gd name="adj" fmla="val 3361"/>
            </a:avLst>
          </a:prstGeom>
          <a:solidFill>
            <a:srgbClr val="242B3D"/>
          </a:solidFill>
          <a:ln/>
        </p:spPr>
      </p:sp>
      <p:sp>
        <p:nvSpPr>
          <p:cNvPr id="7" name="Shape 5"/>
          <p:cNvSpPr/>
          <p:nvPr/>
        </p:nvSpPr>
        <p:spPr>
          <a:xfrm>
            <a:off x="365760" y="868680"/>
            <a:ext cx="54864" cy="2176272"/>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856232"/>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Deleting a file: Use os.remove() or os.unlink() to delete a file. Always check if file exists first using os.path.exists().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Pickling: Serializing a Python object into a BINARY format (byte stream) so it can be saved to a file or transmitted. Using pickle.dump().</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Unpickling: Deserializing — converting the binary data back into a Python object. Using pickle.load().</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When to use: Saving ML models, caching data, sending objects over network.</a:t>
            </a:r>
            <a:endParaRPr lang="en-US" sz="1150" dirty="0"/>
          </a:p>
        </p:txBody>
      </p:sp>
      <p:sp>
        <p:nvSpPr>
          <p:cNvPr id="10" name="Shape 8"/>
          <p:cNvSpPr/>
          <p:nvPr/>
        </p:nvSpPr>
        <p:spPr>
          <a:xfrm>
            <a:off x="365760" y="3182112"/>
            <a:ext cx="8412480" cy="1709928"/>
          </a:xfrm>
          <a:prstGeom prst="rect">
            <a:avLst>
              <a:gd name="adj" fmla="val 4278"/>
            </a:avLst>
          </a:prstGeom>
          <a:solidFill>
            <a:srgbClr val="151921"/>
          </a:solidFill>
          <a:ln/>
        </p:spPr>
      </p:sp>
      <p:sp>
        <p:nvSpPr>
          <p:cNvPr id="11" name="Shape 9"/>
          <p:cNvSpPr/>
          <p:nvPr/>
        </p:nvSpPr>
        <p:spPr>
          <a:xfrm>
            <a:off x="365760" y="3182112"/>
            <a:ext cx="54864" cy="1709928"/>
          </a:xfrm>
          <a:prstGeom prst="rect">
            <a:avLst/>
          </a:prstGeom>
          <a:solidFill>
            <a:srgbClr val="FFC107"/>
          </a:solidFill>
          <a:ln/>
        </p:spPr>
      </p:sp>
      <p:sp>
        <p:nvSpPr>
          <p:cNvPr id="12" name="Shape 10"/>
          <p:cNvSpPr/>
          <p:nvPr/>
        </p:nvSpPr>
        <p:spPr>
          <a:xfrm>
            <a:off x="548640" y="3273552"/>
            <a:ext cx="91440" cy="91440"/>
          </a:xfrm>
          <a:prstGeom prst="ellipse">
            <a:avLst/>
          </a:prstGeom>
          <a:solidFill>
            <a:srgbClr val="FF6B6B"/>
          </a:solidFill>
          <a:ln/>
        </p:spPr>
      </p:sp>
      <p:sp>
        <p:nvSpPr>
          <p:cNvPr id="13" name="Shape 11"/>
          <p:cNvSpPr/>
          <p:nvPr/>
        </p:nvSpPr>
        <p:spPr>
          <a:xfrm>
            <a:off x="676656" y="3273552"/>
            <a:ext cx="91440" cy="91440"/>
          </a:xfrm>
          <a:prstGeom prst="ellipse">
            <a:avLst/>
          </a:prstGeom>
          <a:solidFill>
            <a:srgbClr val="FFC107"/>
          </a:solidFill>
          <a:ln/>
        </p:spPr>
      </p:sp>
      <p:sp>
        <p:nvSpPr>
          <p:cNvPr id="14" name="Shape 12"/>
          <p:cNvSpPr/>
          <p:nvPr/>
        </p:nvSpPr>
        <p:spPr>
          <a:xfrm>
            <a:off x="804672" y="3273552"/>
            <a:ext cx="91440" cy="91440"/>
          </a:xfrm>
          <a:prstGeom prst="ellipse">
            <a:avLst/>
          </a:prstGeom>
          <a:solidFill>
            <a:srgbClr val="00D4AA"/>
          </a:solidFill>
          <a:ln/>
        </p:spPr>
      </p:sp>
      <p:sp>
        <p:nvSpPr>
          <p:cNvPr id="15" name="Text 13"/>
          <p:cNvSpPr/>
          <p:nvPr/>
        </p:nvSpPr>
        <p:spPr>
          <a:xfrm>
            <a:off x="1005840" y="3236976"/>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438144"/>
            <a:ext cx="8138160" cy="1399032"/>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import os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import pickle</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Delete a file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if os.path.exists("myfile.txt"):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os.remove("myfile.txt")</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Pickling — save object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data = {"name": "Alice", "scores": [85, 92, 78]}</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with open("data.pkl", "wb") as f:</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pickle.dump(data, f)       # Save to file</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Unpickling — load object back</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with open("data.pkl", "rb") as f:</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loaded = pickle.load(f)    # Load from file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print(loaded)                  # Original data!</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GIL (Global Interpreter Lock)? How is multithreading achieved?</a:t>
            </a:r>
            <a:endParaRPr lang="en-US" sz="1700" dirty="0"/>
          </a:p>
        </p:txBody>
      </p:sp>
      <p:sp>
        <p:nvSpPr>
          <p:cNvPr id="6" name="Shape 4"/>
          <p:cNvSpPr/>
          <p:nvPr/>
        </p:nvSpPr>
        <p:spPr>
          <a:xfrm>
            <a:off x="365760" y="868680"/>
            <a:ext cx="8412480" cy="2532888"/>
          </a:xfrm>
          <a:prstGeom prst="rect">
            <a:avLst>
              <a:gd name="adj" fmla="val 2888"/>
            </a:avLst>
          </a:prstGeom>
          <a:solidFill>
            <a:srgbClr val="242B3D"/>
          </a:solidFill>
          <a:ln/>
        </p:spPr>
      </p:sp>
      <p:sp>
        <p:nvSpPr>
          <p:cNvPr id="7" name="Shape 5"/>
          <p:cNvSpPr/>
          <p:nvPr/>
        </p:nvSpPr>
        <p:spPr>
          <a:xfrm>
            <a:off x="365760" y="868680"/>
            <a:ext cx="54864" cy="2532888"/>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2212848"/>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GIL (Global Interpreter Lock): A mutex (lock) in CPython that ensures only ONE thread can execute Python bytecode at a time. This makes Python thread-safe for memory but limits true parallel execution.</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Impact:</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CPU-bound tasks: Multithreading won't speed them up (GIL blocks)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I/O-bound tasks: Multithreading WORKS well (GIL is released during I/O)</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Solutions for true parallelism:</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multiprocessing module (separate processes)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concurrent.futures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For CPU-bound: Use multiprocessing, NOT multithreading</a:t>
            </a:r>
            <a:endParaRPr lang="en-US" sz="1150" dirty="0"/>
          </a:p>
        </p:txBody>
      </p:sp>
      <p:sp>
        <p:nvSpPr>
          <p:cNvPr id="10" name="Shape 8"/>
          <p:cNvSpPr/>
          <p:nvPr/>
        </p:nvSpPr>
        <p:spPr>
          <a:xfrm>
            <a:off x="365760" y="3538728"/>
            <a:ext cx="8412480" cy="1353312"/>
          </a:xfrm>
          <a:prstGeom prst="rect">
            <a:avLst>
              <a:gd name="adj" fmla="val 5405"/>
            </a:avLst>
          </a:prstGeom>
          <a:solidFill>
            <a:srgbClr val="151921"/>
          </a:solidFill>
          <a:ln/>
        </p:spPr>
      </p:sp>
      <p:sp>
        <p:nvSpPr>
          <p:cNvPr id="11" name="Shape 9"/>
          <p:cNvSpPr/>
          <p:nvPr/>
        </p:nvSpPr>
        <p:spPr>
          <a:xfrm>
            <a:off x="365760" y="3538728"/>
            <a:ext cx="54864" cy="1353312"/>
          </a:xfrm>
          <a:prstGeom prst="rect">
            <a:avLst/>
          </a:prstGeom>
          <a:solidFill>
            <a:srgbClr val="FFC107"/>
          </a:solidFill>
          <a:ln/>
        </p:spPr>
      </p:sp>
      <p:sp>
        <p:nvSpPr>
          <p:cNvPr id="12" name="Shape 10"/>
          <p:cNvSpPr/>
          <p:nvPr/>
        </p:nvSpPr>
        <p:spPr>
          <a:xfrm>
            <a:off x="548640" y="3630168"/>
            <a:ext cx="91440" cy="91440"/>
          </a:xfrm>
          <a:prstGeom prst="ellipse">
            <a:avLst/>
          </a:prstGeom>
          <a:solidFill>
            <a:srgbClr val="FF6B6B"/>
          </a:solidFill>
          <a:ln/>
        </p:spPr>
      </p:sp>
      <p:sp>
        <p:nvSpPr>
          <p:cNvPr id="13" name="Shape 11"/>
          <p:cNvSpPr/>
          <p:nvPr/>
        </p:nvSpPr>
        <p:spPr>
          <a:xfrm>
            <a:off x="676656" y="3630168"/>
            <a:ext cx="91440" cy="91440"/>
          </a:xfrm>
          <a:prstGeom prst="ellipse">
            <a:avLst/>
          </a:prstGeom>
          <a:solidFill>
            <a:srgbClr val="FFC107"/>
          </a:solidFill>
          <a:ln/>
        </p:spPr>
      </p:sp>
      <p:sp>
        <p:nvSpPr>
          <p:cNvPr id="14" name="Shape 12"/>
          <p:cNvSpPr/>
          <p:nvPr/>
        </p:nvSpPr>
        <p:spPr>
          <a:xfrm>
            <a:off x="804672" y="3630168"/>
            <a:ext cx="91440" cy="91440"/>
          </a:xfrm>
          <a:prstGeom prst="ellipse">
            <a:avLst/>
          </a:prstGeom>
          <a:solidFill>
            <a:srgbClr val="00D4AA"/>
          </a:solidFill>
          <a:ln/>
        </p:spPr>
      </p:sp>
      <p:sp>
        <p:nvSpPr>
          <p:cNvPr id="15" name="Text 13"/>
          <p:cNvSpPr/>
          <p:nvPr/>
        </p:nvSpPr>
        <p:spPr>
          <a:xfrm>
            <a:off x="1005840" y="3593592"/>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794760"/>
            <a:ext cx="8138160" cy="1042416"/>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import threading</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import time</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def task(name):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print(f"{name} started")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time.sleep(2)           # I/O wait — GIL released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print(f"{name} done")</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Multithreading — good for I/O-bound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t1 = threading.Thread(target=task, args=("Thread 1",))</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t2 = threading.Thread(target=task, args=("Thread 2",))</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t1.start()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t2.start()  # Both run "simultaneously"</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For CPU-bound: use multiprocessing</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from multiprocessing import Process</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are generators in Python? What are decorators?</a:t>
            </a:r>
            <a:endParaRPr lang="en-US" sz="1700" dirty="0"/>
          </a:p>
        </p:txBody>
      </p:sp>
      <p:sp>
        <p:nvSpPr>
          <p:cNvPr id="6" name="Shape 4"/>
          <p:cNvSpPr/>
          <p:nvPr/>
        </p:nvSpPr>
        <p:spPr>
          <a:xfrm>
            <a:off x="365760" y="868680"/>
            <a:ext cx="8412480" cy="1641348"/>
          </a:xfrm>
          <a:prstGeom prst="rect">
            <a:avLst>
              <a:gd name="adj" fmla="val 4457"/>
            </a:avLst>
          </a:prstGeom>
          <a:solidFill>
            <a:srgbClr val="242B3D"/>
          </a:solidFill>
          <a:ln/>
        </p:spPr>
      </p:sp>
      <p:sp>
        <p:nvSpPr>
          <p:cNvPr id="7" name="Shape 5"/>
          <p:cNvSpPr/>
          <p:nvPr/>
        </p:nvSpPr>
        <p:spPr>
          <a:xfrm>
            <a:off x="365760" y="868680"/>
            <a:ext cx="54864" cy="1641348"/>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321308"/>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Generators: Functions that YIELD values one at a time instead of returning all at once. They are memory-efficient because they generate values on-the-fly. Use 'yield' keyword instead of 'return'.</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Decorators: Functions that MODIFY or ENHANCE other functions without changing their code. They wrap a function to add extra behavior. Use @ syntax.</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Key advantage of generators: For large datasets, they don't load everything into memory at once.</a:t>
            </a:r>
            <a:endParaRPr lang="en-US" sz="1150" dirty="0"/>
          </a:p>
        </p:txBody>
      </p:sp>
      <p:sp>
        <p:nvSpPr>
          <p:cNvPr id="10" name="Shape 8"/>
          <p:cNvSpPr/>
          <p:nvPr/>
        </p:nvSpPr>
        <p:spPr>
          <a:xfrm>
            <a:off x="365760" y="2647188"/>
            <a:ext cx="8412480" cy="2244852"/>
          </a:xfrm>
          <a:prstGeom prst="rect">
            <a:avLst>
              <a:gd name="adj" fmla="val 3259"/>
            </a:avLst>
          </a:prstGeom>
          <a:solidFill>
            <a:srgbClr val="151921"/>
          </a:solidFill>
          <a:ln/>
        </p:spPr>
      </p:sp>
      <p:sp>
        <p:nvSpPr>
          <p:cNvPr id="11" name="Shape 9"/>
          <p:cNvSpPr/>
          <p:nvPr/>
        </p:nvSpPr>
        <p:spPr>
          <a:xfrm>
            <a:off x="365760" y="2647188"/>
            <a:ext cx="54864" cy="2244852"/>
          </a:xfrm>
          <a:prstGeom prst="rect">
            <a:avLst/>
          </a:prstGeom>
          <a:solidFill>
            <a:srgbClr val="FFC107"/>
          </a:solidFill>
          <a:ln/>
        </p:spPr>
      </p:sp>
      <p:sp>
        <p:nvSpPr>
          <p:cNvPr id="12" name="Shape 10"/>
          <p:cNvSpPr/>
          <p:nvPr/>
        </p:nvSpPr>
        <p:spPr>
          <a:xfrm>
            <a:off x="548640" y="2738628"/>
            <a:ext cx="91440" cy="91440"/>
          </a:xfrm>
          <a:prstGeom prst="ellipse">
            <a:avLst/>
          </a:prstGeom>
          <a:solidFill>
            <a:srgbClr val="FF6B6B"/>
          </a:solidFill>
          <a:ln/>
        </p:spPr>
      </p:sp>
      <p:sp>
        <p:nvSpPr>
          <p:cNvPr id="13" name="Shape 11"/>
          <p:cNvSpPr/>
          <p:nvPr/>
        </p:nvSpPr>
        <p:spPr>
          <a:xfrm>
            <a:off x="676656" y="2738628"/>
            <a:ext cx="91440" cy="91440"/>
          </a:xfrm>
          <a:prstGeom prst="ellipse">
            <a:avLst/>
          </a:prstGeom>
          <a:solidFill>
            <a:srgbClr val="FFC107"/>
          </a:solidFill>
          <a:ln/>
        </p:spPr>
      </p:sp>
      <p:sp>
        <p:nvSpPr>
          <p:cNvPr id="14" name="Shape 12"/>
          <p:cNvSpPr/>
          <p:nvPr/>
        </p:nvSpPr>
        <p:spPr>
          <a:xfrm>
            <a:off x="804672" y="2738628"/>
            <a:ext cx="91440" cy="91440"/>
          </a:xfrm>
          <a:prstGeom prst="ellipse">
            <a:avLst/>
          </a:prstGeom>
          <a:solidFill>
            <a:srgbClr val="00D4AA"/>
          </a:solidFill>
          <a:ln/>
        </p:spPr>
      </p:sp>
      <p:sp>
        <p:nvSpPr>
          <p:cNvPr id="15" name="Text 13"/>
          <p:cNvSpPr/>
          <p:nvPr/>
        </p:nvSpPr>
        <p:spPr>
          <a:xfrm>
            <a:off x="1005840" y="2702052"/>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2903220"/>
            <a:ext cx="8138160" cy="1933956"/>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def count_up(n):           # Generator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i = 0</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while i &lt; n:</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yield i             # Yields one at a time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i += 1</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for num in count_up(5):</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print(num)              # 0, 1, 2, 3, 4</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Decorator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def my_decorator(func):</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wrapper():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print("Before")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func()</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print("After")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return wrapper</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@my_decorator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def say_hello():</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print("Hello!")        # Before→Hello!→After</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shallow copy and deep copy in Python? How are arguments passed?</a:t>
            </a:r>
            <a:endParaRPr lang="en-US" sz="1700" dirty="0"/>
          </a:p>
        </p:txBody>
      </p:sp>
      <p:sp>
        <p:nvSpPr>
          <p:cNvPr id="6" name="Shape 4"/>
          <p:cNvSpPr/>
          <p:nvPr/>
        </p:nvSpPr>
        <p:spPr>
          <a:xfrm>
            <a:off x="365760" y="868680"/>
            <a:ext cx="8412480" cy="1997964"/>
          </a:xfrm>
          <a:prstGeom prst="rect">
            <a:avLst>
              <a:gd name="adj" fmla="val 3661"/>
            </a:avLst>
          </a:prstGeom>
          <a:solidFill>
            <a:srgbClr val="242B3D"/>
          </a:solidFill>
          <a:ln/>
        </p:spPr>
      </p:sp>
      <p:sp>
        <p:nvSpPr>
          <p:cNvPr id="7" name="Shape 5"/>
          <p:cNvSpPr/>
          <p:nvPr/>
        </p:nvSpPr>
        <p:spPr>
          <a:xfrm>
            <a:off x="365760" y="868680"/>
            <a:ext cx="54864" cy="1997964"/>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677924"/>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Shallow Copy: Creates a new object but references the SAME inner objects. Changes to nested objects affect the copy. Use: copy.copy() or list.copy()</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Deep Copy: Creates a completely INDEPENDENT copy — all nested objects are also copied. Changes don't affect original. Use: copy.deepcopy()</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Argument Passing: Python uses 'Pass by Object Reference' (also called pass by assignment). The function gets a reference to the object — if you modify the object, changes are visible outside. But reassigning the variable doesn't affect the original.</a:t>
            </a:r>
            <a:endParaRPr lang="en-US" sz="1150" dirty="0"/>
          </a:p>
        </p:txBody>
      </p:sp>
      <p:sp>
        <p:nvSpPr>
          <p:cNvPr id="10" name="Shape 8"/>
          <p:cNvSpPr/>
          <p:nvPr/>
        </p:nvSpPr>
        <p:spPr>
          <a:xfrm>
            <a:off x="365760" y="3003804"/>
            <a:ext cx="8412480" cy="1888236"/>
          </a:xfrm>
          <a:prstGeom prst="rect">
            <a:avLst>
              <a:gd name="adj" fmla="val 3874"/>
            </a:avLst>
          </a:prstGeom>
          <a:solidFill>
            <a:srgbClr val="151921"/>
          </a:solidFill>
          <a:ln/>
        </p:spPr>
      </p:sp>
      <p:sp>
        <p:nvSpPr>
          <p:cNvPr id="11" name="Shape 9"/>
          <p:cNvSpPr/>
          <p:nvPr/>
        </p:nvSpPr>
        <p:spPr>
          <a:xfrm>
            <a:off x="365760" y="3003804"/>
            <a:ext cx="54864" cy="1888236"/>
          </a:xfrm>
          <a:prstGeom prst="rect">
            <a:avLst/>
          </a:prstGeom>
          <a:solidFill>
            <a:srgbClr val="FFC107"/>
          </a:solidFill>
          <a:ln/>
        </p:spPr>
      </p:sp>
      <p:sp>
        <p:nvSpPr>
          <p:cNvPr id="12" name="Shape 10"/>
          <p:cNvSpPr/>
          <p:nvPr/>
        </p:nvSpPr>
        <p:spPr>
          <a:xfrm>
            <a:off x="548640" y="3095244"/>
            <a:ext cx="91440" cy="91440"/>
          </a:xfrm>
          <a:prstGeom prst="ellipse">
            <a:avLst/>
          </a:prstGeom>
          <a:solidFill>
            <a:srgbClr val="FF6B6B"/>
          </a:solidFill>
          <a:ln/>
        </p:spPr>
      </p:sp>
      <p:sp>
        <p:nvSpPr>
          <p:cNvPr id="13" name="Shape 11"/>
          <p:cNvSpPr/>
          <p:nvPr/>
        </p:nvSpPr>
        <p:spPr>
          <a:xfrm>
            <a:off x="676656" y="3095244"/>
            <a:ext cx="91440" cy="91440"/>
          </a:xfrm>
          <a:prstGeom prst="ellipse">
            <a:avLst/>
          </a:prstGeom>
          <a:solidFill>
            <a:srgbClr val="FFC107"/>
          </a:solidFill>
          <a:ln/>
        </p:spPr>
      </p:sp>
      <p:sp>
        <p:nvSpPr>
          <p:cNvPr id="14" name="Shape 12"/>
          <p:cNvSpPr/>
          <p:nvPr/>
        </p:nvSpPr>
        <p:spPr>
          <a:xfrm>
            <a:off x="804672" y="3095244"/>
            <a:ext cx="91440" cy="91440"/>
          </a:xfrm>
          <a:prstGeom prst="ellipse">
            <a:avLst/>
          </a:prstGeom>
          <a:solidFill>
            <a:srgbClr val="00D4AA"/>
          </a:solidFill>
          <a:ln/>
        </p:spPr>
      </p:sp>
      <p:sp>
        <p:nvSpPr>
          <p:cNvPr id="15" name="Text 13"/>
          <p:cNvSpPr/>
          <p:nvPr/>
        </p:nvSpPr>
        <p:spPr>
          <a:xfrm>
            <a:off x="1005840" y="3058668"/>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259836"/>
            <a:ext cx="8138160" cy="1577340"/>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import copy</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original = [[1, 2], [3, 4]]</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Shallow copy — shared inner refs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shallow = copy.copy(original)</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shallow[0][0] = 99</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print(original)  # [[99, 2], [3, 4]] affected!</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Deep copy — fully independent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deep = copy.deepcopy([[1, 2], [3, 4]])</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deep[0][0] = 99   # Original unaffected</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Pass by reference: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def modify(lst):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lst.append(4)      # Modifies original!</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my_list = [1, 2, 3]</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modify(my_list)        # [1, 2, 3, 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C63FF"/>
          </a:solidFill>
          <a:ln/>
        </p:spPr>
      </p:sp>
      <p:sp>
        <p:nvSpPr>
          <p:cNvPr id="3" name="Shape 1"/>
          <p:cNvSpPr/>
          <p:nvPr/>
        </p:nvSpPr>
        <p:spPr>
          <a:xfrm>
            <a:off x="914400" y="1737360"/>
            <a:ext cx="1280160" cy="1280160"/>
          </a:xfrm>
          <a:prstGeom prst="ellipse">
            <a:avLst/>
          </a:prstGeom>
          <a:solidFill>
            <a:srgbClr val="6C63FF">
              <a:alpha val="80000"/>
            </a:srgbClr>
          </a:solidFill>
          <a:ln/>
        </p:spPr>
      </p:sp>
      <p:pic>
        <p:nvPicPr>
          <p:cNvPr id="4" name="Image 0" descr="preencoded.png">    </p:cNvPr>
          <p:cNvPicPr>
            <a:picLocks noChangeAspect="1"/>
          </p:cNvPicPr>
          <p:nvPr/>
        </p:nvPicPr>
        <p:blipFill>
          <a:blip r:embed="rId1"/>
          <a:stretch>
            <a:fillRect/>
          </a:stretch>
        </p:blipFill>
        <p:spPr>
          <a:xfrm>
            <a:off x="1051560" y="1874520"/>
            <a:ext cx="1005840" cy="1005840"/>
          </a:xfrm>
          <a:prstGeom prst="rect">
            <a:avLst/>
          </a:prstGeom>
        </p:spPr>
      </p:pic>
      <p:sp>
        <p:nvSpPr>
          <p:cNvPr id="5" name="Text 2"/>
          <p:cNvSpPr/>
          <p:nvPr/>
        </p:nvSpPr>
        <p:spPr>
          <a:xfrm>
            <a:off x="2560320" y="1554480"/>
            <a:ext cx="5943600" cy="10972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Sorting, Pandas &amp; Frameworks</a:t>
            </a:r>
            <a:endParaRPr lang="en-US" sz="3600" dirty="0"/>
          </a:p>
        </p:txBody>
      </p:sp>
      <p:sp>
        <p:nvSpPr>
          <p:cNvPr id="6" name="Text 3"/>
          <p:cNvSpPr/>
          <p:nvPr/>
        </p:nvSpPr>
        <p:spPr>
          <a:xfrm>
            <a:off x="2560320" y="2834640"/>
            <a:ext cx="5943600" cy="411480"/>
          </a:xfrm>
          <a:prstGeom prst="rect">
            <a:avLst/>
          </a:prstGeom>
          <a:noFill/>
          <a:ln/>
        </p:spPr>
        <p:txBody>
          <a:bodyPr wrap="square" rtlCol="0" anchor="t"/>
          <a:lstStyle/>
          <a:p>
            <a:pPr indent="0" marL="0">
              <a:buNone/>
            </a:pPr>
            <a:r>
              <a:rPr lang="en-US" sz="1500" dirty="0">
                <a:solidFill>
                  <a:srgbClr val="8892B0"/>
                </a:solidFill>
                <a:latin typeface="Calibri" pitchFamily="34" charset="0"/>
                <a:ea typeface="Calibri" pitchFamily="34" charset="-122"/>
                <a:cs typeface="Calibri" pitchFamily="34" charset="-120"/>
              </a:rPr>
              <a:t>Performance, Data Science &amp; Web Dev</a:t>
            </a:r>
            <a:endParaRPr lang="en-US" sz="1500" dirty="0"/>
          </a:p>
        </p:txBody>
      </p:sp>
      <p:sp>
        <p:nvSpPr>
          <p:cNvPr id="7" name="Shape 4"/>
          <p:cNvSpPr/>
          <p:nvPr/>
        </p:nvSpPr>
        <p:spPr>
          <a:xfrm>
            <a:off x="2560320" y="3291840"/>
            <a:ext cx="1097280" cy="36576"/>
          </a:xfrm>
          <a:prstGeom prst="rect">
            <a:avLst/>
          </a:prstGeom>
          <a:solidFill>
            <a:srgbClr val="00D4AA"/>
          </a:solidFill>
          <a:ln/>
        </p:spPr>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sorted() vs sort()? Which sorting technique does Python use?</a:t>
            </a:r>
            <a:endParaRPr lang="en-US" sz="1700" dirty="0"/>
          </a:p>
        </p:txBody>
      </p:sp>
      <p:sp>
        <p:nvSpPr>
          <p:cNvPr id="6" name="Shape 4"/>
          <p:cNvSpPr/>
          <p:nvPr/>
        </p:nvSpPr>
        <p:spPr>
          <a:xfrm>
            <a:off x="365760" y="868680"/>
            <a:ext cx="8412480" cy="2354580"/>
          </a:xfrm>
          <a:prstGeom prst="rect">
            <a:avLst>
              <a:gd name="adj" fmla="val 3107"/>
            </a:avLst>
          </a:prstGeom>
          <a:solidFill>
            <a:srgbClr val="242B3D"/>
          </a:solidFill>
          <a:ln/>
        </p:spPr>
      </p:sp>
      <p:sp>
        <p:nvSpPr>
          <p:cNvPr id="7" name="Shape 5"/>
          <p:cNvSpPr/>
          <p:nvPr/>
        </p:nvSpPr>
        <p:spPr>
          <a:xfrm>
            <a:off x="365760" y="868680"/>
            <a:ext cx="54864" cy="2354580"/>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2034540"/>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Python uses TIMSORT — a hybrid sorting algorithm that combines Merge Sort and Insertion Sort. Time complexity: O(n log n) in worst case.</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sorted() vs sort():</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sorted(): Returns a NEW sorted list. Original remains unchanged. Works on ANY iterable.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sort(): Sorts the list IN PLACE. Returns None. Only works on lists.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Key differences: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sorted() = non-destructive (creates new list)</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sort() = destructive (modifies original)</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Both accept 'key' and 'reverse' parameters</a:t>
            </a:r>
            <a:endParaRPr lang="en-US" sz="1150" dirty="0"/>
          </a:p>
        </p:txBody>
      </p:sp>
      <p:sp>
        <p:nvSpPr>
          <p:cNvPr id="10" name="Shape 8"/>
          <p:cNvSpPr/>
          <p:nvPr/>
        </p:nvSpPr>
        <p:spPr>
          <a:xfrm>
            <a:off x="365760" y="3360420"/>
            <a:ext cx="8412480" cy="1531620"/>
          </a:xfrm>
          <a:prstGeom prst="rect">
            <a:avLst>
              <a:gd name="adj" fmla="val 4776"/>
            </a:avLst>
          </a:prstGeom>
          <a:solidFill>
            <a:srgbClr val="151921"/>
          </a:solidFill>
          <a:ln/>
        </p:spPr>
      </p:sp>
      <p:sp>
        <p:nvSpPr>
          <p:cNvPr id="11" name="Shape 9"/>
          <p:cNvSpPr/>
          <p:nvPr/>
        </p:nvSpPr>
        <p:spPr>
          <a:xfrm>
            <a:off x="365760" y="3360420"/>
            <a:ext cx="54864" cy="1531620"/>
          </a:xfrm>
          <a:prstGeom prst="rect">
            <a:avLst/>
          </a:prstGeom>
          <a:solidFill>
            <a:srgbClr val="FFC107"/>
          </a:solidFill>
          <a:ln/>
        </p:spPr>
      </p:sp>
      <p:sp>
        <p:nvSpPr>
          <p:cNvPr id="12" name="Shape 10"/>
          <p:cNvSpPr/>
          <p:nvPr/>
        </p:nvSpPr>
        <p:spPr>
          <a:xfrm>
            <a:off x="548640" y="3451860"/>
            <a:ext cx="91440" cy="91440"/>
          </a:xfrm>
          <a:prstGeom prst="ellipse">
            <a:avLst/>
          </a:prstGeom>
          <a:solidFill>
            <a:srgbClr val="FF6B6B"/>
          </a:solidFill>
          <a:ln/>
        </p:spPr>
      </p:sp>
      <p:sp>
        <p:nvSpPr>
          <p:cNvPr id="13" name="Shape 11"/>
          <p:cNvSpPr/>
          <p:nvPr/>
        </p:nvSpPr>
        <p:spPr>
          <a:xfrm>
            <a:off x="676656" y="3451860"/>
            <a:ext cx="91440" cy="91440"/>
          </a:xfrm>
          <a:prstGeom prst="ellipse">
            <a:avLst/>
          </a:prstGeom>
          <a:solidFill>
            <a:srgbClr val="FFC107"/>
          </a:solidFill>
          <a:ln/>
        </p:spPr>
      </p:sp>
      <p:sp>
        <p:nvSpPr>
          <p:cNvPr id="14" name="Shape 12"/>
          <p:cNvSpPr/>
          <p:nvPr/>
        </p:nvSpPr>
        <p:spPr>
          <a:xfrm>
            <a:off x="804672" y="3451860"/>
            <a:ext cx="91440" cy="91440"/>
          </a:xfrm>
          <a:prstGeom prst="ellipse">
            <a:avLst/>
          </a:prstGeom>
          <a:solidFill>
            <a:srgbClr val="00D4AA"/>
          </a:solidFill>
          <a:ln/>
        </p:spPr>
      </p:sp>
      <p:sp>
        <p:nvSpPr>
          <p:cNvPr id="15" name="Text 13"/>
          <p:cNvSpPr/>
          <p:nvPr/>
        </p:nvSpPr>
        <p:spPr>
          <a:xfrm>
            <a:off x="1005840" y="3415284"/>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616452"/>
            <a:ext cx="8138160" cy="1220724"/>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numbers = [3, 1, 4, 1, 5, 9, 2, 6]</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sorted() — returns NEW list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new_list = sorted(numbers)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print(numbers)    # [3, 1, 4, 1, 5, 9, 2, 6] — unchanged!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print(new_list)   # [1, 1, 2, 3, 4, 5, 6, 9]</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sort() — modifies IN PLACE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numbers.sort()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print(numbers)    # [1, 1, 2, 3, 4, 5, 6, 9] — changed!</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With key parameter: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words = ["banana", "apple", "cherry"]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print(sorted(words, key=len))           # Sort by length</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print(sorted(words, reverse=True))      # Reverse order</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Pandas? What is the difference between DataFrame and Series?</a:t>
            </a:r>
            <a:endParaRPr lang="en-US" sz="1700" dirty="0"/>
          </a:p>
        </p:txBody>
      </p:sp>
      <p:sp>
        <p:nvSpPr>
          <p:cNvPr id="6" name="Shape 4"/>
          <p:cNvSpPr/>
          <p:nvPr/>
        </p:nvSpPr>
        <p:spPr>
          <a:xfrm>
            <a:off x="365760" y="868680"/>
            <a:ext cx="8412480" cy="2532888"/>
          </a:xfrm>
          <a:prstGeom prst="rect">
            <a:avLst>
              <a:gd name="adj" fmla="val 2888"/>
            </a:avLst>
          </a:prstGeom>
          <a:solidFill>
            <a:srgbClr val="242B3D"/>
          </a:solidFill>
          <a:ln/>
        </p:spPr>
      </p:sp>
      <p:sp>
        <p:nvSpPr>
          <p:cNvPr id="7" name="Shape 5"/>
          <p:cNvSpPr/>
          <p:nvPr/>
        </p:nvSpPr>
        <p:spPr>
          <a:xfrm>
            <a:off x="365760" y="868680"/>
            <a:ext cx="54864" cy="2532888"/>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2212848"/>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Pandas: A powerful Python library for data manipulation and analysis. Built on top of NumPy. The go-to tool for data science.</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DataFrame vs Series: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Series: A ONE-dimensional labeled array (like a single column). Similar to a Python list but with an index.</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DataFrame: A TWO-dimensional labeled data structure (like a table/spreadsheet). Made up of multiple Series (columns).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Think of it this way:</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Series = one column of a spreadsheet</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DataFrame = entire spreadsheet (table)</a:t>
            </a:r>
            <a:endParaRPr lang="en-US" sz="1150" dirty="0"/>
          </a:p>
        </p:txBody>
      </p:sp>
      <p:sp>
        <p:nvSpPr>
          <p:cNvPr id="10" name="Shape 8"/>
          <p:cNvSpPr/>
          <p:nvPr/>
        </p:nvSpPr>
        <p:spPr>
          <a:xfrm>
            <a:off x="365760" y="3538728"/>
            <a:ext cx="8412480" cy="1353312"/>
          </a:xfrm>
          <a:prstGeom prst="rect">
            <a:avLst>
              <a:gd name="adj" fmla="val 5405"/>
            </a:avLst>
          </a:prstGeom>
          <a:solidFill>
            <a:srgbClr val="151921"/>
          </a:solidFill>
          <a:ln/>
        </p:spPr>
      </p:sp>
      <p:sp>
        <p:nvSpPr>
          <p:cNvPr id="11" name="Shape 9"/>
          <p:cNvSpPr/>
          <p:nvPr/>
        </p:nvSpPr>
        <p:spPr>
          <a:xfrm>
            <a:off x="365760" y="3538728"/>
            <a:ext cx="54864" cy="1353312"/>
          </a:xfrm>
          <a:prstGeom prst="rect">
            <a:avLst/>
          </a:prstGeom>
          <a:solidFill>
            <a:srgbClr val="FFC107"/>
          </a:solidFill>
          <a:ln/>
        </p:spPr>
      </p:sp>
      <p:sp>
        <p:nvSpPr>
          <p:cNvPr id="12" name="Shape 10"/>
          <p:cNvSpPr/>
          <p:nvPr/>
        </p:nvSpPr>
        <p:spPr>
          <a:xfrm>
            <a:off x="548640" y="3630168"/>
            <a:ext cx="91440" cy="91440"/>
          </a:xfrm>
          <a:prstGeom prst="ellipse">
            <a:avLst/>
          </a:prstGeom>
          <a:solidFill>
            <a:srgbClr val="FF6B6B"/>
          </a:solidFill>
          <a:ln/>
        </p:spPr>
      </p:sp>
      <p:sp>
        <p:nvSpPr>
          <p:cNvPr id="13" name="Shape 11"/>
          <p:cNvSpPr/>
          <p:nvPr/>
        </p:nvSpPr>
        <p:spPr>
          <a:xfrm>
            <a:off x="676656" y="3630168"/>
            <a:ext cx="91440" cy="91440"/>
          </a:xfrm>
          <a:prstGeom prst="ellipse">
            <a:avLst/>
          </a:prstGeom>
          <a:solidFill>
            <a:srgbClr val="FFC107"/>
          </a:solidFill>
          <a:ln/>
        </p:spPr>
      </p:sp>
      <p:sp>
        <p:nvSpPr>
          <p:cNvPr id="14" name="Shape 12"/>
          <p:cNvSpPr/>
          <p:nvPr/>
        </p:nvSpPr>
        <p:spPr>
          <a:xfrm>
            <a:off x="804672" y="3630168"/>
            <a:ext cx="91440" cy="91440"/>
          </a:xfrm>
          <a:prstGeom prst="ellipse">
            <a:avLst/>
          </a:prstGeom>
          <a:solidFill>
            <a:srgbClr val="00D4AA"/>
          </a:solidFill>
          <a:ln/>
        </p:spPr>
      </p:sp>
      <p:sp>
        <p:nvSpPr>
          <p:cNvPr id="15" name="Text 13"/>
          <p:cNvSpPr/>
          <p:nvPr/>
        </p:nvSpPr>
        <p:spPr>
          <a:xfrm>
            <a:off x="1005840" y="3593592"/>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794760"/>
            <a:ext cx="8138160" cy="1042416"/>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import pandas as pd</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Series — 1D (single column)</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scores = pd.Series([85, 92, 78], index=["Alice", "Bob", "Carol"])</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print(scores["Alice"])    # 85</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DataFrame — 2D (table)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data = pd.DataFrame({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"Name": ["Alice", "Bob", "Carol"],</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"Age": [25, 30, 28],</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"Score": [85, 92, 78]</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print(data)               # Table format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print(data["Score"])      # Returns a Series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print(data.describe())    # Quick statistics</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Django? What is Flask? Which is better?</a:t>
            </a:r>
            <a:endParaRPr lang="en-US" sz="1700" dirty="0"/>
          </a:p>
        </p:txBody>
      </p:sp>
      <p:sp>
        <p:nvSpPr>
          <p:cNvPr id="6" name="Shape 4"/>
          <p:cNvSpPr/>
          <p:nvPr/>
        </p:nvSpPr>
        <p:spPr>
          <a:xfrm>
            <a:off x="365760" y="868680"/>
            <a:ext cx="8412480" cy="2354580"/>
          </a:xfrm>
          <a:prstGeom prst="rect">
            <a:avLst>
              <a:gd name="adj" fmla="val 3107"/>
            </a:avLst>
          </a:prstGeom>
          <a:solidFill>
            <a:srgbClr val="242B3D"/>
          </a:solidFill>
          <a:ln/>
        </p:spPr>
      </p:sp>
      <p:sp>
        <p:nvSpPr>
          <p:cNvPr id="7" name="Shape 5"/>
          <p:cNvSpPr/>
          <p:nvPr/>
        </p:nvSpPr>
        <p:spPr>
          <a:xfrm>
            <a:off x="365760" y="868680"/>
            <a:ext cx="54864" cy="2354580"/>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2034540"/>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Django: A full-featured, high-level web framework. Follows the 'batteries included' philosophy — comes with everything you need (ORM, admin panel, authentication, etc.). Best for large, complex projects.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Flask: A lightweight, micro web framework. Minimal and flexible — you add what you need. Best for small projects, APIs, and prototypes.</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Django vs Flask — Neither is 'better':</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Django = large projects, built-in features, structured</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Flask = small projects, flexibility, simplicity</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Choice depends on project requirements!</a:t>
            </a:r>
            <a:endParaRPr lang="en-US" sz="1150" dirty="0"/>
          </a:p>
        </p:txBody>
      </p:sp>
      <p:sp>
        <p:nvSpPr>
          <p:cNvPr id="10" name="Shape 8"/>
          <p:cNvSpPr/>
          <p:nvPr/>
        </p:nvSpPr>
        <p:spPr>
          <a:xfrm>
            <a:off x="365760" y="3360420"/>
            <a:ext cx="8412480" cy="1531620"/>
          </a:xfrm>
          <a:prstGeom prst="rect">
            <a:avLst>
              <a:gd name="adj" fmla="val 4776"/>
            </a:avLst>
          </a:prstGeom>
          <a:solidFill>
            <a:srgbClr val="151921"/>
          </a:solidFill>
          <a:ln/>
        </p:spPr>
      </p:sp>
      <p:sp>
        <p:nvSpPr>
          <p:cNvPr id="11" name="Shape 9"/>
          <p:cNvSpPr/>
          <p:nvPr/>
        </p:nvSpPr>
        <p:spPr>
          <a:xfrm>
            <a:off x="365760" y="3360420"/>
            <a:ext cx="54864" cy="1531620"/>
          </a:xfrm>
          <a:prstGeom prst="rect">
            <a:avLst/>
          </a:prstGeom>
          <a:solidFill>
            <a:srgbClr val="FFC107"/>
          </a:solidFill>
          <a:ln/>
        </p:spPr>
      </p:sp>
      <p:sp>
        <p:nvSpPr>
          <p:cNvPr id="12" name="Shape 10"/>
          <p:cNvSpPr/>
          <p:nvPr/>
        </p:nvSpPr>
        <p:spPr>
          <a:xfrm>
            <a:off x="548640" y="3451860"/>
            <a:ext cx="91440" cy="91440"/>
          </a:xfrm>
          <a:prstGeom prst="ellipse">
            <a:avLst/>
          </a:prstGeom>
          <a:solidFill>
            <a:srgbClr val="FF6B6B"/>
          </a:solidFill>
          <a:ln/>
        </p:spPr>
      </p:sp>
      <p:sp>
        <p:nvSpPr>
          <p:cNvPr id="13" name="Shape 11"/>
          <p:cNvSpPr/>
          <p:nvPr/>
        </p:nvSpPr>
        <p:spPr>
          <a:xfrm>
            <a:off x="676656" y="3451860"/>
            <a:ext cx="91440" cy="91440"/>
          </a:xfrm>
          <a:prstGeom prst="ellipse">
            <a:avLst/>
          </a:prstGeom>
          <a:solidFill>
            <a:srgbClr val="FFC107"/>
          </a:solidFill>
          <a:ln/>
        </p:spPr>
      </p:sp>
      <p:sp>
        <p:nvSpPr>
          <p:cNvPr id="14" name="Shape 12"/>
          <p:cNvSpPr/>
          <p:nvPr/>
        </p:nvSpPr>
        <p:spPr>
          <a:xfrm>
            <a:off x="804672" y="3451860"/>
            <a:ext cx="91440" cy="91440"/>
          </a:xfrm>
          <a:prstGeom prst="ellipse">
            <a:avLst/>
          </a:prstGeom>
          <a:solidFill>
            <a:srgbClr val="00D4AA"/>
          </a:solidFill>
          <a:ln/>
        </p:spPr>
      </p:sp>
      <p:sp>
        <p:nvSpPr>
          <p:cNvPr id="15" name="Text 13"/>
          <p:cNvSpPr/>
          <p:nvPr/>
        </p:nvSpPr>
        <p:spPr>
          <a:xfrm>
            <a:off x="1005840" y="3415284"/>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616452"/>
            <a:ext cx="8138160" cy="1220724"/>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 Flask — simple and minimal</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from flask import Flask</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app = Flask(__name__)</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@app.route("/")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def hello():</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return "Hello, World!"</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if __name__ == "__main__":</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app.run()  # Start server</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Django — project structure: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myproject/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manage.py</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myapp/</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views.py      # Handle requests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models.py     # Database models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urls.py       # URL routing</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templates/    # HTML templates</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 / and // operators? xrange vs range? String capitalize?</a:t>
            </a:r>
            <a:endParaRPr lang="en-US" sz="1700" dirty="0"/>
          </a:p>
        </p:txBody>
      </p:sp>
      <p:sp>
        <p:nvSpPr>
          <p:cNvPr id="6" name="Shape 4"/>
          <p:cNvSpPr/>
          <p:nvPr/>
        </p:nvSpPr>
        <p:spPr>
          <a:xfrm>
            <a:off x="365760" y="868680"/>
            <a:ext cx="8412480" cy="2711196"/>
          </a:xfrm>
          <a:prstGeom prst="rect">
            <a:avLst>
              <a:gd name="adj" fmla="val 2698"/>
            </a:avLst>
          </a:prstGeom>
          <a:solidFill>
            <a:srgbClr val="242B3D"/>
          </a:solidFill>
          <a:ln/>
        </p:spPr>
      </p:sp>
      <p:sp>
        <p:nvSpPr>
          <p:cNvPr id="7" name="Shape 5"/>
          <p:cNvSpPr/>
          <p:nvPr/>
        </p:nvSpPr>
        <p:spPr>
          <a:xfrm>
            <a:off x="365760" y="868680"/>
            <a:ext cx="54864" cy="2711196"/>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2391156"/>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Operators:</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 (Division): Returns FLOAT result. 7/2 = 3.5</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 (Floor Division): Returns INTEGER (rounds down). 7//2 = 3</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 (Modulus): Returns REMAINDER. 7%2 = 1</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xrange vs range: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range() in Python 3 = xrange() in Python 2 (lazy, memory efficient)</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xrange() doesn't exist in Python 3</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range() in Python 2 created a full list in memory</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Capitalize first letter: Use .capitalize() or .title()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capitalize(): First letter upper, rest lower</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title(): First letter of EACH word upper</a:t>
            </a:r>
            <a:endParaRPr lang="en-US" sz="1150" dirty="0"/>
          </a:p>
        </p:txBody>
      </p:sp>
      <p:sp>
        <p:nvSpPr>
          <p:cNvPr id="10" name="Shape 8"/>
          <p:cNvSpPr/>
          <p:nvPr/>
        </p:nvSpPr>
        <p:spPr>
          <a:xfrm>
            <a:off x="365760" y="3717036"/>
            <a:ext cx="8412480" cy="1175004"/>
          </a:xfrm>
          <a:prstGeom prst="rect">
            <a:avLst>
              <a:gd name="adj" fmla="val 6226"/>
            </a:avLst>
          </a:prstGeom>
          <a:solidFill>
            <a:srgbClr val="151921"/>
          </a:solidFill>
          <a:ln/>
        </p:spPr>
      </p:sp>
      <p:sp>
        <p:nvSpPr>
          <p:cNvPr id="11" name="Shape 9"/>
          <p:cNvSpPr/>
          <p:nvPr/>
        </p:nvSpPr>
        <p:spPr>
          <a:xfrm>
            <a:off x="365760" y="3717036"/>
            <a:ext cx="54864" cy="1175004"/>
          </a:xfrm>
          <a:prstGeom prst="rect">
            <a:avLst/>
          </a:prstGeom>
          <a:solidFill>
            <a:srgbClr val="FFC107"/>
          </a:solidFill>
          <a:ln/>
        </p:spPr>
      </p:sp>
      <p:sp>
        <p:nvSpPr>
          <p:cNvPr id="12" name="Shape 10"/>
          <p:cNvSpPr/>
          <p:nvPr/>
        </p:nvSpPr>
        <p:spPr>
          <a:xfrm>
            <a:off x="548640" y="3808476"/>
            <a:ext cx="91440" cy="91440"/>
          </a:xfrm>
          <a:prstGeom prst="ellipse">
            <a:avLst/>
          </a:prstGeom>
          <a:solidFill>
            <a:srgbClr val="FF6B6B"/>
          </a:solidFill>
          <a:ln/>
        </p:spPr>
      </p:sp>
      <p:sp>
        <p:nvSpPr>
          <p:cNvPr id="13" name="Shape 11"/>
          <p:cNvSpPr/>
          <p:nvPr/>
        </p:nvSpPr>
        <p:spPr>
          <a:xfrm>
            <a:off x="676656" y="3808476"/>
            <a:ext cx="91440" cy="91440"/>
          </a:xfrm>
          <a:prstGeom prst="ellipse">
            <a:avLst/>
          </a:prstGeom>
          <a:solidFill>
            <a:srgbClr val="FFC107"/>
          </a:solidFill>
          <a:ln/>
        </p:spPr>
      </p:sp>
      <p:sp>
        <p:nvSpPr>
          <p:cNvPr id="14" name="Shape 12"/>
          <p:cNvSpPr/>
          <p:nvPr/>
        </p:nvSpPr>
        <p:spPr>
          <a:xfrm>
            <a:off x="804672" y="3808476"/>
            <a:ext cx="91440" cy="91440"/>
          </a:xfrm>
          <a:prstGeom prst="ellipse">
            <a:avLst/>
          </a:prstGeom>
          <a:solidFill>
            <a:srgbClr val="00D4AA"/>
          </a:solidFill>
          <a:ln/>
        </p:spPr>
      </p:sp>
      <p:sp>
        <p:nvSpPr>
          <p:cNvPr id="15" name="Text 13"/>
          <p:cNvSpPr/>
          <p:nvPr/>
        </p:nvSpPr>
        <p:spPr>
          <a:xfrm>
            <a:off x="1005840" y="3771900"/>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973068"/>
            <a:ext cx="8138160" cy="864108"/>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print(7 / 2)     # 3.5  (true division)</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print(7 // 2)    # 3    (floor division)</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print(7 % 2)     # 1    (remainder)</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range() in Python 3 (memory efficient)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for i in range(5):</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print(i)      # 0, 1, 2, 3, 4</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String capitalize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text = "hello world"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print(text.capitalize())  # Hello world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print(text.title())       # Hello World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print(text[0].upper() + text[1:])  # Hello world</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p:spPr>
      </p:sp>
      <p:sp>
        <p:nvSpPr>
          <p:cNvPr id="3" name="Shape 1"/>
          <p:cNvSpPr/>
          <p:nvPr/>
        </p:nvSpPr>
        <p:spPr>
          <a:xfrm>
            <a:off x="365760" y="201168"/>
            <a:ext cx="594360" cy="347472"/>
          </a:xfrm>
          <a:prstGeom prst="rect">
            <a:avLst>
              <a:gd name="adj" fmla="val 15789"/>
            </a:avLst>
          </a:prstGeom>
          <a:solidFill>
            <a:srgbClr val="6C63FF"/>
          </a:solidFill>
          <a:ln/>
        </p:spPr>
      </p:sp>
      <p:sp>
        <p:nvSpPr>
          <p:cNvPr id="4" name="Text 2"/>
          <p:cNvSpPr/>
          <p:nvPr/>
        </p:nvSpPr>
        <p:spPr>
          <a:xfrm>
            <a:off x="365760" y="201168"/>
            <a:ext cx="59436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5" name="Text 3"/>
          <p:cNvSpPr/>
          <p:nvPr/>
        </p:nvSpPr>
        <p:spPr>
          <a:xfrm>
            <a:off x="1097280" y="182880"/>
            <a:ext cx="77724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Fibonacci Series? Middle Element of Linked List in One Pass?</a:t>
            </a:r>
            <a:endParaRPr lang="en-US" sz="1700" dirty="0"/>
          </a:p>
        </p:txBody>
      </p:sp>
      <p:sp>
        <p:nvSpPr>
          <p:cNvPr id="6" name="Shape 4"/>
          <p:cNvSpPr/>
          <p:nvPr/>
        </p:nvSpPr>
        <p:spPr>
          <a:xfrm>
            <a:off x="365760" y="868680"/>
            <a:ext cx="8412480" cy="1819656"/>
          </a:xfrm>
          <a:prstGeom prst="rect">
            <a:avLst>
              <a:gd name="adj" fmla="val 4020"/>
            </a:avLst>
          </a:prstGeom>
          <a:solidFill>
            <a:srgbClr val="242B3D"/>
          </a:solidFill>
          <a:ln/>
        </p:spPr>
      </p:sp>
      <p:sp>
        <p:nvSpPr>
          <p:cNvPr id="7" name="Shape 5"/>
          <p:cNvSpPr/>
          <p:nvPr/>
        </p:nvSpPr>
        <p:spPr>
          <a:xfrm>
            <a:off x="365760" y="868680"/>
            <a:ext cx="54864" cy="1819656"/>
          </a:xfrm>
          <a:prstGeom prst="rect">
            <a:avLst/>
          </a:prstGeom>
          <a:solidFill>
            <a:srgbClr val="00D4AA"/>
          </a:solidFill>
          <a:ln/>
        </p:spPr>
      </p:sp>
      <p:sp>
        <p:nvSpPr>
          <p:cNvPr id="8" name="Text 6"/>
          <p:cNvSpPr/>
          <p:nvPr/>
        </p:nvSpPr>
        <p:spPr>
          <a:xfrm>
            <a:off x="502920" y="960120"/>
            <a:ext cx="914400" cy="201168"/>
          </a:xfrm>
          <a:prstGeom prst="rect">
            <a:avLst/>
          </a:prstGeom>
          <a:noFill/>
          <a:ln/>
        </p:spPr>
        <p:txBody>
          <a:bodyPr wrap="square" lIns="0" tIns="0" rIns="0" bIns="0" rtlCol="0" anchor="ctr"/>
          <a:lstStyle/>
          <a:p>
            <a:pPr indent="0" marL="0">
              <a:buNone/>
            </a:pPr>
            <a:r>
              <a:rPr lang="en-US" sz="900" b="1" dirty="0">
                <a:solidFill>
                  <a:srgbClr val="00D4AA"/>
                </a:solidFill>
                <a:latin typeface="Calibri" pitchFamily="34" charset="0"/>
                <a:ea typeface="Calibri" pitchFamily="34" charset="-122"/>
                <a:cs typeface="Calibri" pitchFamily="34" charset="-120"/>
              </a:rPr>
              <a:t>Answer</a:t>
            </a:r>
            <a:endParaRPr lang="en-US" sz="900" dirty="0"/>
          </a:p>
        </p:txBody>
      </p:sp>
      <p:sp>
        <p:nvSpPr>
          <p:cNvPr id="9" name="Text 7"/>
          <p:cNvSpPr/>
          <p:nvPr/>
        </p:nvSpPr>
        <p:spPr>
          <a:xfrm>
            <a:off x="502920" y="1124712"/>
            <a:ext cx="8138160" cy="1499616"/>
          </a:xfrm>
          <a:prstGeom prst="rect">
            <a:avLst/>
          </a:prstGeom>
          <a:noFill/>
          <a:ln/>
        </p:spPr>
        <p:txBody>
          <a:bodyPr wrap="square" lIns="0" tIns="0" rIns="0" bIns="0" rtlCol="0" anchor="t"/>
          <a:lstStyle/>
          <a:p>
            <a:pPr indent="0" marL="0">
              <a:buNone/>
            </a:pPr>
            <a:r>
              <a:rPr lang="en-US" sz="1150" dirty="0">
                <a:solidFill>
                  <a:srgbClr val="A8B2C8"/>
                </a:solidFill>
                <a:latin typeface="Calibri" pitchFamily="34" charset="0"/>
                <a:ea typeface="Calibri" pitchFamily="34" charset="-122"/>
                <a:cs typeface="Calibri" pitchFamily="34" charset="-120"/>
              </a:rPr>
              <a:t>Fibonacci: Each number is the SUM of the two preceding numbers. Series: 0, 1, 1, 2, 3, 5, 8, 13...</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Middle of Linked List (One Pass): Use the TWO POINTER technique (Floyd's algorithm):</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Slow pointer: Moves ONE step at a time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Fast pointer: Moves TWO steps at a time</a:t>
            </a: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 When fast reaches the end, slow is at the MIDDLE!</a:t>
            </a:r>
            <a:endParaRPr lang="en-US" sz="1150" dirty="0"/>
          </a:p>
          <a:p>
            <a:pPr indent="0" marL="0">
              <a:buNone/>
            </a:pPr>
            <a:endParaRPr lang="en-US" sz="1150" dirty="0"/>
          </a:p>
          <a:p>
            <a:pPr indent="0" marL="0">
              <a:buNone/>
            </a:pPr>
            <a:r>
              <a:rPr lang="en-US" sz="1150" dirty="0">
                <a:solidFill>
                  <a:srgbClr val="A8B2C8"/>
                </a:solidFill>
                <a:latin typeface="Calibri" pitchFamily="34" charset="0"/>
                <a:ea typeface="Calibri" pitchFamily="34" charset="-122"/>
                <a:cs typeface="Calibri" pitchFamily="34" charset="-120"/>
              </a:rPr>
              <a:t>Time complexity of inserting in linked list: O(1) at head/tail, O(n) at specific position.</a:t>
            </a:r>
            <a:endParaRPr lang="en-US" sz="1150" dirty="0"/>
          </a:p>
        </p:txBody>
      </p:sp>
      <p:sp>
        <p:nvSpPr>
          <p:cNvPr id="10" name="Shape 8"/>
          <p:cNvSpPr/>
          <p:nvPr/>
        </p:nvSpPr>
        <p:spPr>
          <a:xfrm>
            <a:off x="365760" y="2825496"/>
            <a:ext cx="8412480" cy="2066544"/>
          </a:xfrm>
          <a:prstGeom prst="rect">
            <a:avLst>
              <a:gd name="adj" fmla="val 3540"/>
            </a:avLst>
          </a:prstGeom>
          <a:solidFill>
            <a:srgbClr val="151921"/>
          </a:solidFill>
          <a:ln/>
        </p:spPr>
      </p:sp>
      <p:sp>
        <p:nvSpPr>
          <p:cNvPr id="11" name="Shape 9"/>
          <p:cNvSpPr/>
          <p:nvPr/>
        </p:nvSpPr>
        <p:spPr>
          <a:xfrm>
            <a:off x="365760" y="2825496"/>
            <a:ext cx="54864" cy="2066544"/>
          </a:xfrm>
          <a:prstGeom prst="rect">
            <a:avLst/>
          </a:prstGeom>
          <a:solidFill>
            <a:srgbClr val="FFC107"/>
          </a:solidFill>
          <a:ln/>
        </p:spPr>
      </p:sp>
      <p:sp>
        <p:nvSpPr>
          <p:cNvPr id="12" name="Shape 10"/>
          <p:cNvSpPr/>
          <p:nvPr/>
        </p:nvSpPr>
        <p:spPr>
          <a:xfrm>
            <a:off x="548640" y="2916936"/>
            <a:ext cx="91440" cy="91440"/>
          </a:xfrm>
          <a:prstGeom prst="ellipse">
            <a:avLst/>
          </a:prstGeom>
          <a:solidFill>
            <a:srgbClr val="FF6B6B"/>
          </a:solidFill>
          <a:ln/>
        </p:spPr>
      </p:sp>
      <p:sp>
        <p:nvSpPr>
          <p:cNvPr id="13" name="Shape 11"/>
          <p:cNvSpPr/>
          <p:nvPr/>
        </p:nvSpPr>
        <p:spPr>
          <a:xfrm>
            <a:off x="676656" y="2916936"/>
            <a:ext cx="91440" cy="91440"/>
          </a:xfrm>
          <a:prstGeom prst="ellipse">
            <a:avLst/>
          </a:prstGeom>
          <a:solidFill>
            <a:srgbClr val="FFC107"/>
          </a:solidFill>
          <a:ln/>
        </p:spPr>
      </p:sp>
      <p:sp>
        <p:nvSpPr>
          <p:cNvPr id="14" name="Shape 12"/>
          <p:cNvSpPr/>
          <p:nvPr/>
        </p:nvSpPr>
        <p:spPr>
          <a:xfrm>
            <a:off x="804672" y="2916936"/>
            <a:ext cx="91440" cy="91440"/>
          </a:xfrm>
          <a:prstGeom prst="ellipse">
            <a:avLst/>
          </a:prstGeom>
          <a:solidFill>
            <a:srgbClr val="00D4AA"/>
          </a:solidFill>
          <a:ln/>
        </p:spPr>
      </p:sp>
      <p:sp>
        <p:nvSpPr>
          <p:cNvPr id="15" name="Text 13"/>
          <p:cNvSpPr/>
          <p:nvPr/>
        </p:nvSpPr>
        <p:spPr>
          <a:xfrm>
            <a:off x="1005840" y="2880360"/>
            <a:ext cx="1097280" cy="182880"/>
          </a:xfrm>
          <a:prstGeom prst="rect">
            <a:avLst/>
          </a:prstGeom>
          <a:noFill/>
          <a:ln/>
        </p:spPr>
        <p:txBody>
          <a:bodyPr wrap="square" lIns="0" tIns="0" rIns="0" bIns="0" rtlCol="0" anchor="ctr"/>
          <a:lstStyle/>
          <a:p>
            <a:pPr indent="0" marL="0">
              <a:buNone/>
            </a:pPr>
            <a:r>
              <a:rPr lang="en-US" sz="800" b="1" dirty="0">
                <a:solidFill>
                  <a:srgbClr val="FFC107"/>
                </a:solidFill>
                <a:latin typeface="Calibri" pitchFamily="34" charset="0"/>
                <a:ea typeface="Calibri" pitchFamily="34" charset="-122"/>
                <a:cs typeface="Calibri" pitchFamily="34" charset="-120"/>
              </a:rPr>
              <a:t>Example</a:t>
            </a:r>
            <a:endParaRPr lang="en-US" sz="800" dirty="0"/>
          </a:p>
        </p:txBody>
      </p:sp>
      <p:sp>
        <p:nvSpPr>
          <p:cNvPr id="16" name="Text 14"/>
          <p:cNvSpPr/>
          <p:nvPr/>
        </p:nvSpPr>
        <p:spPr>
          <a:xfrm>
            <a:off x="548640" y="3081528"/>
            <a:ext cx="8138160" cy="1755648"/>
          </a:xfrm>
          <a:prstGeom prst="rect">
            <a:avLst/>
          </a:prstGeom>
          <a:noFill/>
          <a:ln/>
        </p:spPr>
        <p:txBody>
          <a:bodyPr wrap="square" lIns="0" tIns="0" rIns="0" bIns="0" rtlCol="0" anchor="t"/>
          <a:lstStyle/>
          <a:p>
            <a:pPr indent="0" marL="0">
              <a:buNone/>
            </a:pPr>
            <a:r>
              <a:rPr lang="en-US" sz="1100" dirty="0">
                <a:solidFill>
                  <a:srgbClr val="98C379"/>
                </a:solidFill>
                <a:latin typeface="Consolas" pitchFamily="34" charset="0"/>
                <a:ea typeface="Consolas" pitchFamily="34" charset="-122"/>
                <a:cs typeface="Consolas" pitchFamily="34" charset="-120"/>
              </a:rPr>
              <a:t>def fibonacci(n):</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a, b = 0, 1</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for _ in range(n):</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print(a, end=" ")</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a, b = b, a + b</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fibonacci(8)  # 0 1 1 2 3 5 8 13</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Middle of Linked List — Two Pointer</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class Node:</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def __init__(self, data):</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self.data = data</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self.next = None</a:t>
            </a:r>
            <a:endParaRPr lang="en-US" sz="1100" dirty="0"/>
          </a:p>
          <a:p>
            <a:pPr indent="0" marL="0">
              <a:buNone/>
            </a:pP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def find_middle(head):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slow = fast = head</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while fast and fast.next:</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slow = slow.next       # 1 step</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fast = fast.next.next  # 2 steps</a:t>
            </a:r>
            <a:endParaRPr lang="en-US" sz="1100" dirty="0"/>
          </a:p>
          <a:p>
            <a:pPr indent="0" marL="0">
              <a:buNone/>
            </a:pPr>
            <a:r>
              <a:rPr lang="en-US" sz="1100" dirty="0">
                <a:solidFill>
                  <a:srgbClr val="98C379"/>
                </a:solidFill>
                <a:latin typeface="Consolas" pitchFamily="34" charset="0"/>
                <a:ea typeface="Consolas" pitchFamily="34" charset="-122"/>
                <a:cs typeface="Consolas" pitchFamily="34" charset="-120"/>
              </a:rPr>
              <a:t>    return slow.data           # Middle!</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F2E"/>
          </a:solidFill>
          <a:ln/>
        </p:spPr>
      </p:sp>
      <p:sp>
        <p:nvSpPr>
          <p:cNvPr id="3" name="Shape 1"/>
          <p:cNvSpPr/>
          <p:nvPr/>
        </p:nvSpPr>
        <p:spPr>
          <a:xfrm>
            <a:off x="0" y="0"/>
            <a:ext cx="9144000" cy="109728"/>
          </a:xfrm>
          <a:prstGeom prst="rect">
            <a:avLst/>
          </a:prstGeom>
          <a:solidFill>
            <a:srgbClr val="6C63FF"/>
          </a:solidFill>
          <a:ln/>
        </p:spPr>
      </p:sp>
      <p:sp>
        <p:nvSpPr>
          <p:cNvPr id="4" name="Shape 2"/>
          <p:cNvSpPr/>
          <p:nvPr/>
        </p:nvSpPr>
        <p:spPr>
          <a:xfrm>
            <a:off x="-1371600" y="3200400"/>
            <a:ext cx="3657600" cy="3657600"/>
          </a:xfrm>
          <a:prstGeom prst="ellipse">
            <a:avLst/>
          </a:prstGeom>
          <a:solidFill>
            <a:srgbClr val="6C63FF">
              <a:alpha val="10000"/>
            </a:srgbClr>
          </a:solidFill>
          <a:ln/>
        </p:spPr>
      </p:sp>
      <p:sp>
        <p:nvSpPr>
          <p:cNvPr id="5" name="Shape 3"/>
          <p:cNvSpPr/>
          <p:nvPr/>
        </p:nvSpPr>
        <p:spPr>
          <a:xfrm>
            <a:off x="7132320" y="-731520"/>
            <a:ext cx="3200400" cy="3200400"/>
          </a:xfrm>
          <a:prstGeom prst="ellipse">
            <a:avLst/>
          </a:prstGeom>
          <a:solidFill>
            <a:srgbClr val="00D4AA">
              <a:alpha val="10000"/>
            </a:srgbClr>
          </a:solidFill>
          <a:ln/>
        </p:spPr>
      </p:sp>
      <p:sp>
        <p:nvSpPr>
          <p:cNvPr id="6" name="Text 4"/>
          <p:cNvSpPr/>
          <p:nvPr/>
        </p:nvSpPr>
        <p:spPr>
          <a:xfrm>
            <a:off x="457200" y="548640"/>
            <a:ext cx="822960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You're Ready!</a:t>
            </a:r>
            <a:endParaRPr lang="en-US" sz="3600" dirty="0"/>
          </a:p>
        </p:txBody>
      </p:sp>
      <p:sp>
        <p:nvSpPr>
          <p:cNvPr id="7" name="Text 5"/>
          <p:cNvSpPr/>
          <p:nvPr/>
        </p:nvSpPr>
        <p:spPr>
          <a:xfrm>
            <a:off x="457200" y="1143000"/>
            <a:ext cx="8229600" cy="365760"/>
          </a:xfrm>
          <a:prstGeom prst="rect">
            <a:avLst/>
          </a:prstGeom>
          <a:noFill/>
          <a:ln/>
        </p:spPr>
        <p:txBody>
          <a:bodyPr wrap="square" lIns="0" tIns="0" rIns="0" bIns="0" rtlCol="0" anchor="ctr"/>
          <a:lstStyle/>
          <a:p>
            <a:pPr algn="ctr" indent="0" marL="0">
              <a:buNone/>
            </a:pPr>
            <a:r>
              <a:rPr lang="en-US" sz="1600" dirty="0">
                <a:solidFill>
                  <a:srgbClr val="8892B0"/>
                </a:solidFill>
                <a:latin typeface="Calibri" pitchFamily="34" charset="0"/>
                <a:ea typeface="Calibri" pitchFamily="34" charset="-122"/>
                <a:cs typeface="Calibri" pitchFamily="34" charset="-120"/>
              </a:rPr>
              <a:t>Key Takeaways for Your Interview</a:t>
            </a:r>
            <a:endParaRPr lang="en-US" sz="1600" dirty="0"/>
          </a:p>
        </p:txBody>
      </p:sp>
      <p:sp>
        <p:nvSpPr>
          <p:cNvPr id="8" name="Shape 6"/>
          <p:cNvSpPr/>
          <p:nvPr/>
        </p:nvSpPr>
        <p:spPr>
          <a:xfrm>
            <a:off x="731520" y="1783080"/>
            <a:ext cx="7680960" cy="429768"/>
          </a:xfrm>
          <a:prstGeom prst="rect">
            <a:avLst>
              <a:gd name="adj" fmla="val 12766"/>
            </a:avLst>
          </a:prstGeom>
          <a:solidFill>
            <a:srgbClr val="242B3D"/>
          </a:solidFill>
          <a:ln/>
        </p:spPr>
      </p:sp>
      <p:sp>
        <p:nvSpPr>
          <p:cNvPr id="9" name="Shape 7"/>
          <p:cNvSpPr/>
          <p:nvPr/>
        </p:nvSpPr>
        <p:spPr>
          <a:xfrm>
            <a:off x="960120" y="1847088"/>
            <a:ext cx="301752" cy="301752"/>
          </a:xfrm>
          <a:prstGeom prst="ellipse">
            <a:avLst/>
          </a:prstGeom>
          <a:solidFill>
            <a:srgbClr val="00D4AA"/>
          </a:solidFill>
          <a:ln/>
        </p:spPr>
      </p:sp>
      <p:sp>
        <p:nvSpPr>
          <p:cNvPr id="10" name="Text 8"/>
          <p:cNvSpPr/>
          <p:nvPr/>
        </p:nvSpPr>
        <p:spPr>
          <a:xfrm>
            <a:off x="960120" y="1847088"/>
            <a:ext cx="301752" cy="3017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1417320" y="1828800"/>
            <a:ext cx="6858000" cy="338328"/>
          </a:xfrm>
          <a:prstGeom prst="rect">
            <a:avLst/>
          </a:prstGeom>
          <a:noFill/>
          <a:ln/>
        </p:spPr>
        <p:txBody>
          <a:bodyPr wrap="square" lIns="0" tIns="0" rIns="0" bIns="0" rtlCol="0" anchor="ctr"/>
          <a:lstStyle/>
          <a:p>
            <a:pPr indent="0" marL="0">
              <a:buNone/>
            </a:pPr>
            <a:r>
              <a:rPr lang="en-US" sz="1200" dirty="0">
                <a:solidFill>
                  <a:srgbClr val="A8B2C8"/>
                </a:solidFill>
                <a:latin typeface="Calibri" pitchFamily="34" charset="0"/>
                <a:ea typeface="Calibri" pitchFamily="34" charset="-122"/>
                <a:cs typeface="Calibri" pitchFamily="34" charset="-120"/>
              </a:rPr>
              <a:t>Always explain the WHY behind your answer, not just the what</a:t>
            </a:r>
            <a:endParaRPr lang="en-US" sz="1200" dirty="0"/>
          </a:p>
        </p:txBody>
      </p:sp>
      <p:sp>
        <p:nvSpPr>
          <p:cNvPr id="12" name="Shape 10"/>
          <p:cNvSpPr/>
          <p:nvPr/>
        </p:nvSpPr>
        <p:spPr>
          <a:xfrm>
            <a:off x="731520" y="2286000"/>
            <a:ext cx="7680960" cy="429768"/>
          </a:xfrm>
          <a:prstGeom prst="rect">
            <a:avLst>
              <a:gd name="adj" fmla="val 12766"/>
            </a:avLst>
          </a:prstGeom>
          <a:solidFill>
            <a:srgbClr val="242B3D"/>
          </a:solidFill>
          <a:ln/>
        </p:spPr>
      </p:sp>
      <p:sp>
        <p:nvSpPr>
          <p:cNvPr id="13" name="Shape 11"/>
          <p:cNvSpPr/>
          <p:nvPr/>
        </p:nvSpPr>
        <p:spPr>
          <a:xfrm>
            <a:off x="960120" y="2350008"/>
            <a:ext cx="301752" cy="301752"/>
          </a:xfrm>
          <a:prstGeom prst="ellipse">
            <a:avLst/>
          </a:prstGeom>
          <a:solidFill>
            <a:srgbClr val="00D4AA"/>
          </a:solidFill>
          <a:ln/>
        </p:spPr>
      </p:sp>
      <p:sp>
        <p:nvSpPr>
          <p:cNvPr id="14" name="Text 12"/>
          <p:cNvSpPr/>
          <p:nvPr/>
        </p:nvSpPr>
        <p:spPr>
          <a:xfrm>
            <a:off x="960120" y="2350008"/>
            <a:ext cx="301752" cy="3017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1417320" y="2331720"/>
            <a:ext cx="6858000" cy="338328"/>
          </a:xfrm>
          <a:prstGeom prst="rect">
            <a:avLst/>
          </a:prstGeom>
          <a:noFill/>
          <a:ln/>
        </p:spPr>
        <p:txBody>
          <a:bodyPr wrap="square" lIns="0" tIns="0" rIns="0" bIns="0" rtlCol="0" anchor="ctr"/>
          <a:lstStyle/>
          <a:p>
            <a:pPr indent="0" marL="0">
              <a:buNone/>
            </a:pPr>
            <a:r>
              <a:rPr lang="en-US" sz="1200" dirty="0">
                <a:solidFill>
                  <a:srgbClr val="A8B2C8"/>
                </a:solidFill>
                <a:latin typeface="Calibri" pitchFamily="34" charset="0"/>
                <a:ea typeface="Calibri" pitchFamily="34" charset="-122"/>
                <a:cs typeface="Calibri" pitchFamily="34" charset="-120"/>
              </a:rPr>
              <a:t>Use real examples — interviewers love concrete demonstrations</a:t>
            </a:r>
            <a:endParaRPr lang="en-US" sz="1200" dirty="0"/>
          </a:p>
        </p:txBody>
      </p:sp>
      <p:sp>
        <p:nvSpPr>
          <p:cNvPr id="16" name="Shape 14"/>
          <p:cNvSpPr/>
          <p:nvPr/>
        </p:nvSpPr>
        <p:spPr>
          <a:xfrm>
            <a:off x="731520" y="2788920"/>
            <a:ext cx="7680960" cy="429768"/>
          </a:xfrm>
          <a:prstGeom prst="rect">
            <a:avLst>
              <a:gd name="adj" fmla="val 12766"/>
            </a:avLst>
          </a:prstGeom>
          <a:solidFill>
            <a:srgbClr val="242B3D"/>
          </a:solidFill>
          <a:ln/>
        </p:spPr>
      </p:sp>
      <p:sp>
        <p:nvSpPr>
          <p:cNvPr id="17" name="Shape 15"/>
          <p:cNvSpPr/>
          <p:nvPr/>
        </p:nvSpPr>
        <p:spPr>
          <a:xfrm>
            <a:off x="960120" y="2852928"/>
            <a:ext cx="301752" cy="301752"/>
          </a:xfrm>
          <a:prstGeom prst="ellipse">
            <a:avLst/>
          </a:prstGeom>
          <a:solidFill>
            <a:srgbClr val="00D4AA"/>
          </a:solidFill>
          <a:ln/>
        </p:spPr>
      </p:sp>
      <p:sp>
        <p:nvSpPr>
          <p:cNvPr id="18" name="Text 16"/>
          <p:cNvSpPr/>
          <p:nvPr/>
        </p:nvSpPr>
        <p:spPr>
          <a:xfrm>
            <a:off x="960120" y="2852928"/>
            <a:ext cx="301752" cy="3017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417320" y="2834640"/>
            <a:ext cx="6858000" cy="338328"/>
          </a:xfrm>
          <a:prstGeom prst="rect">
            <a:avLst/>
          </a:prstGeom>
          <a:noFill/>
          <a:ln/>
        </p:spPr>
        <p:txBody>
          <a:bodyPr wrap="square" lIns="0" tIns="0" rIns="0" bIns="0" rtlCol="0" anchor="ctr"/>
          <a:lstStyle/>
          <a:p>
            <a:pPr indent="0" marL="0">
              <a:buNone/>
            </a:pPr>
            <a:r>
              <a:rPr lang="en-US" sz="1200" dirty="0">
                <a:solidFill>
                  <a:srgbClr val="A8B2C8"/>
                </a:solidFill>
                <a:latin typeface="Calibri" pitchFamily="34" charset="0"/>
                <a:ea typeface="Calibri" pitchFamily="34" charset="-122"/>
                <a:cs typeface="Calibri" pitchFamily="34" charset="-120"/>
              </a:rPr>
              <a:t>Know the differences: == vs is, sorted() vs sort(), append() vs extend()</a:t>
            </a:r>
            <a:endParaRPr lang="en-US" sz="1200" dirty="0"/>
          </a:p>
        </p:txBody>
      </p:sp>
      <p:sp>
        <p:nvSpPr>
          <p:cNvPr id="20" name="Shape 18"/>
          <p:cNvSpPr/>
          <p:nvPr/>
        </p:nvSpPr>
        <p:spPr>
          <a:xfrm>
            <a:off x="731520" y="3291840"/>
            <a:ext cx="7680960" cy="429768"/>
          </a:xfrm>
          <a:prstGeom prst="rect">
            <a:avLst>
              <a:gd name="adj" fmla="val 12766"/>
            </a:avLst>
          </a:prstGeom>
          <a:solidFill>
            <a:srgbClr val="242B3D"/>
          </a:solidFill>
          <a:ln/>
        </p:spPr>
      </p:sp>
      <p:sp>
        <p:nvSpPr>
          <p:cNvPr id="21" name="Shape 19"/>
          <p:cNvSpPr/>
          <p:nvPr/>
        </p:nvSpPr>
        <p:spPr>
          <a:xfrm>
            <a:off x="960120" y="3355848"/>
            <a:ext cx="301752" cy="301752"/>
          </a:xfrm>
          <a:prstGeom prst="ellipse">
            <a:avLst/>
          </a:prstGeom>
          <a:solidFill>
            <a:srgbClr val="00D4AA"/>
          </a:solidFill>
          <a:ln/>
        </p:spPr>
      </p:sp>
      <p:sp>
        <p:nvSpPr>
          <p:cNvPr id="22" name="Text 20"/>
          <p:cNvSpPr/>
          <p:nvPr/>
        </p:nvSpPr>
        <p:spPr>
          <a:xfrm>
            <a:off x="960120" y="3355848"/>
            <a:ext cx="301752" cy="3017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1417320" y="3337560"/>
            <a:ext cx="6858000" cy="338328"/>
          </a:xfrm>
          <a:prstGeom prst="rect">
            <a:avLst/>
          </a:prstGeom>
          <a:noFill/>
          <a:ln/>
        </p:spPr>
        <p:txBody>
          <a:bodyPr wrap="square" lIns="0" tIns="0" rIns="0" bIns="0" rtlCol="0" anchor="ctr"/>
          <a:lstStyle/>
          <a:p>
            <a:pPr indent="0" marL="0">
              <a:buNone/>
            </a:pPr>
            <a:r>
              <a:rPr lang="en-US" sz="1200" dirty="0">
                <a:solidFill>
                  <a:srgbClr val="A8B2C8"/>
                </a:solidFill>
                <a:latin typeface="Calibri" pitchFamily="34" charset="0"/>
                <a:ea typeface="Calibri" pitchFamily="34" charset="-122"/>
                <a:cs typeface="Calibri" pitchFamily="34" charset="-120"/>
              </a:rPr>
              <a:t>Practice coding: Fibonacci, linked lists, and list comprehensions</a:t>
            </a:r>
            <a:endParaRPr lang="en-US" sz="1200" dirty="0"/>
          </a:p>
        </p:txBody>
      </p:sp>
      <p:sp>
        <p:nvSpPr>
          <p:cNvPr id="24" name="Shape 22"/>
          <p:cNvSpPr/>
          <p:nvPr/>
        </p:nvSpPr>
        <p:spPr>
          <a:xfrm>
            <a:off x="731520" y="3794760"/>
            <a:ext cx="7680960" cy="429768"/>
          </a:xfrm>
          <a:prstGeom prst="rect">
            <a:avLst>
              <a:gd name="adj" fmla="val 12766"/>
            </a:avLst>
          </a:prstGeom>
          <a:solidFill>
            <a:srgbClr val="242B3D"/>
          </a:solidFill>
          <a:ln/>
        </p:spPr>
      </p:sp>
      <p:sp>
        <p:nvSpPr>
          <p:cNvPr id="25" name="Shape 23"/>
          <p:cNvSpPr/>
          <p:nvPr/>
        </p:nvSpPr>
        <p:spPr>
          <a:xfrm>
            <a:off x="960120" y="3858768"/>
            <a:ext cx="301752" cy="301752"/>
          </a:xfrm>
          <a:prstGeom prst="ellipse">
            <a:avLst/>
          </a:prstGeom>
          <a:solidFill>
            <a:srgbClr val="00D4AA"/>
          </a:solidFill>
          <a:ln/>
        </p:spPr>
      </p:sp>
      <p:sp>
        <p:nvSpPr>
          <p:cNvPr id="26" name="Text 24"/>
          <p:cNvSpPr/>
          <p:nvPr/>
        </p:nvSpPr>
        <p:spPr>
          <a:xfrm>
            <a:off x="960120" y="3858768"/>
            <a:ext cx="301752" cy="3017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1417320" y="3840480"/>
            <a:ext cx="6858000" cy="338328"/>
          </a:xfrm>
          <a:prstGeom prst="rect">
            <a:avLst/>
          </a:prstGeom>
          <a:noFill/>
          <a:ln/>
        </p:spPr>
        <p:txBody>
          <a:bodyPr wrap="square" lIns="0" tIns="0" rIns="0" bIns="0" rtlCol="0" anchor="ctr"/>
          <a:lstStyle/>
          <a:p>
            <a:pPr indent="0" marL="0">
              <a:buNone/>
            </a:pPr>
            <a:r>
              <a:rPr lang="en-US" sz="1200" dirty="0">
                <a:solidFill>
                  <a:srgbClr val="A8B2C8"/>
                </a:solidFill>
                <a:latin typeface="Calibri" pitchFamily="34" charset="0"/>
                <a:ea typeface="Calibri" pitchFamily="34" charset="-122"/>
                <a:cs typeface="Calibri" pitchFamily="34" charset="-120"/>
              </a:rPr>
              <a:t>Understand OOP: classes, inheritance, and the 4 pillars</a:t>
            </a:r>
            <a:endParaRPr lang="en-US" sz="1200" dirty="0"/>
          </a:p>
        </p:txBody>
      </p:sp>
      <p:sp>
        <p:nvSpPr>
          <p:cNvPr id="28" name="Text 26"/>
          <p:cNvSpPr/>
          <p:nvPr/>
        </p:nvSpPr>
        <p:spPr>
          <a:xfrm>
            <a:off x="457200" y="4572000"/>
            <a:ext cx="8229600" cy="365760"/>
          </a:xfrm>
          <a:prstGeom prst="rect">
            <a:avLst/>
          </a:prstGeom>
          <a:noFill/>
          <a:ln/>
        </p:spPr>
        <p:txBody>
          <a:bodyPr wrap="square" lIns="0" tIns="0" rIns="0" bIns="0" rtlCol="0" anchor="ctr"/>
          <a:lstStyle/>
          <a:p>
            <a:pPr algn="ctr" indent="0" marL="0">
              <a:buNone/>
            </a:pPr>
            <a:r>
              <a:rPr lang="en-US" sz="1800" b="1" dirty="0">
                <a:solidFill>
                  <a:srgbClr val="00D4AA"/>
                </a:solidFill>
                <a:latin typeface="Calibri" pitchFamily="34" charset="0"/>
                <a:ea typeface="Calibri" pitchFamily="34" charset="-122"/>
                <a:cs typeface="Calibri" pitchFamily="34" charset="-120"/>
              </a:rPr>
              <a:t>Good Luck! 🚀</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Interview Questions - Complete Guide</dc:title>
  <dc:subject>PptxGenJS Presentation</dc:subject>
  <dc:creator>Interview Prep</dc:creator>
  <cp:lastModifiedBy>Interview Prep</cp:lastModifiedBy>
  <cp:revision>1</cp:revision>
  <dcterms:created xsi:type="dcterms:W3CDTF">2026-02-01T14:39:44Z</dcterms:created>
  <dcterms:modified xsi:type="dcterms:W3CDTF">2026-02-01T14:39:44Z</dcterms:modified>
</cp:coreProperties>
</file>