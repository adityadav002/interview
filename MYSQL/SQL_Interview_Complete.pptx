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</p:sldIdLst>
  <p:notesMasterIdLst>
    <p:notesMasterId r:id="rId7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notesMaster" Target="notesMasters/notesMaster1.xml"/><Relationship Id="rId80" Type="http://schemas.openxmlformats.org/officeDocument/2006/relationships/presProps" Target="presProps.xml"/><Relationship Id="rId81" Type="http://schemas.openxmlformats.org/officeDocument/2006/relationships/viewProps" Target="viewProps.xml"/><Relationship Id="rId82" Type="http://schemas.openxmlformats.org/officeDocument/2006/relationships/theme" Target="theme/theme1.xml"/><Relationship Id="rId8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10058400" cy="1371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114800" cy="4114800"/>
          </a:xfrm>
          <a:prstGeom prst="ellipse">
            <a:avLst/>
          </a:prstGeom>
          <a:solidFill>
            <a:srgbClr val="0EA5E9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94560" y="1188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Interview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2194560" y="17830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Mastery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219456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Questions | All Levels | Production-Ready Knowledge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Database Basics to Advanced Query Optimization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Roadmap — 11 Levels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005840" cy="411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96112"/>
            <a:ext cx="4343400" cy="621792"/>
          </a:xfrm>
          <a:prstGeom prst="rect">
            <a:avLst>
              <a:gd name="adj" fmla="val 10294"/>
            </a:avLst>
          </a:prstGeom>
          <a:solidFill>
            <a:srgbClr val="132F4C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005840"/>
            <a:ext cx="402336" cy="40233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005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95097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Database Fundamentals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09344"/>
            <a:ext cx="4343400" cy="621792"/>
          </a:xfrm>
          <a:prstGeom prst="rect">
            <a:avLst>
              <a:gd name="adj" fmla="val 10294"/>
            </a:avLst>
          </a:prstGeom>
          <a:solidFill>
            <a:srgbClr val="132F4C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" y="1719072"/>
            <a:ext cx="402336" cy="40233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166420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Keys &amp; Constraints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322576"/>
            <a:ext cx="4343400" cy="621792"/>
          </a:xfrm>
          <a:prstGeom prst="rect">
            <a:avLst>
              <a:gd name="adj" fmla="val 10294"/>
            </a:avLst>
          </a:prstGeom>
          <a:solidFill>
            <a:srgbClr val="132F4C"/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" y="2432304"/>
            <a:ext cx="402336" cy="40233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432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" y="237744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Types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035808"/>
            <a:ext cx="4343400" cy="621792"/>
          </a:xfrm>
          <a:prstGeom prst="rect">
            <a:avLst>
              <a:gd name="adj" fmla="val 10294"/>
            </a:avLst>
          </a:prstGeom>
          <a:solidFill>
            <a:srgbClr val="132F4C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" y="3145536"/>
            <a:ext cx="402336" cy="40233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3145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" y="309067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SQL Commands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4343400" cy="621792"/>
          </a:xfrm>
          <a:prstGeom prst="rect">
            <a:avLst>
              <a:gd name="adj" fmla="val 10294"/>
            </a:avLst>
          </a:prstGeom>
          <a:solidFill>
            <a:srgbClr val="132F4C"/>
          </a:solidFill>
          <a:ln/>
        </p:spPr>
      </p:sp>
      <p:sp>
        <p:nvSpPr>
          <p:cNvPr id="22" name="Shape 20"/>
          <p:cNvSpPr/>
          <p:nvPr/>
        </p:nvSpPr>
        <p:spPr>
          <a:xfrm>
            <a:off x="384048" y="3858768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6112" y="380390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Filtering &amp; Sorting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462272"/>
            <a:ext cx="4343400" cy="621792"/>
          </a:xfrm>
          <a:prstGeom prst="rect">
            <a:avLst>
              <a:gd name="adj" fmla="val 10294"/>
            </a:avLst>
          </a:prstGeom>
          <a:solidFill>
            <a:srgbClr val="132F4C"/>
          </a:solidFill>
          <a:ln/>
        </p:spPr>
      </p:sp>
      <p:sp>
        <p:nvSpPr>
          <p:cNvPr id="26" name="Shape 24"/>
          <p:cNvSpPr/>
          <p:nvPr/>
        </p:nvSpPr>
        <p:spPr>
          <a:xfrm>
            <a:off x="384048" y="4572000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4572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6112" y="451713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Joins — MOST IMPORTANT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896112"/>
            <a:ext cx="4343400" cy="621792"/>
          </a:xfrm>
          <a:prstGeom prst="rect">
            <a:avLst>
              <a:gd name="adj" fmla="val 10294"/>
            </a:avLst>
          </a:prstGeom>
          <a:solidFill>
            <a:srgbClr val="132F4C"/>
          </a:solidFill>
          <a:ln/>
        </p:spPr>
      </p:sp>
      <p:sp>
        <p:nvSpPr>
          <p:cNvPr id="30" name="Shape 28"/>
          <p:cNvSpPr/>
          <p:nvPr/>
        </p:nvSpPr>
        <p:spPr>
          <a:xfrm>
            <a:off x="4910328" y="1005840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4910328" y="1005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22392" y="95097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Subqueries &amp; CTEs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1609344"/>
            <a:ext cx="4343400" cy="621792"/>
          </a:xfrm>
          <a:prstGeom prst="rect">
            <a:avLst>
              <a:gd name="adj" fmla="val 10294"/>
            </a:avLst>
          </a:prstGeom>
          <a:solidFill>
            <a:srgbClr val="132F4C"/>
          </a:solidFill>
          <a:ln/>
        </p:spPr>
      </p:sp>
      <p:sp>
        <p:nvSpPr>
          <p:cNvPr id="34" name="Shape 32"/>
          <p:cNvSpPr/>
          <p:nvPr/>
        </p:nvSpPr>
        <p:spPr>
          <a:xfrm>
            <a:off x="4910328" y="1719072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4910328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22392" y="166420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Normalization &amp; Design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00600" y="2322576"/>
            <a:ext cx="4343400" cy="621792"/>
          </a:xfrm>
          <a:prstGeom prst="rect">
            <a:avLst>
              <a:gd name="adj" fmla="val 10294"/>
            </a:avLst>
          </a:prstGeom>
          <a:solidFill>
            <a:srgbClr val="132F4C"/>
          </a:solidFill>
          <a:ln/>
        </p:spPr>
      </p:sp>
      <p:sp>
        <p:nvSpPr>
          <p:cNvPr id="38" name="Shape 36"/>
          <p:cNvSpPr/>
          <p:nvPr/>
        </p:nvSpPr>
        <p:spPr>
          <a:xfrm>
            <a:off x="4910328" y="2432304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4910328" y="2432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22392" y="237744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Indexing &amp; Performance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3035808"/>
            <a:ext cx="4343400" cy="621792"/>
          </a:xfrm>
          <a:prstGeom prst="rect">
            <a:avLst>
              <a:gd name="adj" fmla="val 10294"/>
            </a:avLst>
          </a:prstGeom>
          <a:solidFill>
            <a:srgbClr val="132F4C"/>
          </a:solidFill>
          <a:ln/>
        </p:spPr>
      </p:sp>
      <p:sp>
        <p:nvSpPr>
          <p:cNvPr id="42" name="Shape 40"/>
          <p:cNvSpPr/>
          <p:nvPr/>
        </p:nvSpPr>
        <p:spPr>
          <a:xfrm>
            <a:off x="4910328" y="3145536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4910328" y="3145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22392" y="309067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Transactions &amp; Concurrency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00600" y="3749040"/>
            <a:ext cx="4343400" cy="621792"/>
          </a:xfrm>
          <a:prstGeom prst="rect">
            <a:avLst>
              <a:gd name="adj" fmla="val 10294"/>
            </a:avLst>
          </a:prstGeom>
          <a:solidFill>
            <a:srgbClr val="132F4C"/>
          </a:solidFill>
          <a:ln/>
        </p:spPr>
      </p:sp>
      <p:sp>
        <p:nvSpPr>
          <p:cNvPr id="46" name="Shape 44"/>
          <p:cNvSpPr/>
          <p:nvPr/>
        </p:nvSpPr>
        <p:spPr>
          <a:xfrm>
            <a:off x="4910328" y="3858768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4910328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22392" y="380390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Window Functions &amp; Advanced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00600" y="4462272"/>
            <a:ext cx="4343400" cy="621792"/>
          </a:xfrm>
          <a:prstGeom prst="rect">
            <a:avLst>
              <a:gd name="adj" fmla="val 10294"/>
            </a:avLst>
          </a:prstGeom>
          <a:solidFill>
            <a:srgbClr val="132F4C"/>
          </a:solidFill>
          <a:ln/>
        </p:spPr>
      </p:sp>
      <p:sp>
        <p:nvSpPr>
          <p:cNvPr id="50" name="Shape 48"/>
          <p:cNvSpPr/>
          <p:nvPr/>
        </p:nvSpPr>
        <p:spPr>
          <a:xfrm>
            <a:off x="4910328" y="4572000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4910328" y="4572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422392" y="451713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Practical Query Problems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0" y="914400"/>
            <a:ext cx="1371600" cy="1371600"/>
          </a:xfrm>
          <a:prstGeom prst="ellipse">
            <a:avLst/>
          </a:prstGeom>
          <a:solidFill>
            <a:srgbClr val="0EA5E9">
              <a:alpha val="8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05156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0" y="13716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Fundamentals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329184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Every Developer Must Know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3246120"/>
            <a:ext cx="1371600" cy="45720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vs RDBMS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621792"/>
            <a:ext cx="7772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04672"/>
            <a:ext cx="4251960" cy="4096512"/>
          </a:xfrm>
          <a:prstGeom prst="rect">
            <a:avLst>
              <a:gd name="adj" fmla="val 1786"/>
            </a:avLst>
          </a:prstGeom>
          <a:solidFill>
            <a:srgbClr val="132F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804672"/>
            <a:ext cx="4251960" cy="384048"/>
          </a:xfrm>
          <a:prstGeom prst="rect">
            <a:avLst>
              <a:gd name="adj" fmla="val 19048"/>
            </a:avLst>
          </a:prstGeom>
          <a:solidFill>
            <a:srgbClr val="0EA5E9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987552"/>
            <a:ext cx="4251960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321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to manage databases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File-based storage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NO support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MS Access, XML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Normalization: Not required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ACID: NOT guaranteed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Small apps, single-user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804672"/>
            <a:ext cx="4251960" cy="4096512"/>
          </a:xfrm>
          <a:prstGeom prst="rect">
            <a:avLst>
              <a:gd name="adj" fmla="val 1786"/>
            </a:avLst>
          </a:prstGeom>
          <a:solidFill>
            <a:srgbClr val="132F4C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804672"/>
            <a:ext cx="4251960" cy="384048"/>
          </a:xfrm>
          <a:prstGeom prst="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987552"/>
            <a:ext cx="425196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8321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128016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system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Tables (rows &amp; columns)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YES via Foreign Keys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MySQL, PostgreSQL, Oracle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Normalization: Required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ACID: Fully supported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Enterprise, multi-user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vs MySQL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417320"/>
          </a:xfrm>
          <a:prstGeom prst="rect">
            <a:avLst>
              <a:gd name="adj" fmla="val 5161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417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= LANGUAGE to query databases (universal standard)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= Specific RDBMS that USES SQL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SQL is like English, MySQL is a book written in English.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RDBMS using SQL: PostgreSQL, Oracle, SQL Server, SQLite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395728"/>
            <a:ext cx="8503920" cy="969264"/>
          </a:xfrm>
          <a:prstGeom prst="rect">
            <a:avLst>
              <a:gd name="adj" fmla="val 7547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395728"/>
            <a:ext cx="73152" cy="9692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478024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478024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478024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446020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615184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SQL works in ALL databases: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 WHERE salary &gt; 50000;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Same query works in MySQL, PostgreSQL, Oracle, etc.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74720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474720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387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71246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the language. MySQL is one database system. Don't confuse them!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Schema?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773936"/>
          </a:xfrm>
          <a:prstGeom prst="rect">
            <a:avLst>
              <a:gd name="adj" fmla="val 4124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7739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= Database BLUEPRINT/STRUCTURE defining: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Tables and columns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 types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Relationships (Foreign Keys)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Constraints (PK, NOT NULL, UNIQUE)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Indexes and views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 NAMESPACE in SQL Server (logical grouping)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752344"/>
            <a:ext cx="8503920" cy="1435608"/>
          </a:xfrm>
          <a:prstGeom prst="rect">
            <a:avLst>
              <a:gd name="adj" fmla="val 5096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752344"/>
            <a:ext cx="73152" cy="1435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834640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83464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834640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80263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971800"/>
            <a:ext cx="8229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SCHEMA Sales;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Sales.Orders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OrderID INT PRIMARY KEY,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CustomerID INT,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OrderDate 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297680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4297680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3616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53542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defines WHAT data is stored and HOW tables relate!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vs NoSQL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621792"/>
            <a:ext cx="7772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04672"/>
            <a:ext cx="4251960" cy="4096512"/>
          </a:xfrm>
          <a:prstGeom prst="rect">
            <a:avLst>
              <a:gd name="adj" fmla="val 1786"/>
            </a:avLst>
          </a:prstGeom>
          <a:solidFill>
            <a:srgbClr val="132F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804672"/>
            <a:ext cx="4251960" cy="384048"/>
          </a:xfrm>
          <a:prstGeom prst="rect">
            <a:avLst>
              <a:gd name="adj" fmla="val 19048"/>
            </a:avLst>
          </a:prstGeom>
          <a:solidFill>
            <a:srgbClr val="0EA5E9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987552"/>
            <a:ext cx="4251960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321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(Relational)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Predefined, fixed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Tables with relationships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Vertical (more CPU/RAM)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ACID: Full support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SQL language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Banking, ERP, e-commerce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MySQL, PostgreSQL, Oracle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804672"/>
            <a:ext cx="4251960" cy="4096512"/>
          </a:xfrm>
          <a:prstGeom prst="rect">
            <a:avLst>
              <a:gd name="adj" fmla="val 1786"/>
            </a:avLst>
          </a:prstGeom>
          <a:solidFill>
            <a:srgbClr val="132F4C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804672"/>
            <a:ext cx="4251960" cy="384048"/>
          </a:xfrm>
          <a:prstGeom prst="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987552"/>
            <a:ext cx="425196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8321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(Non-Relational)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128016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Dynamic, flexible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Document/Key-Value/Graph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Horizontal (more servers)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ACID: Eventually consistent (BASE)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JSON-like, varies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Real-time, social media, IoT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MongoDB, Cassandra, Redis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Properties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417320"/>
          </a:xfrm>
          <a:prstGeom prst="rect">
            <a:avLst>
              <a:gd name="adj" fmla="val 5161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417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reliable transactions: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Atomicity: ALL or NOTHING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Consistency: Valid state to valid state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Isolation: Transactions don't interfere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Durability: Changes are PERMANENT after commit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395728"/>
            <a:ext cx="8503920" cy="1124712"/>
          </a:xfrm>
          <a:prstGeom prst="rect">
            <a:avLst>
              <a:gd name="adj" fmla="val 6504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395728"/>
            <a:ext cx="73152" cy="11247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478024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478024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478024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446020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615184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Bank transfer example: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 TRANSACTION;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 accounts SET balance = balance - 100 WHERE id 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 accounts SET balance = balance + 100 WHERE id = 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COMMIT;  -- Both succeed or both fail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630168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630168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6941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86791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= Reliability. Essential for financial/critical systems!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Transaction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417320"/>
          </a:xfrm>
          <a:prstGeom prst="rect">
            <a:avLst>
              <a:gd name="adj" fmla="val 5161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417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= Unit of work (sequence of operations)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 succeed (COMMIT) or ALL fail (ROLLBACK)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Follows ACID principles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Maintains data integrity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395728"/>
            <a:ext cx="8503920" cy="1435608"/>
          </a:xfrm>
          <a:prstGeom prst="rect">
            <a:avLst>
              <a:gd name="adj" fmla="val 5096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395728"/>
            <a:ext cx="73152" cy="1435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478024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478024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478024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446020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615184"/>
            <a:ext cx="8229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 TRANSACTION;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INSERT INTO orders VALUES (101, 500);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 inventory SET stock = stock - 1 WHERE id = 5;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If error: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941064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941064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0050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17880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= Atomic work unit. BEGIN → operations → COMMIT or ROLLBACK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COMMIT, ROLLBACK, SAVEPOINT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82396"/>
          </a:xfrm>
          <a:prstGeom prst="rect">
            <a:avLst>
              <a:gd name="adj" fmla="val 8290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8823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COMMIT: Saves changes permanently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ROLLBACK: Undoes all changes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SAVEPOINT: Checkpoint for partial rollback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860804"/>
            <a:ext cx="8503920" cy="1280160"/>
          </a:xfrm>
          <a:prstGeom prst="rect">
            <a:avLst>
              <a:gd name="adj" fmla="val 5714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860804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943100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194310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943100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91109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0802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 TRANSACTION;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 accounts SET balance = balance - 50 WHERE id 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SAVEPOINT sp1;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 accounts SET balance = balance + 50 WHERE id = 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ROLLBACK TO sp1;  -- Undo only 2nd update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250692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250692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147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48843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 allows partial rollback without undoing everything!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0" y="914400"/>
            <a:ext cx="1371600" cy="1371600"/>
          </a:xfrm>
          <a:prstGeom prst="ellipse">
            <a:avLst/>
          </a:prstGeom>
          <a:solidFill>
            <a:srgbClr val="0EA5E9">
              <a:alpha val="8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05156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0" y="13716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&amp; Constraints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329184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Integrity Fundamentals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3246120"/>
            <a:ext cx="1371600" cy="45720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vs Foreign Key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621792"/>
            <a:ext cx="7772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04672"/>
            <a:ext cx="4251960" cy="4096512"/>
          </a:xfrm>
          <a:prstGeom prst="rect">
            <a:avLst>
              <a:gd name="adj" fmla="val 1786"/>
            </a:avLst>
          </a:prstGeom>
          <a:solidFill>
            <a:srgbClr val="132F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804672"/>
            <a:ext cx="4251960" cy="384048"/>
          </a:xfrm>
          <a:prstGeom prst="rect">
            <a:avLst>
              <a:gd name="adj" fmla="val 19048"/>
            </a:avLst>
          </a:prstGeom>
          <a:solidFill>
            <a:srgbClr val="0EA5E9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987552"/>
            <a:ext cx="4251960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321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Unique row identifier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UNIQUE values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NULL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per table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be composite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EmployeeID, StudentID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Prevent duplicates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804672"/>
            <a:ext cx="4251960" cy="4096512"/>
          </a:xfrm>
          <a:prstGeom prst="rect">
            <a:avLst>
              <a:gd name="adj" fmla="val 1786"/>
            </a:avLst>
          </a:prstGeom>
          <a:solidFill>
            <a:srgbClr val="132F4C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804672"/>
            <a:ext cx="4251960" cy="384048"/>
          </a:xfrm>
          <a:prstGeom prst="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987552"/>
            <a:ext cx="425196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8321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128016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Link between tables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References PK in another table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have duplicates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be NULL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Multiple FKs allowed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CustomerID in Orders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Referential integrity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&amp; Foreign Key Example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060704"/>
          </a:xfrm>
          <a:prstGeom prst="rect">
            <a:avLst>
              <a:gd name="adj" fmla="val 6897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0607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uniquely identifies records.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creates relationships between tables.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REFERENTIAL INTEGRITY!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039112"/>
            <a:ext cx="8503920" cy="1901952"/>
          </a:xfrm>
          <a:prstGeom prst="rect">
            <a:avLst>
              <a:gd name="adj" fmla="val 3846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039112"/>
            <a:ext cx="73152" cy="19019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121408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121408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121408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08940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258568"/>
            <a:ext cx="82296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Customers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CustomerID INT PRIMARY KEY,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VARCHAR(50)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Orders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OrderID INT PRIMARY KEY,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CustomerID INT,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(CustomerID) REFERENCES Customers(CustomerID)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050792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4050792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1148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28853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prevents orphaned records — can't order from non-existent customer!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vs PRIMARY KEY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621792"/>
            <a:ext cx="7772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04672"/>
            <a:ext cx="4251960" cy="4096512"/>
          </a:xfrm>
          <a:prstGeom prst="rect">
            <a:avLst>
              <a:gd name="adj" fmla="val 1786"/>
            </a:avLst>
          </a:prstGeom>
          <a:solidFill>
            <a:srgbClr val="132F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804672"/>
            <a:ext cx="4251960" cy="384048"/>
          </a:xfrm>
          <a:prstGeom prst="rect">
            <a:avLst>
              <a:gd name="adj" fmla="val 19048"/>
            </a:avLst>
          </a:prstGeom>
          <a:solidFill>
            <a:srgbClr val="0EA5E9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987552"/>
            <a:ext cx="4251960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321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Uniqueness: YES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NULL: NOT allowed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Only ONE per table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 CLUSTERED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Row identifier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EmployeeID INT PRIMARY KEY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804672"/>
            <a:ext cx="4251960" cy="4096512"/>
          </a:xfrm>
          <a:prstGeom prst="rect">
            <a:avLst>
              <a:gd name="adj" fmla="val 1786"/>
            </a:avLst>
          </a:prstGeom>
          <a:solidFill>
            <a:srgbClr val="132F4C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804672"/>
            <a:ext cx="4251960" cy="384048"/>
          </a:xfrm>
          <a:prstGeom prst="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987552"/>
            <a:ext cx="425196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8321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128016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Uniqueness: YES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NULL: Allowed (one NULL)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MULTIPLE allowed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 NON-CLUSTERED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Unique non-key columns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VARCHAR(100) UNIQUE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239012"/>
          </a:xfrm>
          <a:prstGeom prst="rect">
            <a:avLst>
              <a:gd name="adj" fmla="val 5904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2390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 = Primary Key with 2+ columns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Single column can't uniquely identify row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junction tables (many-to-many)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217420"/>
            <a:ext cx="8503920" cy="1746504"/>
          </a:xfrm>
          <a:prstGeom prst="rect">
            <a:avLst>
              <a:gd name="adj" fmla="val 4188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217420"/>
            <a:ext cx="73152" cy="17465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299716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299716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299716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267712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436876"/>
            <a:ext cx="822960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StudentCourses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StudentID INT,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CourseID INT,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PRIMARY KEY (StudentID, CourseID)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Allows: Same student, diff courses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Allows: Same course, diff students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Prevents: Same student in same course twice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073652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4073652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1376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31139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= Multiple columns as PK. Very common in junction tables!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2084832"/>
          </a:xfrm>
          <a:prstGeom prst="rect">
            <a:avLst>
              <a:gd name="adj" fmla="val 3509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20848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 = Artificial key with NO business meaning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auto-incrementing integer (ID)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Simple, stable, fast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Independent of data changes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Easy to reference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Natural Key: Has business meaning (SSN, Email)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3063240"/>
            <a:ext cx="8503920" cy="1591056"/>
          </a:xfrm>
          <a:prstGeom prst="rect">
            <a:avLst>
              <a:gd name="adj" fmla="val 4598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3063240"/>
            <a:ext cx="73152" cy="15910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3145536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3145536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3145536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113532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3282696"/>
            <a:ext cx="8229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Employees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EmpID INT AUTO_INCREMENT PRIMARY KEY,  -- Surrogate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SSN VARCHAR(11) UNIQUE,                 -- Natural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VARCHAR(50)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EmpID = surrogate (arbitrary)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SSN = natural (real-world meaning)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— Types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773936"/>
          </a:xfrm>
          <a:prstGeom prst="rect">
            <a:avLst>
              <a:gd name="adj" fmla="val 4124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7739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= Rules for data integrity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NOT NULL: No NULL values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UNIQUE: All values unique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PRIMARY KEY: Unique + Not Null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FOREIGN KEY: Links tables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CHECK: Condition validation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DEFAULT: Default value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752344"/>
            <a:ext cx="8503920" cy="1591056"/>
          </a:xfrm>
          <a:prstGeom prst="rect">
            <a:avLst>
              <a:gd name="adj" fmla="val 4598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752344"/>
            <a:ext cx="73152" cy="15910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834640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83464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834640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80263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971800"/>
            <a:ext cx="8229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Employees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EmpID INT PRIMARY KEY,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VARCHAR(50)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VARCHAR(100) UNIQUE,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 INT CHECK (Age &gt;= 18),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DeptID INT FOREIGN KEY REFERENCES Dept(ID),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VARCHAR(10) DEFAULT 'Active'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453128"/>
            <a:ext cx="8503920" cy="530352"/>
          </a:xfrm>
          <a:prstGeom prst="rect">
            <a:avLst>
              <a:gd name="adj" fmla="val 13793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4453128"/>
            <a:ext cx="73152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5171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6908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constraint types. Master them all — very commonly tested!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Constraint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82396"/>
          </a:xfrm>
          <a:prstGeom prst="rect">
            <a:avLst>
              <a:gd name="adj" fmla="val 8290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8823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Sets default value when no value provided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during INSERT if column omitted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860804"/>
            <a:ext cx="8503920" cy="1591056"/>
          </a:xfrm>
          <a:prstGeom prst="rect">
            <a:avLst>
              <a:gd name="adj" fmla="val 4598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860804"/>
            <a:ext cx="73152" cy="15910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943100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194310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943100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91109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080260"/>
            <a:ext cx="8229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Orders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OrderID INT PRIMARY KEY,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VARCHAR(20) DEFAULT 'Pending',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OrderDate DATE DEFAULT GETDATE()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Orders (OrderID) VALUES (1);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Status = 'Pending', OrderDate = current date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561588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561588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6255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79933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saves time and ensures consistent initial values!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82396"/>
          </a:xfrm>
          <a:prstGeom prst="rect">
            <a:avLst>
              <a:gd name="adj" fmla="val 8290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8823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Validates data based on condition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rows that don't meet condition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860804"/>
            <a:ext cx="8503920" cy="1746504"/>
          </a:xfrm>
          <a:prstGeom prst="rect">
            <a:avLst>
              <a:gd name="adj" fmla="val 4188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860804"/>
            <a:ext cx="73152" cy="17465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943100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194310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943100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91109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080260"/>
            <a:ext cx="822960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Employees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 INT CHECK (Age &gt;= 18 AND Age &lt;= 65),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Salary DECIMAL(10,2) CHECK (Salary &gt; 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Gender CHAR(1) CHECK (Gender IN ('M', 'F'))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These will FAIL: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Employees VALUES (17, ...);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Employees VALUES (25, -5000, ...);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717036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717036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8104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95478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enforces business rules at database level!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0" y="914400"/>
            <a:ext cx="1371600" cy="1371600"/>
          </a:xfrm>
          <a:prstGeom prst="ellipse">
            <a:avLst/>
          </a:prstGeom>
          <a:solidFill>
            <a:srgbClr val="0EA5E9">
              <a:alpha val="8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05156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0" y="13716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329184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CHAR, VARCHAR, NULL Values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3246120"/>
            <a:ext cx="1371600" cy="45720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vs VARCHAR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621792"/>
            <a:ext cx="7772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04672"/>
            <a:ext cx="4251960" cy="4096512"/>
          </a:xfrm>
          <a:prstGeom prst="rect">
            <a:avLst>
              <a:gd name="adj" fmla="val 1786"/>
            </a:avLst>
          </a:prstGeom>
          <a:solidFill>
            <a:srgbClr val="132F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804672"/>
            <a:ext cx="4251960" cy="384048"/>
          </a:xfrm>
          <a:prstGeom prst="rect">
            <a:avLst>
              <a:gd name="adj" fmla="val 19048"/>
            </a:avLst>
          </a:prstGeom>
          <a:solidFill>
            <a:srgbClr val="0EA5E9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987552"/>
            <a:ext cx="4251960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321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CHAR(n)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length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Pads with spaces to length 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(fixed size)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storage if data &lt; 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Fixed-length data (state codes, zip codes)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CHAR(2) for 'CA' stores 'CA'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804672"/>
            <a:ext cx="4251960" cy="4096512"/>
          </a:xfrm>
          <a:prstGeom prst="rect">
            <a:avLst>
              <a:gd name="adj" fmla="val 1786"/>
            </a:avLst>
          </a:prstGeom>
          <a:solidFill>
            <a:srgbClr val="132F4C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804672"/>
            <a:ext cx="4251960" cy="384048"/>
          </a:xfrm>
          <a:prstGeom prst="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987552"/>
            <a:ext cx="425196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8321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VARCHAR(n)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128016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length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padding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(variable size)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storage if data &lt; 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Variable data (names, emails, addresses)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VARCHAR(50) for 'John' stores 'John'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 vs VARCHAR2 (Oracle)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2084832"/>
          </a:xfrm>
          <a:prstGeom prst="rect">
            <a:avLst>
              <a:gd name="adj" fmla="val 3509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20848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VARCHAR: Standard SQL type, variable length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VARCHAR2: Oracle-specific, recommended in Oracle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VARCHAR may change in future Oracle versions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VARCHAR2 is stable and preferred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Functionally similar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Use VARCHAR2 in Oracle, VARCHAR elsewhere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3063240"/>
            <a:ext cx="8503920" cy="1746504"/>
          </a:xfrm>
          <a:prstGeom prst="rect">
            <a:avLst>
              <a:gd name="adj" fmla="val 4188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3063240"/>
            <a:ext cx="73152" cy="17465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3145536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3145536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3145536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113532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3282696"/>
            <a:ext cx="822960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Oracle: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users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VARCHAR2(50)  -- Recommended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Standard SQL: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users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VARCHAR(50)   -- Works everywhere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 in SQL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595628"/>
          </a:xfrm>
          <a:prstGeom prst="rect">
            <a:avLst>
              <a:gd name="adj" fmla="val 4585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5956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1321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= Absence of value (NOT zero, NOT empty string)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NULL != NULL (NULL comparisons return UNKNOWN)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IS NULL / IS NOT NULL (not = or !=)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Aggregate functions ignore NULLs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NULL in math = NULL (5 + NULL = NULL)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574036"/>
            <a:ext cx="8503920" cy="1435608"/>
          </a:xfrm>
          <a:prstGeom prst="rect">
            <a:avLst>
              <a:gd name="adj" fmla="val 5096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574036"/>
            <a:ext cx="73152" cy="1435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656332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656332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6563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624328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793492"/>
            <a:ext cx="8229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 WHERE manager IS NULL;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NOT: WHERE manager = NULL (wrong!)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FROM emp WHERE salary IS NOT NULL;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AVG(salary) FROM emp;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Ignores NULL salaries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119372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4119372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1833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35711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is NOT zero! Always use IS NULL, never = NULL!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0" y="914400"/>
            <a:ext cx="1371600" cy="1371600"/>
          </a:xfrm>
          <a:prstGeom prst="ellipse">
            <a:avLst/>
          </a:prstGeom>
          <a:solidFill>
            <a:srgbClr val="10B981">
              <a:alpha val="8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05156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0" y="13716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Command Types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329184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DDL, DML, DELETE vs DROP vs TRUNCATE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3246120"/>
            <a:ext cx="1371600" cy="45720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Commands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773936"/>
          </a:xfrm>
          <a:prstGeom prst="rect">
            <a:avLst>
              <a:gd name="adj" fmla="val 4124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7739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(Data Definition Language) = Structure commands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CREATE: Create objects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ALTER: Modify objects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DROP: Delete objects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TRUNCATE: Remove all rows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RENAME: Rename objects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752344"/>
            <a:ext cx="8503920" cy="1435608"/>
          </a:xfrm>
          <a:prstGeom prst="rect">
            <a:avLst>
              <a:gd name="adj" fmla="val 5096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752344"/>
            <a:ext cx="73152" cy="1435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834640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83464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834640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80263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971800"/>
            <a:ext cx="8229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Products (ID INT, Name VARCHAR(50));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Products ADD Price DECIMAL(10,2);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TABLE Products;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TRUNCATE TABLE Products;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297680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4297680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3616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53542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affects STRUCTURE. Cannot rollback (auto-commit)!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Commands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952244"/>
          </a:xfrm>
          <a:prstGeom prst="rect">
            <a:avLst>
              <a:gd name="adj" fmla="val 3747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9522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167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(Data Manipulation Language) = Data commands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SELECT: Retrieve data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INSERT: Add rows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UPDATE: Modify rows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DELETE: Remove rows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rolled back!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930652"/>
            <a:ext cx="8503920" cy="1435608"/>
          </a:xfrm>
          <a:prstGeom prst="rect">
            <a:avLst>
              <a:gd name="adj" fmla="val 5096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930652"/>
            <a:ext cx="73152" cy="1435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3012948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3012948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3012948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98094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3150108"/>
            <a:ext cx="8229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emp (name, sal) VALUES ('Alice', 60000);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emp SET sal = 65000 WHERE name = 'Alice';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emp WHERE name = 'Alice';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 WHERE sal &gt; 50000;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475988"/>
            <a:ext cx="8503920" cy="507492"/>
          </a:xfrm>
          <a:prstGeom prst="rect">
            <a:avLst>
              <a:gd name="adj" fmla="val 14414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4475988"/>
            <a:ext cx="73152" cy="5074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5399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713732"/>
            <a:ext cx="82296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affects DATA. Can rollback. Works row-by-row!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vs DROP vs TRUNCATE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239012"/>
          </a:xfrm>
          <a:prstGeom prst="rect">
            <a:avLst>
              <a:gd name="adj" fmla="val 5904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2390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Remove ROWS (with condition), can rollback, SLOW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TRUNCATE: Remove ALL rows, cannot rollback, FAST, table structure remains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DROP: Delete ENTIRE TABLE (structure + data), cannot rollback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217420"/>
            <a:ext cx="8503920" cy="1591056"/>
          </a:xfrm>
          <a:prstGeom prst="rect">
            <a:avLst>
              <a:gd name="adj" fmla="val 4598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217420"/>
            <a:ext cx="73152" cy="15910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299716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299716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299716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267712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436876"/>
            <a:ext cx="8229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emp WHERE sal &lt; 30000;  -- DML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Rollback OK, triggers fire, logs each row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TRUNCATE TABLE emp;                 -- DDL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No rollback, no triggers, FAST reset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TABLE emp;                     -- DDL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Table gone forever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918204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918204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822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15594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favorite! DELETE=rows, TRUNCATE=all rows fast, DROP=table gone!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vs TRUNCATE Performance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773936"/>
          </a:xfrm>
          <a:prstGeom prst="rect">
            <a:avLst>
              <a:gd name="adj" fmla="val 4124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7739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is MUCH faster because: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DELETE: Logs each row deletion individually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TRUNCATE: Deallocates data pages (minimal logging)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DELETE: Need WHERE clause or rollback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TRUNCATE: Want to quickly empty entire table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752344"/>
            <a:ext cx="8503920" cy="1124712"/>
          </a:xfrm>
          <a:prstGeom prst="rect">
            <a:avLst>
              <a:gd name="adj" fmla="val 6504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752344"/>
            <a:ext cx="73152" cy="11247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834640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83464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834640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80263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971800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DELETE: Row-by-row (slow for large tables)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logs;  -- Millions of rows = slow!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TRUNCATE: Page-level deallocation (fast)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TRUNCATE TABLE logs;  -- Instant!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986784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986784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0507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22452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can be 100x faster for large tables!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0" y="914400"/>
            <a:ext cx="1371600" cy="1371600"/>
          </a:xfrm>
          <a:prstGeom prst="ellipse">
            <a:avLst/>
          </a:prstGeom>
          <a:solidFill>
            <a:srgbClr val="10B981">
              <a:alpha val="8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05156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0" y="13716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&amp; Sorting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329184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WHERE, HAVING, GROUP BY, Aggregates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3246120"/>
            <a:ext cx="1371600" cy="45720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vs HAVING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621792"/>
            <a:ext cx="7772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04672"/>
            <a:ext cx="4251960" cy="4096512"/>
          </a:xfrm>
          <a:prstGeom prst="rect">
            <a:avLst>
              <a:gd name="adj" fmla="val 1786"/>
            </a:avLst>
          </a:prstGeom>
          <a:solidFill>
            <a:srgbClr val="132F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804672"/>
            <a:ext cx="4251960" cy="384048"/>
          </a:xfrm>
          <a:prstGeom prst="rect">
            <a:avLst>
              <a:gd name="adj" fmla="val 19048"/>
            </a:avLst>
          </a:prstGeom>
          <a:solidFill>
            <a:srgbClr val="0EA5E9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987552"/>
            <a:ext cx="4251960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321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BEFORE grouping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Individual rows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use: Aggregates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Execution: Filters → then groups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emp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salary &gt; 50000;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804672"/>
            <a:ext cx="4251960" cy="4096512"/>
          </a:xfrm>
          <a:prstGeom prst="rect">
            <a:avLst>
              <a:gd name="adj" fmla="val 1786"/>
            </a:avLst>
          </a:prstGeom>
          <a:solidFill>
            <a:srgbClr val="132F4C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804672"/>
            <a:ext cx="4251960" cy="384048"/>
          </a:xfrm>
          <a:prstGeom prst="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987552"/>
            <a:ext cx="425196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8321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128016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AFTER grouping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Grouped results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use: Aggregates (SUM, COUNT)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Execution: Groups → then filters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dept, COUNT(*)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emp GROUP BY dept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COUNT(*) &gt; 10;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vs ORDER BY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239012"/>
          </a:xfrm>
          <a:prstGeom prst="rect">
            <a:avLst>
              <a:gd name="adj" fmla="val 5904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2390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BY: Aggregates/summarizes data (with COUNT, SUM, AVG)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BY: Sorts results (ASC or DESC)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use BOTH together!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217420"/>
            <a:ext cx="8503920" cy="1901952"/>
          </a:xfrm>
          <a:prstGeom prst="rect">
            <a:avLst>
              <a:gd name="adj" fmla="val 3846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217420"/>
            <a:ext cx="73152" cy="19019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299716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299716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299716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267712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436876"/>
            <a:ext cx="82296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GROUP BY: Count per dept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dept, COUNT(*) AS cnt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 GROUP BY dept;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ORDER BY: Sort by salary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salary FROM emp ORDER BY salary DESC;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BOTH: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dept, AVG(sal) AS avg_sal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 GROUP BY dept ORDER BY avg_sal DESC;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229100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4229100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2931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46684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= summarize. ORDER BY = sort. Different purposes!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952244"/>
          </a:xfrm>
          <a:prstGeom prst="rect">
            <a:avLst>
              <a:gd name="adj" fmla="val 3747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9522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167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calculations on multiple rows: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COUNT(): Count rows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SUM(): Total of values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AVG(): Average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MAX(): Maximum value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MIN(): Minimum value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NULLs (except COUNT(*))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930652"/>
            <a:ext cx="8503920" cy="1124712"/>
          </a:xfrm>
          <a:prstGeom prst="rect">
            <a:avLst>
              <a:gd name="adj" fmla="val 6504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930652"/>
            <a:ext cx="73152" cy="11247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3012948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3012948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3012948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98094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3150108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FROM emp;              -- Total rows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COUNT(manager) FROM emp;       -- Non-NULL managers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SUM(salary) FROM emp;          -- Total salary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AVG(salary) FROM emp;          -- Average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MAX(salary), MIN(salary) FROM emp;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165092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4165092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2291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40283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 includes NULLs. COUNT(column) excludes NULLs!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 with LIKE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239012"/>
          </a:xfrm>
          <a:prstGeom prst="rect">
            <a:avLst>
              <a:gd name="adj" fmla="val 5904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2390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LIKE: Pattern matching in WHERE clause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= Any sequence of characters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 = Single character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217420"/>
            <a:ext cx="8503920" cy="2057400"/>
          </a:xfrm>
          <a:prstGeom prst="rect">
            <a:avLst>
              <a:gd name="adj" fmla="val 3556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217420"/>
            <a:ext cx="73152" cy="2057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299716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299716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299716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267712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436876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Names starting with 'A'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 WHERE name LIKE 'A%';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Names ending with 'son'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 WHERE name LIKE '%son';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-- 2nd letter is 'a'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 WHERE name LIKE '_a%';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Email domain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 WHERE email LIKE '%@gmail.com';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384548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4384548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44855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62229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= zero or more chars. _ = exactly one char!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Domain From Email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525780"/>
          </a:xfrm>
          <a:prstGeom prst="rect">
            <a:avLst>
              <a:gd name="adj" fmla="val 13913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5257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string functions to extract part after @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504188"/>
            <a:ext cx="8503920" cy="1901952"/>
          </a:xfrm>
          <a:prstGeom prst="rect">
            <a:avLst>
              <a:gd name="adj" fmla="val 3846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504188"/>
            <a:ext cx="73152" cy="19019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586484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1586484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586484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554480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1723644"/>
            <a:ext cx="82296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MySQL: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SUBSTRING(email, LOCATE('@', email) + 1) AS domain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users;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SQL Server: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SUBSTRING(email, CHARINDEX('@', email) + 1, LEN(email))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users;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PostgreSQL: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SPLIT_PART(email, '@', 2) FROM users;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515868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515868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798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75361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SUBSTRING + LOCATE (or CHARINDEX) extracts domain!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Leading &amp; Trailing Spaces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525780"/>
          </a:xfrm>
          <a:prstGeom prst="rect">
            <a:avLst>
              <a:gd name="adj" fmla="val 13913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5257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TRIM, LTRIM, RTRIM functions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504188"/>
            <a:ext cx="8503920" cy="2057400"/>
          </a:xfrm>
          <a:prstGeom prst="rect">
            <a:avLst>
              <a:gd name="adj" fmla="val 3556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504188"/>
            <a:ext cx="73152" cy="2057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586484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1586484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586484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554480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1723644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Remove both sides: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TRIM(name) FROM emp;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Remove left spaces: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LTRIM(name) FROM emp;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Remove right spaces: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RTRIM(name) FROM emp;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Update in place: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emp SET name = TRIM(name);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671316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671316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353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9090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is essential for cleaning imported data!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0" y="914400"/>
            <a:ext cx="1371600" cy="1371600"/>
          </a:xfrm>
          <a:prstGeom prst="ellipse">
            <a:avLst/>
          </a:prstGeom>
          <a:solidFill>
            <a:srgbClr val="10B981">
              <a:alpha val="8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05156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0" y="13716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— MOST IMPORTANT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329184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All Join Types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3246120"/>
            <a:ext cx="1371600" cy="45720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Joins — Complete List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417320"/>
          </a:xfrm>
          <a:prstGeom prst="rect">
            <a:avLst>
              <a:gd name="adj" fmla="val 5161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417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INNER JOIN: Matched rows from BOTH tables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LEFT JOIN: All from LEFT + matches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RIGHT JOIN: All from RIGHT + matches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FULL OUTER: All from BOTH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CROSS JOIN: Cartesian product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SELF JOIN: Table to itself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395728"/>
            <a:ext cx="8503920" cy="1591056"/>
          </a:xfrm>
          <a:prstGeom prst="rect">
            <a:avLst>
              <a:gd name="adj" fmla="val 4598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395728"/>
            <a:ext cx="73152" cy="15910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478024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478024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478024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446020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615184"/>
            <a:ext cx="8229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INNER JOIN: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e.name, d.dept_name FROM emp 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dept d ON e.dept_id = d.id;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LEFT JOIN: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e.name, d.dept_name FROM emp 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dept d ON e.dept_id = d.id;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All employees (even without dept)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096512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4096512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1605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33425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= matches only. LEFT/RIGHT = all from one side. FULL = all from both!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vs OUTER JOIN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621792"/>
            <a:ext cx="7772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04672"/>
            <a:ext cx="4251960" cy="4096512"/>
          </a:xfrm>
          <a:prstGeom prst="rect">
            <a:avLst>
              <a:gd name="adj" fmla="val 1786"/>
            </a:avLst>
          </a:prstGeom>
          <a:solidFill>
            <a:srgbClr val="132F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804672"/>
            <a:ext cx="4251960" cy="384048"/>
          </a:xfrm>
          <a:prstGeom prst="rect">
            <a:avLst>
              <a:gd name="adj" fmla="val 19048"/>
            </a:avLst>
          </a:prstGeom>
          <a:solidFill>
            <a:srgbClr val="0EA5E9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987552"/>
            <a:ext cx="4251960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321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MATCHING rows only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NULLs: No NULLs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Related data only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Smallest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Employees WITH departments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B ON A.id = B.id;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804672"/>
            <a:ext cx="4251960" cy="4096512"/>
          </a:xfrm>
          <a:prstGeom prst="rect">
            <a:avLst>
              <a:gd name="adj" fmla="val 1786"/>
            </a:avLst>
          </a:prstGeom>
          <a:solidFill>
            <a:srgbClr val="132F4C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804672"/>
            <a:ext cx="4251960" cy="384048"/>
          </a:xfrm>
          <a:prstGeom prst="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987552"/>
            <a:ext cx="425196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8321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JOIN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128016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Matched + unmatched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NULLs: Shows NULLs for unmatched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All records from table(s)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Larger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ALL employees (with or without dept)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B ON A.id = B.id;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JOIN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239012"/>
          </a:xfrm>
          <a:prstGeom prst="rect">
            <a:avLst>
              <a:gd name="adj" fmla="val 5904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2390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JOIN = Table joined with ITSELF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aliases to distinguish!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for hierarchical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217420"/>
            <a:ext cx="8503920" cy="1280160"/>
          </a:xfrm>
          <a:prstGeom prst="rect">
            <a:avLst>
              <a:gd name="adj" fmla="val 5714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2174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299716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299716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299716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267712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436876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Find employees and their managers: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e.name AS emp, m.name AS mgr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 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emp m ON e.manager_id = m.emp_id;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 and m both reference 'emp' table!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607308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607308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6713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84505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JOIN for hierarchy! Manager-employee, parent-child, etc!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JOIN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239012"/>
          </a:xfrm>
          <a:prstGeom prst="rect">
            <a:avLst>
              <a:gd name="adj" fmla="val 5904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2390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JOIN = Cartesian product (every row × every row)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 clause!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 × n rows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217420"/>
            <a:ext cx="8503920" cy="1280160"/>
          </a:xfrm>
          <a:prstGeom prst="rect">
            <a:avLst>
              <a:gd name="adj" fmla="val 5714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2174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299716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299716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299716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267712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436876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All combinations of products and colors: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p.name, c.color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products 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 JOIN colors 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-- 5 products × 3 colors = 15 rows!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607308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607308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6713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84505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JOIN creates ALL combinations. Use carefully!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0" y="914400"/>
            <a:ext cx="1371600" cy="1371600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05156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0" y="13716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&amp; CTEs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329184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Queries, Correlated, Common Table Expressions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3246120"/>
            <a:ext cx="1371600" cy="45720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vs Correlated Subquery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239012"/>
          </a:xfrm>
          <a:prstGeom prst="rect">
            <a:avLst>
              <a:gd name="adj" fmla="val 5904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2390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Nested: Inner query runs ONCE, independent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Correlated: Inner query runs for EACH outer row, references outer query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CTE: Named temp result, more readable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217420"/>
            <a:ext cx="8503920" cy="1591056"/>
          </a:xfrm>
          <a:prstGeom prst="rect">
            <a:avLst>
              <a:gd name="adj" fmla="val 4598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217420"/>
            <a:ext cx="73152" cy="15910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299716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299716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299716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267712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436876"/>
            <a:ext cx="8229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Nested (runs once):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 FROM emp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sal &gt; (SELECT AVG(sal) FROM emp);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Correlated (runs per row):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e1.name FROM emp e1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sal &gt; (SELECT AVG(sal) FROM emp e2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WHERE e2.dept_id = e1.dept_id);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918204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918204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822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15594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= fast. Correlated = slow (runs many times)!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(Common Table Expression)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239012"/>
          </a:xfrm>
          <a:prstGeom prst="rect">
            <a:avLst>
              <a:gd name="adj" fmla="val 5904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2390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= Named temporary result set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with WITH clause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readable than subqueries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217420"/>
            <a:ext cx="8503920" cy="1746504"/>
          </a:xfrm>
          <a:prstGeom prst="rect">
            <a:avLst>
              <a:gd name="adj" fmla="val 4188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217420"/>
            <a:ext cx="73152" cy="17465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299716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299716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299716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267712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436876"/>
            <a:ext cx="822960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Without CTE: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 FROM emp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sal &gt; (SELECT AVG(sal) FROM emp);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With CTE (cleaner!):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AvgSal AS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AVG(sal) AS avg FROM emp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 FROM emp, AvgSal WHERE sal &gt; avg;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073652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4073652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1376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31139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make complex queries readable! Use them!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CTE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82396"/>
          </a:xfrm>
          <a:prstGeom prst="rect">
            <a:avLst>
              <a:gd name="adj" fmla="val 8290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8823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CTE calls itself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hierarchical/tree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860804"/>
            <a:ext cx="8503920" cy="2212848"/>
          </a:xfrm>
          <a:prstGeom prst="rect">
            <a:avLst>
              <a:gd name="adj" fmla="val 3306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860804"/>
            <a:ext cx="73152" cy="22128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943100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194310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943100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91109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080260"/>
            <a:ext cx="82296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Employee hierarchy: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RECURSIVE EmpHierarchy AS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emp_id, name, manager_id, 1 AS lvl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emp WHERE manager_id IS NULL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UNION 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e.emp_id, e.name, e.manager_id, h.lvl + 1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emp 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EmpHierarchy h ON e.manager_id = h.emp_id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EmpHierarchy;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183380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4183380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2473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42112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CTE for org charts, folder trees, etc!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0" y="914400"/>
            <a:ext cx="1371600" cy="1371600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05156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0" y="13716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&amp; Design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329184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Forms, OLTP vs OLAP, Star Schema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3246120"/>
            <a:ext cx="1371600" cy="45720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773936"/>
          </a:xfrm>
          <a:prstGeom prst="rect">
            <a:avLst>
              <a:gd name="adj" fmla="val 4124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7739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= Organizing data to reduce redundancy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Eliminate duplicate data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Ensure data dependencies make sense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Reduce update anomalies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Forms: 1NF, 2NF, 3NF, BCNF, 4NF, 5NF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752344"/>
            <a:ext cx="8503920" cy="1435608"/>
          </a:xfrm>
          <a:prstGeom prst="rect">
            <a:avLst>
              <a:gd name="adj" fmla="val 5096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752344"/>
            <a:ext cx="73152" cy="1435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834640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83464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834640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80263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971800"/>
            <a:ext cx="8229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Unnormalized: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Orders: OrderID, CustName, CustAddr, Product, Price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CustName &amp; CustAddr repeated per order!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Normalized: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Customers: CustID, Name, Address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Orders: OrderID, CustID, Product, Price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297680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4297680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3616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53542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reduces redundancy. Usually normalize to 3NF!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Forms — 1NF, 2NF, 3NF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82396"/>
          </a:xfrm>
          <a:prstGeom prst="rect">
            <a:avLst>
              <a:gd name="adj" fmla="val 8290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8823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1NF: Atomic values (no repeating groups)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2NF: 1NF + No partial dependencies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3NF: 2NF + No transitive dependencies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860804"/>
            <a:ext cx="8503920" cy="2057400"/>
          </a:xfrm>
          <a:prstGeom prst="rect">
            <a:avLst>
              <a:gd name="adj" fmla="val 3556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860804"/>
            <a:ext cx="73152" cy="2057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943100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194310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943100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91109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08026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Violates 1NF: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Phone: '555-1234, 555-5678'  -- Multiple in one column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-- 1NF: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Phone1: '555-1234'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Phone2: '555-5678'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OR separate PhoneNumbers table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-- 3NF removes transitive deps: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EmpID → DeptID → DeptName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Move DeptName to Departments table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027932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4027932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0919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26567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aim for 3NF — good balance!</a:t>
            </a:r>
            <a:endParaRPr lang="en-US" sz="10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Denormalization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773936"/>
          </a:xfrm>
          <a:prstGeom prst="rect">
            <a:avLst>
              <a:gd name="adj" fmla="val 4124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7739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Denormalization = Intentionally adding redundancy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Improve query performance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Reduce JOINs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Speed up reads (at cost of slower writes)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data warehouses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752344"/>
            <a:ext cx="8503920" cy="1280160"/>
          </a:xfrm>
          <a:prstGeom prst="rect">
            <a:avLst>
              <a:gd name="adj" fmla="val 5714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752344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834640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83464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834640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80263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971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Normalized: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o.id, c.name FROM orders o JOIN customers 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Denormalized (faster):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orders: id, customer_name  -- Name duplicated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id, customer_name FROM orders;  -- No JOIN!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142232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4142232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2062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37997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Denormalize for read-heavy systems. Trade consistency for speed!</a:t>
            </a:r>
            <a:endParaRPr lang="en-US" sz="10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vs OLAP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621792"/>
            <a:ext cx="7772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04672"/>
            <a:ext cx="4251960" cy="4096512"/>
          </a:xfrm>
          <a:prstGeom prst="rect">
            <a:avLst>
              <a:gd name="adj" fmla="val 1786"/>
            </a:avLst>
          </a:prstGeom>
          <a:solidFill>
            <a:srgbClr val="132F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804672"/>
            <a:ext cx="4251960" cy="384048"/>
          </a:xfrm>
          <a:prstGeom prst="rect">
            <a:avLst>
              <a:gd name="adj" fmla="val 19048"/>
            </a:avLst>
          </a:prstGeom>
          <a:solidFill>
            <a:srgbClr val="0EA5E9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987552"/>
            <a:ext cx="4251960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321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(Online Transaction Processing)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Day-to-day operations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 INSERT, UPDATE, DELETE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Current, normalized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Queries: Simple, fast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Many concurrent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E-commerce orders, banking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 MySQL, PostgreSQL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804672"/>
            <a:ext cx="4251960" cy="4096512"/>
          </a:xfrm>
          <a:prstGeom prst="rect">
            <a:avLst>
              <a:gd name="adj" fmla="val 1786"/>
            </a:avLst>
          </a:prstGeom>
          <a:solidFill>
            <a:srgbClr val="132F4C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804672"/>
            <a:ext cx="4251960" cy="384048"/>
          </a:xfrm>
          <a:prstGeom prst="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987552"/>
            <a:ext cx="425196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8321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(Online Analytical Processing)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128016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Analytics, reporting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 Complex SELECT queries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Historical, denormalized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Queries: Complex aggregations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Fewer analysts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Sales reports, BI dashboards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 Data warehouses (Redshift, Snowflake)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&amp; Snowflake Schema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82396"/>
          </a:xfrm>
          <a:prstGeom prst="rect">
            <a:avLst>
              <a:gd name="adj" fmla="val 8290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8823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Central fact table + dimension tables (denormalized)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Schema: Normalized dimensions (more tables, less redundancy)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860804"/>
            <a:ext cx="8503920" cy="1591056"/>
          </a:xfrm>
          <a:prstGeom prst="rect">
            <a:avLst>
              <a:gd name="adj" fmla="val 4598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860804"/>
            <a:ext cx="73152" cy="15910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943100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194310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943100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91109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080260"/>
            <a:ext cx="8229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Star Schema: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Fact_Sales: SaleID, ProductID, CustomerID, Amount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Dim_Product: ProductID, Name, Category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Dim_Customer: CustomerID, Name, City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Snowflake: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Dim_Product: ProductID, Name, CategoryID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Dim_Category: CategoryID, CategoryName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561588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561588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6255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79933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= simpler queries. Snowflake = less redundancy. Star is more common!</a:t>
            </a:r>
            <a:endParaRPr lang="en-US" sz="10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0" y="914400"/>
            <a:ext cx="1371600" cy="1371600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05156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0" y="13716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Performance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329184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Up Queries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3246120"/>
            <a:ext cx="1371600" cy="45720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060704"/>
          </a:xfrm>
          <a:prstGeom prst="rect">
            <a:avLst>
              <a:gd name="adj" fmla="val 6897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0607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= Data structure for fast retrieval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Faster SELECT, WHERE, JOIN, ORDER BY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Drawbacks: Slower INSERT/UPDATE/DELETE, extra storage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039112"/>
            <a:ext cx="8503920" cy="1124712"/>
          </a:xfrm>
          <a:prstGeom prst="rect">
            <a:avLst>
              <a:gd name="adj" fmla="val 6504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039112"/>
            <a:ext cx="73152" cy="11247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121408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121408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121408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08940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258568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idx_salary ON emp(salary);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 WHERE salary &gt; 50000;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Without index: Full table scan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With index: Direct lookup (FAST!)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273552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273552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375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51129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= speed booster. Use on frequently searched columns!</a:t>
            </a:r>
            <a:endParaRPr lang="en-US" sz="10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vs Non-Clustered Index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621792"/>
            <a:ext cx="7772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04672"/>
            <a:ext cx="4251960" cy="4096512"/>
          </a:xfrm>
          <a:prstGeom prst="rect">
            <a:avLst>
              <a:gd name="adj" fmla="val 1786"/>
            </a:avLst>
          </a:prstGeom>
          <a:solidFill>
            <a:srgbClr val="132F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804672"/>
            <a:ext cx="4251960" cy="384048"/>
          </a:xfrm>
          <a:prstGeom prst="rect">
            <a:avLst>
              <a:gd name="adj" fmla="val 19048"/>
            </a:avLst>
          </a:prstGeom>
          <a:solidFill>
            <a:srgbClr val="0EA5E9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987552"/>
            <a:ext cx="4251960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321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ONE per table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Physically sorts data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Faster for range queries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Auto creates clustered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Data in index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Phone book sorted by name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804672"/>
            <a:ext cx="4251960" cy="4096512"/>
          </a:xfrm>
          <a:prstGeom prst="rect">
            <a:avLst>
              <a:gd name="adj" fmla="val 1786"/>
            </a:avLst>
          </a:prstGeom>
          <a:solidFill>
            <a:srgbClr val="132F4C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804672"/>
            <a:ext cx="4251960" cy="384048"/>
          </a:xfrm>
          <a:prstGeom prst="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987552"/>
            <a:ext cx="425196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8321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Non-Clustered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128016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MULTIPLE per table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Separate with pointers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Extra lookup needed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Unique: Creates non-clustered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Index separate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Book index pointing to pages</a:t>
            </a:r>
            <a:endParaRPr lang="en-US" sz="10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Avoid Indexing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417320"/>
          </a:xfrm>
          <a:prstGeom prst="rect">
            <a:avLst>
              <a:gd name="adj" fmla="val 5161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417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index when: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Small tables (index overhead &gt; benefit)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Columns with few distinct values (gender, boolean)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Tables with frequent INSERT/UPDATE/DELETE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Columns rarely used in WHERE/JOIN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395728"/>
            <a:ext cx="8503920" cy="1435608"/>
          </a:xfrm>
          <a:prstGeom prst="rect">
            <a:avLst>
              <a:gd name="adj" fmla="val 5096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395728"/>
            <a:ext cx="73152" cy="1435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478024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478024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478024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446020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615184"/>
            <a:ext cx="8229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BAD index candidates: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 CHAR(1)  -- Only 2-3 values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IsActive BIT    -- Only 0 or 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GOOD index candidates: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(unique, searched often)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OrderDate (range queries)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941064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941064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0050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17880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indexes slow down writes. Be selective!</a:t>
            </a:r>
            <a:endParaRPr lang="en-US" sz="10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Optimization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595628"/>
          </a:xfrm>
          <a:prstGeom prst="rect">
            <a:avLst>
              <a:gd name="adj" fmla="val 4585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5956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1321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to speed up queries: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 indexes on WHERE/JOIN columns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Avoid SELECT * (specify columns)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 LIMIT/TOP for large results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Avoid functions on indexed columns in WHERE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Use EXPLAIN to analyze query plan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574036"/>
            <a:ext cx="8503920" cy="1746504"/>
          </a:xfrm>
          <a:prstGeom prst="rect">
            <a:avLst>
              <a:gd name="adj" fmla="val 4188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574036"/>
            <a:ext cx="73152" cy="17465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656332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656332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6563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624328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793492"/>
            <a:ext cx="822960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BAD: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 WHERE UPPER(name) = 'JOHN';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Index on 'name' not used!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GOOD: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id, name FROM emp WHERE name = 'John';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Index used!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SELECT * FROM emp WHERE salary &gt; 50000;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430268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4430268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4942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66801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shows query execution plan. Use it to find bottlenecks!</a:t>
            </a:r>
            <a:endParaRPr lang="en-US" sz="10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595628"/>
          </a:xfrm>
          <a:prstGeom prst="rect">
            <a:avLst>
              <a:gd name="adj" fmla="val 4585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5956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1321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 = Splitting large table into smaller pieces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Faster queries, easier maintenance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Horizontal: Rows split (by date, region)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Vertical: Columns split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574036"/>
            <a:ext cx="8503920" cy="1591056"/>
          </a:xfrm>
          <a:prstGeom prst="rect">
            <a:avLst>
              <a:gd name="adj" fmla="val 4598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574036"/>
            <a:ext cx="73152" cy="15910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656332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656332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6563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624328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793492"/>
            <a:ext cx="8229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Partition by date: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orders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order_id INT,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order_date 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PARTITION BY RANGE (YEAR(order_date))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PARTITION p2022 VALUES LESS THAN (2023),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PARTITION p2023 VALUES LESS THAN (2024)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274820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4274820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3388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51256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 improves performance for very large tables!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Sharding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239012"/>
          </a:xfrm>
          <a:prstGeom prst="rect">
            <a:avLst>
              <a:gd name="adj" fmla="val 5904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2390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= Horizontal partitioning across MULTIPLE databases/servers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shard contains subset of data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Massive scalability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217420"/>
            <a:ext cx="8503920" cy="1280160"/>
          </a:xfrm>
          <a:prstGeom prst="rect">
            <a:avLst>
              <a:gd name="adj" fmla="val 5714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2174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299716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299716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299716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267712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436876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Users sharded by ID: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 1: Users 1-1M (Server 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 2: Users 1M-2M (Server 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 3: Users 2M-3M (Server C)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Query routes to correct shard based on user_id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607308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607308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6713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84505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for huge scale (millions/billions of rows)!</a:t>
            </a:r>
            <a:endParaRPr lang="en-US" sz="10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640080" cy="6400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0" y="914400"/>
            <a:ext cx="1371600" cy="1371600"/>
          </a:xfrm>
          <a:prstGeom prst="ellipse">
            <a:avLst/>
          </a:prstGeom>
          <a:solidFill>
            <a:srgbClr val="EC4899">
              <a:alpha val="8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05156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0" y="13716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&amp; Concurrency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329184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Levels, Deadlocks, Locking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3246120"/>
            <a:ext cx="1371600" cy="45720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Levels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417320"/>
          </a:xfrm>
          <a:prstGeom prst="rect">
            <a:avLst>
              <a:gd name="adj" fmla="val 5161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417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transaction visibility: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UNCOMMITTED: Dirty reads allowed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READ COMMITTED: Only committed data (default)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REPEATABLE READ: Same read twice = same 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SERIALIZABLE: Full isolation (slowest)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395728"/>
            <a:ext cx="8503920" cy="1280160"/>
          </a:xfrm>
          <a:prstGeom prst="rect">
            <a:avLst>
              <a:gd name="adj" fmla="val 5714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395728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478024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478024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478024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446020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615184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TRANSACTION ISOLATION LEVEL READ COMMITTED;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 TRANSACTION;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* FROM accounts WHERE id 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Other transactions can't modify this 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785616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785616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8496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isolation = more consistency, less concurrency!</a:t>
            </a:r>
            <a:endParaRPr lang="en-US" sz="10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Read, Phantom Read, Non-Repeatable Read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82396"/>
          </a:xfrm>
          <a:prstGeom prst="rect">
            <a:avLst>
              <a:gd name="adj" fmla="val 8290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8823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Read: Reading UNCOMMITTED data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Non-Repeatable: Same query, different results (row updated)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Phantom: Same query, different row count (rows inserted/deleted)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860804"/>
            <a:ext cx="8503920" cy="1746504"/>
          </a:xfrm>
          <a:prstGeom prst="rect">
            <a:avLst>
              <a:gd name="adj" fmla="val 4188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860804"/>
            <a:ext cx="73152" cy="17465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943100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194310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943100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91109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080260"/>
            <a:ext cx="822960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Dirty Read: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T1: UPDATE acc SET bal = 100;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T2: SELECT bal FROM acc;  -- Reads 100 (uncommitted!)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T1: ROLLBACK;             -- T2 read wrong data!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Phantom: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T1: SELECT COUNT(*) FROM emp WHERE dept = 5;  -- 10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T2: INSERT INTO emp VALUES (..., dept=5);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T1: SELECT COUNT(*) FROM emp WHERE dept = 5;  -- 11!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717036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717036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8104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95478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levels prevent these! Higher level = fewer problems!</a:t>
            </a:r>
            <a:endParaRPr lang="en-US" sz="10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239012"/>
          </a:xfrm>
          <a:prstGeom prst="rect">
            <a:avLst>
              <a:gd name="adj" fmla="val 5904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2390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Deadlock: Two transactions waiting for each other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proceed!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detects and kills one transaction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217420"/>
            <a:ext cx="8503920" cy="1591056"/>
          </a:xfrm>
          <a:prstGeom prst="rect">
            <a:avLst>
              <a:gd name="adj" fmla="val 4598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217420"/>
            <a:ext cx="73152" cy="15910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299716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299716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299716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267712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436876"/>
            <a:ext cx="8229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Transaction 1: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BEGIN; UPDATE accounts SET bal=100 WHERE id=1;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UPDATE accounts SET bal=200 WHERE id=2;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Transaction 2: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BEGIN; UPDATE accounts SET bal=300 WHERE id=2;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UPDATE accounts SET bal=400 WHERE id=1;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DEADLOCK! Each holds lock other needs!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918204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918204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822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15594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deadlocks: Access resources in same order!</a:t>
            </a:r>
            <a:endParaRPr lang="en-US" sz="10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417320"/>
          </a:xfrm>
          <a:prstGeom prst="rect">
            <a:avLst>
              <a:gd name="adj" fmla="val 5161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417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prevents concurrent access conflicts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Shared Lock: Multiple reads, no writes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Exclusive Lock: One transaction only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Row-level vs Table-level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395728"/>
            <a:ext cx="8503920" cy="1280160"/>
          </a:xfrm>
          <a:prstGeom prst="rect">
            <a:avLst>
              <a:gd name="adj" fmla="val 5714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395728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478024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478024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478024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446020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615184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Shared lock (reading):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accounts WITH (NOLOCK);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Exclusive lock (writing):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accounts SET bal = 100 WHERE id 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Others must wait!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785616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785616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8496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ensure data consistency but reduce concurrency!</a:t>
            </a:r>
            <a:endParaRPr lang="en-US" sz="10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vs Pessimistic Locking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621792"/>
            <a:ext cx="7772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04672"/>
            <a:ext cx="4251960" cy="4096512"/>
          </a:xfrm>
          <a:prstGeom prst="rect">
            <a:avLst>
              <a:gd name="adj" fmla="val 1786"/>
            </a:avLst>
          </a:prstGeom>
          <a:solidFill>
            <a:srgbClr val="132F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804672"/>
            <a:ext cx="4251960" cy="384048"/>
          </a:xfrm>
          <a:prstGeom prst="rect">
            <a:avLst>
              <a:gd name="adj" fmla="val 19048"/>
            </a:avLst>
          </a:prstGeom>
          <a:solidFill>
            <a:srgbClr val="0EA5E9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987552"/>
            <a:ext cx="4251960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321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Conflicts are RARE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No locks, check before commit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Better concurrency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Read-heavy, low contention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data + version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if version matches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804672"/>
            <a:ext cx="4251960" cy="4096512"/>
          </a:xfrm>
          <a:prstGeom prst="rect">
            <a:avLst>
              <a:gd name="adj" fmla="val 1786"/>
            </a:avLst>
          </a:prstGeom>
          <a:solidFill>
            <a:srgbClr val="132F4C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804672"/>
            <a:ext cx="4251960" cy="384048"/>
          </a:xfrm>
          <a:prstGeom prst="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987552"/>
            <a:ext cx="425196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8321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Pessimistic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128016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Conflicts are COMMON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Lock immediately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Lower concurrency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Write-heavy, high contention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FOR UPDATE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row until commit</a:t>
            </a:r>
            <a:endParaRPr lang="en-US" sz="10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640080" cy="6400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0" y="914400"/>
            <a:ext cx="1371600" cy="1371600"/>
          </a:xfrm>
          <a:prstGeom prst="ellipse">
            <a:avLst/>
          </a:prstGeom>
          <a:solidFill>
            <a:srgbClr val="EC4899">
              <a:alpha val="8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05156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0" y="13716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Features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329184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Views, Procedures, Triggers, Window Functions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3246120"/>
            <a:ext cx="1371600" cy="45720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82396"/>
          </a:xfrm>
          <a:prstGeom prst="rect">
            <a:avLst>
              <a:gd name="adj" fmla="val 8290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8823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= Virtual table based on query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Simplify complex queries, security (hide columns)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860804"/>
            <a:ext cx="8503920" cy="1124712"/>
          </a:xfrm>
          <a:prstGeom prst="rect">
            <a:avLst>
              <a:gd name="adj" fmla="val 6504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860804"/>
            <a:ext cx="73152" cy="11247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943100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194310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943100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91109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080260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HighEarners 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salary FROM emp WHERE salary &gt; 100000;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Use like a table: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HighEarners;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95244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095244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1592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33298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don't store data — they're saved queries!</a:t>
            </a:r>
            <a:endParaRPr lang="en-US" sz="10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 Views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82396"/>
          </a:xfrm>
          <a:prstGeom prst="rect">
            <a:avLst>
              <a:gd name="adj" fmla="val 8290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8823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 View = Pre-computed, STORED results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regular views but must be refreshed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860804"/>
            <a:ext cx="8503920" cy="1280160"/>
          </a:xfrm>
          <a:prstGeom prst="rect">
            <a:avLst>
              <a:gd name="adj" fmla="val 5714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860804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943100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194310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943100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91109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0802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MATERIALIZED VIEW sales_summary 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product_id, SUM(amount) AS total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sales GROUP BY product_id;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Refresh when data changes: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 MATERIALIZED VIEW sales_summary;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250692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250692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147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48843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 = fast but stale. Regular view = fresh but slower!</a:t>
            </a:r>
            <a:endParaRPr lang="en-US" sz="10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 vs Function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239012"/>
          </a:xfrm>
          <a:prstGeom prst="rect">
            <a:avLst>
              <a:gd name="adj" fmla="val 5904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2390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Procedure: Reusable SQL code, can modify data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Function: Returns value, cannot modify data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diff: Procedures use CALL, functions in SELECT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217420"/>
            <a:ext cx="8503920" cy="2368296"/>
          </a:xfrm>
          <a:prstGeom prst="rect">
            <a:avLst>
              <a:gd name="adj" fmla="val 3089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217420"/>
            <a:ext cx="73152" cy="2368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299716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299716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299716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267712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436876"/>
            <a:ext cx="8229600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Procedure: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RaiseSalary(emp_id INT, amount DECIMAL)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 emp SET salary = salary + amount WHERE id = emp_id;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RaiseSalary(1, 5000);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Function: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FUNCTION GetTax(sal DECIMAL) RETURNS DECIMAL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sal * 0.2;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GetTax(salary) FROM emp;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060704"/>
          </a:xfrm>
          <a:prstGeom prst="rect">
            <a:avLst>
              <a:gd name="adj" fmla="val 6897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0607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= Auto-execute SQL when event occurs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Events: INSERT, UPDATE, DELETE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BEFORE or AFTER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039112"/>
            <a:ext cx="8503920" cy="1591056"/>
          </a:xfrm>
          <a:prstGeom prst="rect">
            <a:avLst>
              <a:gd name="adj" fmla="val 4598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039112"/>
            <a:ext cx="73152" cy="15910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121408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121408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121408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08940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258568"/>
            <a:ext cx="8229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TRIGGER log_salary_change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UPDATE ON emp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NEW.salary &lt;&gt; OLD.salary THEN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INSERT INTO audit_log VALUES (NEW.id, OLD.salary, NEW.salary);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IF;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739896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739896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8039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9776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for auditing, validation, cascading changes!</a:t>
            </a:r>
            <a:endParaRPr lang="en-US" sz="10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— RANK, DENSE_RANK, ROW_NUMBER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239012"/>
          </a:xfrm>
          <a:prstGeom prst="rect">
            <a:avLst>
              <a:gd name="adj" fmla="val 5904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12390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assign rankings but handle ties differently: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ROW_NUMBER: 1, 2, 3, 4 (unique)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RANK: 1, 2, 2, 4 (gaps after ties)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DENSE_RANK: 1, 2, 2, 3 (no gaps)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217420"/>
            <a:ext cx="8503920" cy="1901952"/>
          </a:xfrm>
          <a:prstGeom prst="rect">
            <a:avLst>
              <a:gd name="adj" fmla="val 3846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217420"/>
            <a:ext cx="73152" cy="19019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299716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299716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2299716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267712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436876"/>
            <a:ext cx="82296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salary,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ROW_NUMBER() OVER (ORDER BY salary DESC) AS rn,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RANK() OVER (ORDER BY salary DESC) AS rnk,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DENSE_RANK() OVER (ORDER BY salary DESC) AS drnk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For salaries: 90K, 80K, 80K, 70K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RN: 1, 2, 3,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Rnk: 1, 2, 2,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DRnk: 1, 2, 2,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229100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4229100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2931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46684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window functions — critical for Nth highest salary!</a:t>
            </a:r>
            <a:endParaRPr lang="en-US" sz="10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640080" cy="6400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0" y="914400"/>
            <a:ext cx="1371600" cy="1371600"/>
          </a:xfrm>
          <a:prstGeom prst="ellipse">
            <a:avLst/>
          </a:prstGeom>
          <a:solidFill>
            <a:srgbClr val="EC4899">
              <a:alpha val="8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05156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0" y="13716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Query Problems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329184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Interview Questions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3246120"/>
            <a:ext cx="1371600" cy="45720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Highest Salary (MOST ASKED!)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525780"/>
          </a:xfrm>
          <a:prstGeom prst="rect">
            <a:avLst>
              <a:gd name="adj" fmla="val 13913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5257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methods — know at least 2!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504188"/>
            <a:ext cx="8503920" cy="2523744"/>
          </a:xfrm>
          <a:prstGeom prst="rect">
            <a:avLst>
              <a:gd name="adj" fmla="val 2899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504188"/>
            <a:ext cx="73152" cy="2523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586484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1586484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586484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554480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1723644"/>
            <a:ext cx="82296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Method 1: LIMIT OFFSET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salary FROM emp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salary DESC LIMIT 1 OFFSET 1;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Method 2: Subquery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MAX(salary) FROM emp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salary &lt; (SELECT MAX(salary) FROM emp);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Method 3: DENSE_RANK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Ranked AS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salary, DENSE_RANK() OVER (ORDER BY salary DESC) AS rnk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emp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salary FROM Ranked WHERE rnk = 2;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137660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4137660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2016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37540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appears in 80% of SQL interviews!</a:t>
            </a:r>
            <a:endParaRPr lang="en-US" sz="10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Nth Highest Salary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525780"/>
          </a:xfrm>
          <a:prstGeom prst="rect">
            <a:avLst>
              <a:gd name="adj" fmla="val 13913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5257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version for ANY 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504188"/>
            <a:ext cx="8503920" cy="1746504"/>
          </a:xfrm>
          <a:prstGeom prst="rect">
            <a:avLst>
              <a:gd name="adj" fmla="val 4188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504188"/>
            <a:ext cx="73152" cy="17465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586484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1586484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586484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554480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1723644"/>
            <a:ext cx="822960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Ranked AS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salary,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DENSE_RANK() OVER (ORDER BY salary DESC) AS rnk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emp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salary FROM Ranked WHERE rnk = 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For 3rd highest: WHERE rnk =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For 5th highest: WHERE rnk = 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360420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360420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4244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59816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DENSE_RANK is the universal solution!</a:t>
            </a:r>
            <a:endParaRPr lang="en-US" sz="10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Duplicate Records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525780"/>
          </a:xfrm>
          <a:prstGeom prst="rect">
            <a:avLst>
              <a:gd name="adj" fmla="val 13913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5257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one copy, delete rest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504188"/>
            <a:ext cx="8503920" cy="1901952"/>
          </a:xfrm>
          <a:prstGeom prst="rect">
            <a:avLst>
              <a:gd name="adj" fmla="val 3846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504188"/>
            <a:ext cx="73152" cy="19019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586484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1586484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586484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554480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1723644"/>
            <a:ext cx="82296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CTE AS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*,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ROW_NUMBER() OVER (PARTITION BY email ORDER BY id) AS 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emp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CTE WHERE rn &gt; 1;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PARTITION BY email groups duplicates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ROW_NUMBER labels: 1, 2, 3...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DELETE WHERE rn &gt; 1 keeps first only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515868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515868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798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75361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 + PARTITION BY = duplicate killer!</a:t>
            </a:r>
            <a:endParaRPr lang="en-US" sz="10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Earning More Than Manager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525780"/>
          </a:xfrm>
          <a:prstGeom prst="rect">
            <a:avLst>
              <a:gd name="adj" fmla="val 13913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5257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JOIN to compare employee vs manager salary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504188"/>
            <a:ext cx="8503920" cy="1124712"/>
          </a:xfrm>
          <a:prstGeom prst="rect">
            <a:avLst>
              <a:gd name="adj" fmla="val 6504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504188"/>
            <a:ext cx="73152" cy="11247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586484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1586484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586484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554480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1723644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e.name AS emp_name, e.salary AS emp_sal,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m.name AS mgr_name, m.salary AS mgr_sal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 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emp m ON e.manager_id = m.emp_id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e.salary &gt; m.salary;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738628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2738628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8026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297637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JOIN pattern — very common!</a:t>
            </a:r>
            <a:endParaRPr lang="en-US" sz="10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Total (Cumulative Sum)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525780"/>
          </a:xfrm>
          <a:prstGeom prst="rect">
            <a:avLst>
              <a:gd name="adj" fmla="val 13913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5257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window function with ROWS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504188"/>
            <a:ext cx="8503920" cy="969264"/>
          </a:xfrm>
          <a:prstGeom prst="rect">
            <a:avLst>
              <a:gd name="adj" fmla="val 7547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504188"/>
            <a:ext cx="73152" cy="9692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586484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1586484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586484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554480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1723644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order_date, amount,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SUM(amount) OVER (ORDER BY order_date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 BETWEEN UNBOUNDED PRECEDING AND CURRENT ROW) AS running_total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583180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2583180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6471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282092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BETWEEN for cumulative calculations!</a:t>
            </a:r>
            <a:endParaRPr lang="en-US" sz="10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365760"/>
          </a:xfrm>
          <a:prstGeom prst="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Rows to Columns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525780"/>
          </a:xfrm>
          <a:prstGeom prst="rect">
            <a:avLst>
              <a:gd name="adj" fmla="val 13913"/>
            </a:avLst>
          </a:prstGeom>
          <a:solidFill>
            <a:srgbClr val="132F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73152" cy="5257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88136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rows into columns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504188"/>
            <a:ext cx="8503920" cy="2057400"/>
          </a:xfrm>
          <a:prstGeom prst="rect">
            <a:avLst>
              <a:gd name="adj" fmla="val 3556"/>
            </a:avLst>
          </a:prstGeom>
          <a:solidFill>
            <a:srgbClr val="0F141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504188"/>
            <a:ext cx="73152" cy="2057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586484"/>
            <a:ext cx="73152" cy="731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1586484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586484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554480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1723644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Standard SQL (using CASE):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MAX(CASE WHEN skill = 'SQL' THEN 1 ELSE 0 END) AS SQL,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MAX(CASE WHEN skill = 'Python' THEN 1 ELSE 0 END) AS Python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emp_skills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emp_id;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SQL Server PIVOT: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emp_skills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 (MAX(rating) FOR skill IN (SQL, Python)) AS pvt;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671316"/>
            <a:ext cx="8503920" cy="539496"/>
          </a:xfrm>
          <a:prstGeom prst="rect">
            <a:avLst>
              <a:gd name="adj" fmla="val 13559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671316"/>
            <a:ext cx="73152" cy="5394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353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9090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+ MAX for pivoting in standard SQL!</a:t>
            </a:r>
            <a:endParaRPr lang="en-US" sz="10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SQL — Ace Your Interview!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Interview Checklist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7680960" cy="338328"/>
          </a:xfrm>
          <a:prstGeom prst="rect">
            <a:avLst>
              <a:gd name="adj" fmla="val 13514"/>
            </a:avLst>
          </a:prstGeom>
          <a:solidFill>
            <a:srgbClr val="132F4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93392"/>
            <a:ext cx="7223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Master ALL join types (INNER, LEFT, RIGHT, SELF, CROSS)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359152"/>
            <a:ext cx="7680960" cy="338328"/>
          </a:xfrm>
          <a:prstGeom prst="rect">
            <a:avLst>
              <a:gd name="adj" fmla="val 13514"/>
            </a:avLst>
          </a:prstGeom>
          <a:solidFill>
            <a:srgbClr val="132F4C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386584"/>
            <a:ext cx="7223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Know difference: DELETE vs TRUNCATE vs DROP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752344"/>
            <a:ext cx="7680960" cy="338328"/>
          </a:xfrm>
          <a:prstGeom prst="rect">
            <a:avLst>
              <a:gd name="adj" fmla="val 13514"/>
            </a:avLst>
          </a:prstGeom>
          <a:solidFill>
            <a:srgbClr val="132F4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79776"/>
            <a:ext cx="7223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Practice window functions: RANK, DENSE_RANK, ROW_NUMBER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145536"/>
            <a:ext cx="7680960" cy="338328"/>
          </a:xfrm>
          <a:prstGeom prst="rect">
            <a:avLst>
              <a:gd name="adj" fmla="val 13514"/>
            </a:avLst>
          </a:prstGeom>
          <a:solidFill>
            <a:srgbClr val="132F4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172968"/>
            <a:ext cx="7223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Memorize: 2nd/Nth highest salary (3 methods)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538728"/>
            <a:ext cx="7680960" cy="338328"/>
          </a:xfrm>
          <a:prstGeom prst="rect">
            <a:avLst>
              <a:gd name="adj" fmla="val 13514"/>
            </a:avLst>
          </a:prstGeom>
          <a:solidFill>
            <a:srgbClr val="132F4C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566160"/>
            <a:ext cx="7223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Understand indexing: Clustered vs Non-Clustered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7680960" cy="338328"/>
          </a:xfrm>
          <a:prstGeom prst="rect">
            <a:avLst>
              <a:gd name="adj" fmla="val 13514"/>
            </a:avLst>
          </a:prstGeom>
          <a:solidFill>
            <a:srgbClr val="132F4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959352"/>
            <a:ext cx="7223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GROUP BY + HAVING for aggregations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4325112"/>
            <a:ext cx="7680960" cy="338328"/>
          </a:xfrm>
          <a:prstGeom prst="rect">
            <a:avLst>
              <a:gd name="adj" fmla="val 13514"/>
            </a:avLst>
          </a:prstGeom>
          <a:solidFill>
            <a:srgbClr val="132F4C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352544"/>
            <a:ext cx="7223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Transaction isolation levels and locking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Daily | Build Projects | You've Got This! 🚀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77</Slides>
  <Notes>77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Complete SQL Interview Guide - 100+ Questions</dc:title>
  <dc:subject>PptxGenJS Presentation</dc:subject>
  <dc:creator>Interview Prep Pro</dc:creator>
  <cp:lastModifiedBy>Interview Prep Pro</cp:lastModifiedBy>
  <cp:revision>1</cp:revision>
  <dcterms:created xsi:type="dcterms:W3CDTF">2026-02-04T16:25:06Z</dcterms:created>
  <dcterms:modified xsi:type="dcterms:W3CDTF">2026-02-04T16:25:06Z</dcterms:modified>
</cp:coreProperties>
</file>